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71"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embeddedFontLst>
    <p:embeddedFont>
      <p:font typeface="Algerian" panose="04020705040A02060702" pitchFamily="82" charset="0"/>
      <p:regular r:id="rId19"/>
    </p:embeddedFont>
    <p:embeddedFont>
      <p:font typeface="Nunito" panose="020B0604020202020204" charset="0"/>
      <p:regular r:id="rId20"/>
      <p:bold r:id="rId21"/>
    </p:embeddedFont>
    <p:embeddedFont>
      <p:font typeface="Lora" panose="020B0604020202020204" charset="0"/>
      <p:regular r:id="rId22"/>
      <p:bold r:id="rId23"/>
    </p:embeddedFont>
    <p:embeddedFont>
      <p:font typeface="Calibri" panose="020F0502020204030204" pitchFamily="34" charset="0"/>
      <p:regular r:id="rId24"/>
      <p:bold r:id="rId25"/>
      <p:italic r:id="rId26"/>
      <p:boldItalic r:id="rId27"/>
    </p:embeddedFont>
    <p:embeddedFont>
      <p:font typeface="Aptos Narrow" panose="020B0604020202020204" charset="0"/>
      <p:regular r:id="rId28"/>
      <p:bold r:id="rId29"/>
      <p:italic r:id="rId30"/>
      <p:boldItalic r:id="rId3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9" autoAdjust="0"/>
    <p:restoredTop sz="86626" autoAdjust="0"/>
  </p:normalViewPr>
  <p:slideViewPr>
    <p:cSldViewPr snapToGrid="0" snapToObjects="1">
      <p:cViewPr varScale="1">
        <p:scale>
          <a:sx n="76" d="100"/>
          <a:sy n="76" d="100"/>
        </p:scale>
        <p:origin x="85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ommY\Downloads\Coffee%20Shop%20Sales%20dash%20(main%201)%20(3).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ommY\Downloads\Coffee%20Shop%20Sales%20dash%20(main%201)%20(3).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ommY\Downloads\Coffee%20Shop%20Sales%20dash%20(main%201)%20(3).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ommY\Downloads\Coffee%20Shop%20Sales%20dash%20(main%201)%20(3).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ommY\Downloads\Coffee%20Shop%20Sales%20dash%20(main%201)%20(3).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TommY\Downloads\Coffee%20Shop%20Sales%20dash%20(main%201)%20(3).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TommY\Downloads\Coffee%20Shop%20Sales%20dash%20(main%201)%20(3).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TommY\Downloads\Coffee%20Shop%20Sales%20dash%20(main%201)%20(3).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TommY\Downloads\Coffee%20Shop%20Sales%20dash%20(main%201)%20(3).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TommY\Downloads\Coffee%20Shop%20Sales%20dash%20(main%201)%20(3).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[Coffee Shop Sales dash (main 1) (3).xlsx]Store location!PivotTable1</c:name>
    <c:fmtId val="-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Store Location</a:t>
            </a:r>
          </a:p>
        </c:rich>
      </c:tx>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diamond"/>
          <c:size val="5"/>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1"/>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2"/>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3"/>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4"/>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s>
    <c:plotArea>
      <c:layout/>
      <c:barChart>
        <c:barDir val="bar"/>
        <c:grouping val="clustered"/>
        <c:varyColors val="0"/>
        <c:ser>
          <c:idx val="0"/>
          <c:order val="0"/>
          <c:tx>
            <c:strRef>
              <c:f>'Store location'!$B$3</c:f>
              <c:strCache>
                <c:ptCount val="1"/>
                <c:pt idx="0">
                  <c:v>Total</c:v>
                </c:pt>
              </c:strCache>
            </c:strRef>
          </c:tx>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'Store location'!$A$4:$A$7</c:f>
              <c:strCache>
                <c:ptCount val="3"/>
                <c:pt idx="0">
                  <c:v>Astoria</c:v>
                </c:pt>
                <c:pt idx="1">
                  <c:v>Hell's Kitchen</c:v>
                </c:pt>
                <c:pt idx="2">
                  <c:v>Lower Manhattan</c:v>
                </c:pt>
              </c:strCache>
            </c:strRef>
          </c:cat>
          <c:val>
            <c:numRef>
              <c:f>'Store location'!$B$4:$B$7</c:f>
              <c:numCache>
                <c:formatCode>General</c:formatCode>
                <c:ptCount val="3"/>
                <c:pt idx="0">
                  <c:v>232243.91000000975</c:v>
                </c:pt>
                <c:pt idx="1">
                  <c:v>236511.17000000973</c:v>
                </c:pt>
                <c:pt idx="2">
                  <c:v>230057.25000000748</c:v>
                </c:pt>
              </c:numCache>
            </c:numRef>
          </c:val>
          <c:extLst xmlns:c16r2="http://schemas.microsoft.com/office/drawing/2015/06/chart"/>
        </c:ser>
        <c:dLbls>
          <c:showLegendKey val="0"/>
          <c:showVal val="0"/>
          <c:showCatName val="0"/>
          <c:showSerName val="0"/>
          <c:showPercent val="0"/>
          <c:showBubbleSize val="0"/>
        </c:dLbls>
        <c:gapWidth val="115"/>
        <c:overlap val="-20"/>
        <c:axId val="413094384"/>
        <c:axId val="413085368"/>
      </c:barChart>
      <c:catAx>
        <c:axId val="413094384"/>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13085368"/>
        <c:crosses val="autoZero"/>
        <c:auto val="1"/>
        <c:lblAlgn val="ctr"/>
        <c:lblOffset val="100"/>
        <c:noMultiLvlLbl val="0"/>
      </c:catAx>
      <c:valAx>
        <c:axId val="413085368"/>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13094384"/>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xmlns:c16r2="http://schemas.microsoft.com/office/drawing/2015/06/chart">
    <c:ext xmlns:c16="http://schemas.microsoft.com/office/drawing/2014/chart" uri="{E28EC0CA-F0BB-4C9C-879D-F8772B89E7AC}">
      <c16:pivotOptions16>
        <c16:showExpandCollapseFieldButtons val="1"/>
      </c16:pivotOptions16>
    </c:ex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[Coffee Shop Sales dash (main 1) (3).xlsx]Productcatecory!PivotTable2</c:name>
    <c:fmtId val="-1"/>
  </c:pivotSource>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IN"/>
              <a:t>Product Category</a:t>
            </a:r>
          </a:p>
        </c:rich>
      </c:tx>
      <c:layout/>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ivotFmts>
      <c:pivotFmt>
        <c:idx val="0"/>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1"/>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2"/>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3"/>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4"/>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s>
    <c:plotArea>
      <c:layout/>
      <c:lineChart>
        <c:grouping val="standard"/>
        <c:varyColors val="0"/>
        <c:ser>
          <c:idx val="0"/>
          <c:order val="0"/>
          <c:tx>
            <c:strRef>
              <c:f>Productcatecory!$B$3</c:f>
              <c:strCache>
                <c:ptCount val="1"/>
                <c:pt idx="0">
                  <c:v>Total</c:v>
                </c:pt>
              </c:strCache>
            </c:strRef>
          </c:tx>
          <c:spPr>
            <a:ln w="22225" cap="rnd">
              <a:solidFill>
                <a:schemeClr val="accent2"/>
              </a:solidFill>
            </a:ln>
            <a:effectLst>
              <a:glow rad="139700">
                <a:schemeClr val="accent2">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cat>
            <c:strRef>
              <c:f>Productcatecory!$A$4:$A$13</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Productcatecory!$B$4:$B$13</c:f>
              <c:numCache>
                <c:formatCode>General</c:formatCode>
                <c:ptCount val="9"/>
                <c:pt idx="0">
                  <c:v>82315.640000000029</c:v>
                </c:pt>
                <c:pt idx="1">
                  <c:v>13607</c:v>
                </c:pt>
                <c:pt idx="2">
                  <c:v>269952.4500000191</c:v>
                </c:pt>
                <c:pt idx="3">
                  <c:v>40085.249999999985</c:v>
                </c:pt>
                <c:pt idx="4">
                  <c:v>72416</c:v>
                </c:pt>
                <c:pt idx="5">
                  <c:v>8408.8000000008742</c:v>
                </c:pt>
                <c:pt idx="6">
                  <c:v>11213.600000000089</c:v>
                </c:pt>
                <c:pt idx="7">
                  <c:v>4407.6399999999885</c:v>
                </c:pt>
                <c:pt idx="8">
                  <c:v>196405.95000000976</c:v>
                </c:pt>
              </c:numCache>
            </c:numRef>
          </c:val>
          <c:smooth val="0"/>
          <c:extLst xmlns:c16r2="http://schemas.microsoft.com/office/drawing/2015/06/chart"/>
        </c:ser>
        <c:dLbls>
          <c:showLegendKey val="0"/>
          <c:showVal val="0"/>
          <c:showCatName val="0"/>
          <c:showSerName val="0"/>
          <c:showPercent val="0"/>
          <c:showBubbleSize val="0"/>
        </c:dLbls>
        <c:marker val="1"/>
        <c:smooth val="0"/>
        <c:axId val="407887936"/>
        <c:axId val="407887152"/>
      </c:lineChart>
      <c:catAx>
        <c:axId val="407887936"/>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407887152"/>
        <c:crosses val="autoZero"/>
        <c:auto val="1"/>
        <c:lblAlgn val="ctr"/>
        <c:lblOffset val="100"/>
        <c:noMultiLvlLbl val="0"/>
      </c:catAx>
      <c:valAx>
        <c:axId val="407887152"/>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407887936"/>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xmlns:c16r2="http://schemas.microsoft.com/office/drawing/2015/06/chart">
    <c:ext xmlns:c16="http://schemas.microsoft.com/office/drawing/2014/chart" uri="{E28EC0CA-F0BB-4C9C-879D-F8772B89E7AC}">
      <c16:pivotOptions16>
        <c16:showExpandCollapseFieldButtons val="1"/>
      </c16:pivotOptions16>
    </c:ex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[Coffee Shop Sales dash (main 1) (3).xlsx]Avgitemcategory!PivotTable4</c:name>
    <c:fmtId val="-1"/>
  </c:pivotSource>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IN"/>
              <a:t>Average Item Category</a:t>
            </a:r>
          </a:p>
        </c:rich>
      </c:tx>
      <c:layout/>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ivotFmts>
      <c:pivotFmt>
        <c:idx val="0"/>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1"/>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2"/>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3"/>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4"/>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s>
    <c:plotArea>
      <c:layout/>
      <c:lineChart>
        <c:grouping val="standard"/>
        <c:varyColors val="0"/>
        <c:ser>
          <c:idx val="0"/>
          <c:order val="0"/>
          <c:tx>
            <c:strRef>
              <c:f>Avgitemcategory!$B$3</c:f>
              <c:strCache>
                <c:ptCount val="1"/>
                <c:pt idx="0">
                  <c:v>Total</c:v>
                </c:pt>
              </c:strCache>
            </c:strRef>
          </c:tx>
          <c:spPr>
            <a:ln w="22225" cap="rnd">
              <a:solidFill>
                <a:schemeClr val="accent2"/>
              </a:solidFill>
            </a:ln>
            <a:effectLst>
              <a:glow rad="139700">
                <a:schemeClr val="accent2">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cat>
            <c:strRef>
              <c:f>Avgitemcategory!$A$4:$A$13</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Avgitemcategory!$B$4:$B$13</c:f>
              <c:numCache>
                <c:formatCode>General</c:formatCode>
                <c:ptCount val="9"/>
                <c:pt idx="0">
                  <c:v>80964.13999999981</c:v>
                </c:pt>
                <c:pt idx="1">
                  <c:v>13237</c:v>
                </c:pt>
                <c:pt idx="2">
                  <c:v>176629.30000002333</c:v>
                </c:pt>
                <c:pt idx="3">
                  <c:v>36845.250000000015</c:v>
                </c:pt>
                <c:pt idx="4">
                  <c:v>47578.75</c:v>
                </c:pt>
                <c:pt idx="5">
                  <c:v>5432.0000000006867</c:v>
                </c:pt>
                <c:pt idx="6">
                  <c:v>11213.600000000089</c:v>
                </c:pt>
                <c:pt idx="7">
                  <c:v>4407.6399999999885</c:v>
                </c:pt>
                <c:pt idx="8">
                  <c:v>128035.35000001223</c:v>
                </c:pt>
              </c:numCache>
            </c:numRef>
          </c:val>
          <c:smooth val="0"/>
          <c:extLst xmlns:c16r2="http://schemas.microsoft.com/office/drawing/2015/06/chart"/>
        </c:ser>
        <c:dLbls>
          <c:showLegendKey val="0"/>
          <c:showVal val="0"/>
          <c:showCatName val="0"/>
          <c:showSerName val="0"/>
          <c:showPercent val="0"/>
          <c:showBubbleSize val="0"/>
        </c:dLbls>
        <c:marker val="1"/>
        <c:smooth val="0"/>
        <c:axId val="449926424"/>
        <c:axId val="449928776"/>
      </c:lineChart>
      <c:catAx>
        <c:axId val="449926424"/>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449928776"/>
        <c:crosses val="autoZero"/>
        <c:auto val="1"/>
        <c:lblAlgn val="ctr"/>
        <c:lblOffset val="100"/>
        <c:noMultiLvlLbl val="0"/>
      </c:catAx>
      <c:valAx>
        <c:axId val="449928776"/>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449926424"/>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xmlns:c16r2="http://schemas.microsoft.com/office/drawing/2015/06/chart">
    <c:ext xmlns:c16="http://schemas.microsoft.com/office/drawing/2014/chart" uri="{E28EC0CA-F0BB-4C9C-879D-F8772B89E7AC}">
      <c16:pivotOptions16>
        <c16:showExpandCollapseFieldButtons val="1"/>
      </c16:pivotOptions16>
    </c:ex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PRODUCT  TYPE</a:t>
            </a:r>
          </a:p>
        </c:rich>
      </c:tx>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1"/>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2"/>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3"/>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s>
    <c:plotArea>
      <c:layout/>
      <c:barChart>
        <c:barDir val="col"/>
        <c:grouping val="clustered"/>
        <c:varyColors val="0"/>
        <c:ser>
          <c:idx val="0"/>
          <c:order val="0"/>
          <c:tx>
            <c:v>Total</c:v>
          </c:tx>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Lit>
              <c:ptCount val="10"/>
              <c:pt idx="0">
                <c:v>Barista Espresso</c:v>
              </c:pt>
              <c:pt idx="1">
                <c:v>Brewed Black tea</c:v>
              </c:pt>
              <c:pt idx="2">
                <c:v>Brewed Chai tea</c:v>
              </c:pt>
              <c:pt idx="3">
                <c:v>Brewed herbal tea</c:v>
              </c:pt>
              <c:pt idx="4">
                <c:v>Drip coffee</c:v>
              </c:pt>
              <c:pt idx="5">
                <c:v>Gourmet brewed coffee</c:v>
              </c:pt>
              <c:pt idx="6">
                <c:v>Hot chocolate</c:v>
              </c:pt>
              <c:pt idx="7">
                <c:v>Organic brewed coffee</c:v>
              </c:pt>
              <c:pt idx="8">
                <c:v>Premium brewed coffee</c:v>
              </c:pt>
              <c:pt idx="9">
                <c:v>Scone</c:v>
              </c:pt>
            </c:strLit>
          </c:cat>
          <c:val>
            <c:numLit>
              <c:formatCode>General</c:formatCode>
              <c:ptCount val="10"/>
              <c:pt idx="0">
                <c:v>24943</c:v>
              </c:pt>
              <c:pt idx="1">
                <c:v>17462</c:v>
              </c:pt>
              <c:pt idx="2">
                <c:v>26250</c:v>
              </c:pt>
              <c:pt idx="3">
                <c:v>17328</c:v>
              </c:pt>
              <c:pt idx="4">
                <c:v>12891</c:v>
              </c:pt>
              <c:pt idx="5">
                <c:v>25973</c:v>
              </c:pt>
              <c:pt idx="6">
                <c:v>17457</c:v>
              </c:pt>
              <c:pt idx="7">
                <c:v>13012</c:v>
              </c:pt>
              <c:pt idx="8">
                <c:v>12431</c:v>
              </c:pt>
              <c:pt idx="9">
                <c:v>10465</c:v>
              </c:pt>
            </c:numLit>
          </c:val>
          <c:extLst xmlns:c16r2="http://schemas.microsoft.com/office/drawing/2015/06/chart"/>
        </c:ser>
        <c:dLbls>
          <c:showLegendKey val="0"/>
          <c:showVal val="0"/>
          <c:showCatName val="0"/>
          <c:showSerName val="0"/>
          <c:showPercent val="0"/>
          <c:showBubbleSize val="0"/>
        </c:dLbls>
        <c:gapWidth val="100"/>
        <c:overlap val="-24"/>
        <c:axId val="421178768"/>
        <c:axId val="421180728"/>
      </c:barChart>
      <c:catAx>
        <c:axId val="42117876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21180728"/>
        <c:crosses val="autoZero"/>
        <c:auto val="1"/>
        <c:lblAlgn val="ctr"/>
        <c:lblOffset val="100"/>
        <c:noMultiLvlLbl val="0"/>
      </c:catAx>
      <c:valAx>
        <c:axId val="421180728"/>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21178768"/>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xmlns:c16r2="http://schemas.microsoft.com/office/drawing/2015/06/char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xmlns:c16r2="http://schemas.microsoft.com/office/drawing/2015/06/chart"/>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[Coffee Shop Sales dash (main 1) (3).xlsx]StoreLocation!PivotTable5</c:name>
    <c:fmtId val="-1"/>
  </c:pivotSource>
  <c:chart>
    <c:title>
      <c:tx>
        <c:rich>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r>
              <a:rPr lang="en-IN"/>
              <a:t>Store Location</a:t>
            </a:r>
          </a:p>
        </c:rich>
      </c:tx>
      <c:layout/>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s>
    <c:plotArea>
      <c:layout>
        <c:manualLayout>
          <c:layoutTarget val="inner"/>
          <c:xMode val="edge"/>
          <c:yMode val="edge"/>
          <c:x val="5.4367855180893085E-2"/>
          <c:y val="0.27659417131550434"/>
          <c:w val="0.8879447336524795"/>
          <c:h val="0.51519242770725937"/>
        </c:manualLayout>
      </c:layout>
      <c:barChart>
        <c:barDir val="col"/>
        <c:grouping val="clustered"/>
        <c:varyColors val="0"/>
        <c:ser>
          <c:idx val="0"/>
          <c:order val="0"/>
          <c:tx>
            <c:strRef>
              <c:f>StoreLocation!$B$3</c:f>
              <c:strCache>
                <c:ptCount val="1"/>
                <c:pt idx="0">
                  <c:v>Total</c:v>
                </c:pt>
              </c:strCache>
            </c:strRef>
          </c:tx>
          <c:spPr>
            <a:solidFill>
              <a:schemeClr val="accent2"/>
            </a:solidFill>
            <a:ln>
              <a:noFill/>
            </a:ln>
            <a:effectLst/>
          </c:spPr>
          <c:invertIfNegative val="0"/>
          <c:cat>
            <c:strRef>
              <c:f>StoreLocation!$A$4:$A$7</c:f>
              <c:strCache>
                <c:ptCount val="3"/>
                <c:pt idx="0">
                  <c:v>Astoria</c:v>
                </c:pt>
                <c:pt idx="1">
                  <c:v>Hell's Kitchen</c:v>
                </c:pt>
                <c:pt idx="2">
                  <c:v>Lower Manhattan</c:v>
                </c:pt>
              </c:strCache>
            </c:strRef>
          </c:cat>
          <c:val>
            <c:numRef>
              <c:f>StoreLocation!$B$4:$B$7</c:f>
              <c:numCache>
                <c:formatCode>General</c:formatCode>
                <c:ptCount val="3"/>
                <c:pt idx="0">
                  <c:v>3797253689</c:v>
                </c:pt>
                <c:pt idx="1">
                  <c:v>3775279008</c:v>
                </c:pt>
                <c:pt idx="2">
                  <c:v>3572005247</c:v>
                </c:pt>
              </c:numCache>
            </c:numRef>
          </c:val>
          <c:extLst xmlns:c16r2="http://schemas.microsoft.com/office/drawing/2015/06/chart"/>
        </c:ser>
        <c:dLbls>
          <c:showLegendKey val="0"/>
          <c:showVal val="0"/>
          <c:showCatName val="0"/>
          <c:showSerName val="0"/>
          <c:showPercent val="0"/>
          <c:showBubbleSize val="0"/>
        </c:dLbls>
        <c:gapWidth val="267"/>
        <c:overlap val="-43"/>
        <c:axId val="441370584"/>
        <c:axId val="441370976"/>
      </c:barChart>
      <c:catAx>
        <c:axId val="441370584"/>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441370976"/>
        <c:crosses val="autoZero"/>
        <c:auto val="1"/>
        <c:lblAlgn val="ctr"/>
        <c:lblOffset val="100"/>
        <c:noMultiLvlLbl val="0"/>
      </c:catAx>
      <c:valAx>
        <c:axId val="441370976"/>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441370584"/>
        <c:crosses val="autoZero"/>
        <c:crossBetween val="between"/>
      </c:valAx>
      <c:spPr>
        <a:pattFill prst="ltDnDiag">
          <a:fgClr>
            <a:schemeClr val="dk1">
              <a:lumMod val="15000"/>
              <a:lumOff val="85000"/>
            </a:schemeClr>
          </a:fgClr>
          <a:bgClr>
            <a:schemeClr val="lt1"/>
          </a:bgClr>
        </a:pattFill>
        <a:ln>
          <a:noFill/>
        </a:ln>
        <a:effectLst/>
      </c:spPr>
    </c:plotArea>
    <c:legend>
      <c:legendPos val="r"/>
      <c:layout/>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xmlns:c16r2="http://schemas.microsoft.com/office/drawing/2015/06/chart">
    <c:ext xmlns:c16="http://schemas.microsoft.com/office/drawing/2014/chart" uri="{E28EC0CA-F0BB-4C9C-879D-F8772B89E7AC}">
      <c16:pivotOptions16>
        <c16:showExpandCollapseFieldButtons val="1"/>
      </c16:pivotOptions16>
    </c:ex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PRODUCT QTY BY CATEGORY</a:t>
            </a:r>
          </a:p>
        </c:rich>
      </c:tx>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2"/>
          </a:solidFill>
          <a:ln w="9525" cap="flat" cmpd="sng" algn="ctr">
            <a:noFill/>
            <a:round/>
          </a:ln>
          <a:effectLst>
            <a:outerShdw blurRad="57150" dist="19050" dir="5400000" algn="ctr" rotWithShape="0">
              <a:srgbClr val="000000">
                <a:alpha val="63000"/>
              </a:srgbClr>
            </a:outerShdw>
          </a:effectLst>
        </c:spPr>
        <c:marker>
          <c:symbol val="diamond"/>
          <c:size val="5"/>
          <c:spPr>
            <a:solidFill>
              <a:schemeClr val="accent2"/>
            </a:solidFill>
            <a:ln w="12700" cap="flat" cmpd="sng" algn="ctr">
              <a:solidFill>
                <a:schemeClr val="accent2"/>
              </a:solidFill>
              <a:prstDash val="solid"/>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1"/>
        <c:spPr>
          <a:solidFill>
            <a:schemeClr val="accent2"/>
          </a:solidFill>
          <a:ln w="9525" cap="flat" cmpd="sng" algn="ctr">
            <a:noFill/>
            <a:round/>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2"/>
        <c:spPr>
          <a:solidFill>
            <a:schemeClr val="accent2"/>
          </a:solidFill>
          <a:ln w="9525" cap="flat" cmpd="sng" algn="ctr">
            <a:noFill/>
            <a:round/>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3"/>
        <c:spPr>
          <a:solidFill>
            <a:schemeClr val="accent2"/>
          </a:solidFill>
          <a:ln w="9525" cap="flat" cmpd="sng" algn="ctr">
            <a:noFill/>
            <a:round/>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s>
    <c:plotArea>
      <c:layout/>
      <c:barChart>
        <c:barDir val="bar"/>
        <c:grouping val="clustered"/>
        <c:varyColors val="0"/>
        <c:ser>
          <c:idx val="0"/>
          <c:order val="0"/>
          <c:tx>
            <c:v>Total</c:v>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Lit>
              <c:ptCount val="10"/>
              <c:pt idx="0">
                <c:v>Bakery</c:v>
              </c:pt>
              <c:pt idx="1">
                <c:v>Branded</c:v>
              </c:pt>
              <c:pt idx="2">
                <c:v>Coffee</c:v>
              </c:pt>
              <c:pt idx="3">
                <c:v>Coffee beans</c:v>
              </c:pt>
              <c:pt idx="4">
                <c:v>Drinking Chocolate</c:v>
              </c:pt>
              <c:pt idx="5">
                <c:v>Flavours</c:v>
              </c:pt>
              <c:pt idx="6">
                <c:v>Loose Tea</c:v>
              </c:pt>
              <c:pt idx="7">
                <c:v>Packaged Chocolate</c:v>
              </c:pt>
              <c:pt idx="8">
                <c:v>Tea</c:v>
              </c:pt>
              <c:pt idx="9">
                <c:v>(blank)</c:v>
              </c:pt>
            </c:strLit>
          </c:cat>
          <c:val>
            <c:numLit>
              <c:formatCode>General</c:formatCode>
              <c:ptCount val="10"/>
              <c:pt idx="0">
                <c:v>23214</c:v>
              </c:pt>
              <c:pt idx="1">
                <c:v>776</c:v>
              </c:pt>
              <c:pt idx="2">
                <c:v>89250</c:v>
              </c:pt>
              <c:pt idx="3">
                <c:v>1828</c:v>
              </c:pt>
              <c:pt idx="4">
                <c:v>17457</c:v>
              </c:pt>
              <c:pt idx="5">
                <c:v>10511</c:v>
              </c:pt>
              <c:pt idx="6">
                <c:v>1210</c:v>
              </c:pt>
              <c:pt idx="7">
                <c:v>487</c:v>
              </c:pt>
              <c:pt idx="8">
                <c:v>69737</c:v>
              </c:pt>
              <c:pt idx="9">
                <c:v>0</c:v>
              </c:pt>
            </c:numLit>
          </c:val>
          <c:extLst xmlns:c16r2="http://schemas.microsoft.com/office/drawing/2015/06/chart"/>
        </c:ser>
        <c:dLbls>
          <c:dLblPos val="inEnd"/>
          <c:showLegendKey val="0"/>
          <c:showVal val="1"/>
          <c:showCatName val="0"/>
          <c:showSerName val="0"/>
          <c:showPercent val="0"/>
          <c:showBubbleSize val="0"/>
        </c:dLbls>
        <c:gapWidth val="65"/>
        <c:axId val="413102616"/>
        <c:axId val="413099480"/>
      </c:barChart>
      <c:catAx>
        <c:axId val="413102616"/>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413099480"/>
        <c:crosses val="autoZero"/>
        <c:auto val="1"/>
        <c:lblAlgn val="ctr"/>
        <c:lblOffset val="100"/>
        <c:noMultiLvlLbl val="0"/>
      </c:catAx>
      <c:valAx>
        <c:axId val="413099480"/>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413102616"/>
        <c:crosses val="autoZero"/>
        <c:crossBetween val="between"/>
      </c:valAx>
      <c:spPr>
        <a:noFill/>
        <a:ln>
          <a:noFill/>
        </a:ln>
        <a:effectLst/>
      </c:spPr>
    </c:plotArea>
    <c:legend>
      <c:legendPos val="b"/>
      <c:layout/>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xmlns:c16r2="http://schemas.microsoft.com/office/drawing/2015/06/char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xmlns:c16r2="http://schemas.microsoft.com/office/drawing/2015/06/chart"/>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[Coffee Shop Sales dash (main 1) (3).xlsx]Transacbyproductcat!PivotTable7</c:name>
    <c:fmtId val="-1"/>
  </c:pivotSource>
  <c:chart>
    <c:title>
      <c:tx>
        <c:rich>
          <a:bodyPr rot="0" spcFirstLastPara="1" vertOverflow="ellipsis" vert="horz" wrap="square" anchor="ctr" anchorCtr="1"/>
          <a:lstStyle/>
          <a:p>
            <a:pPr>
              <a:defRPr sz="2128" b="1" i="0" u="none" strike="noStrike" kern="1200" spc="0" normalizeH="0" baseline="0">
                <a:solidFill>
                  <a:schemeClr val="dk1">
                    <a:lumMod val="50000"/>
                    <a:lumOff val="50000"/>
                  </a:schemeClr>
                </a:solidFill>
                <a:latin typeface="+mj-lt"/>
                <a:ea typeface="+mj-ea"/>
                <a:cs typeface="+mj-cs"/>
              </a:defRPr>
            </a:pPr>
            <a:r>
              <a:rPr lang="en-US"/>
              <a:t>Transaction by Product Category</a:t>
            </a:r>
          </a:p>
        </c:rich>
      </c:tx>
      <c:layout/>
      <c:overlay val="0"/>
      <c:spPr>
        <a:noFill/>
        <a:ln>
          <a:noFill/>
        </a:ln>
        <a:effectLst/>
      </c:spPr>
      <c:txPr>
        <a:bodyPr rot="0" spcFirstLastPara="1" vertOverflow="ellipsis" vert="horz" wrap="square" anchor="ctr" anchorCtr="1"/>
        <a:lstStyle/>
        <a:p>
          <a:pPr>
            <a:defRPr sz="2128" b="1" i="0" u="none" strike="noStrike" kern="1200" spc="0" normalizeH="0" baseline="0">
              <a:solidFill>
                <a:schemeClr val="dk1">
                  <a:lumMod val="50000"/>
                  <a:lumOff val="50000"/>
                </a:schemeClr>
              </a:solidFill>
              <a:latin typeface="+mj-lt"/>
              <a:ea typeface="+mj-ea"/>
              <a:cs typeface="+mj-cs"/>
            </a:defRPr>
          </a:pPr>
          <a:endParaRPr lang="en-US"/>
        </a:p>
      </c:txPr>
    </c:title>
    <c:autoTitleDeleted val="0"/>
    <c:pivotFmts>
      <c:pivotFmt>
        <c:idx val="0"/>
        <c:spPr>
          <a:solidFill>
            <a:schemeClr val="accent2"/>
          </a:solidFill>
          <a:ln w="19050">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xmlns:c16r2="http://schemas.microsoft.com/office/drawing/2015/06/chart">
            <c:ext xmlns:c15="http://schemas.microsoft.com/office/drawing/2012/chart" uri="{CE6537A1-D6FC-4f65-9D91-7224C49458BB}"/>
          </c:extLst>
        </c:dLbl>
      </c:pivotFmt>
      <c:pivotFmt>
        <c:idx val="1"/>
        <c:spPr>
          <a:solidFill>
            <a:schemeClr val="accent2">
              <a:shade val="44000"/>
            </a:schemeClr>
          </a:solidFill>
          <a:ln w="19050">
            <a:noFill/>
          </a:ln>
          <a:effectLst/>
          <a:scene3d>
            <a:camera prst="orthographicFront"/>
            <a:lightRig rig="brightRoom" dir="t"/>
          </a:scene3d>
          <a:sp3d prstMaterial="flat">
            <a:bevelT w="50800" h="101600" prst="angle"/>
            <a:contourClr>
              <a:srgbClr val="000000"/>
            </a:contourClr>
          </a:sp3d>
        </c:spPr>
      </c:pivotFmt>
      <c:pivotFmt>
        <c:idx val="2"/>
        <c:spPr>
          <a:solidFill>
            <a:schemeClr val="accent2">
              <a:shade val="58000"/>
            </a:schemeClr>
          </a:solidFill>
          <a:ln w="19050">
            <a:noFill/>
          </a:ln>
          <a:effectLst/>
          <a:scene3d>
            <a:camera prst="orthographicFront"/>
            <a:lightRig rig="brightRoom" dir="t"/>
          </a:scene3d>
          <a:sp3d prstMaterial="flat">
            <a:bevelT w="50800" h="101600" prst="angle"/>
            <a:contourClr>
              <a:srgbClr val="000000"/>
            </a:contourClr>
          </a:sp3d>
        </c:spPr>
      </c:pivotFmt>
      <c:pivotFmt>
        <c:idx val="3"/>
        <c:spPr>
          <a:solidFill>
            <a:schemeClr val="accent2">
              <a:shade val="72000"/>
            </a:schemeClr>
          </a:solidFill>
          <a:ln w="19050">
            <a:noFill/>
          </a:ln>
          <a:effectLst/>
          <a:scene3d>
            <a:camera prst="orthographicFront"/>
            <a:lightRig rig="brightRoom" dir="t"/>
          </a:scene3d>
          <a:sp3d prstMaterial="flat">
            <a:bevelT w="50800" h="101600" prst="angle"/>
            <a:contourClr>
              <a:srgbClr val="000000"/>
            </a:contourClr>
          </a:sp3d>
        </c:spPr>
      </c:pivotFmt>
      <c:pivotFmt>
        <c:idx val="4"/>
        <c:spPr>
          <a:solidFill>
            <a:schemeClr val="accent2">
              <a:shade val="86000"/>
            </a:schemeClr>
          </a:solidFill>
          <a:ln w="19050">
            <a:noFill/>
          </a:ln>
          <a:effectLst/>
          <a:scene3d>
            <a:camera prst="orthographicFront"/>
            <a:lightRig rig="brightRoom" dir="t"/>
          </a:scene3d>
          <a:sp3d prstMaterial="flat">
            <a:bevelT w="50800" h="101600" prst="angle"/>
            <a:contourClr>
              <a:srgbClr val="000000"/>
            </a:contourClr>
          </a:sp3d>
        </c:spPr>
      </c:pivotFmt>
      <c:pivotFmt>
        <c:idx val="5"/>
        <c:spPr>
          <a:solidFill>
            <a:schemeClr val="accent2"/>
          </a:solidFill>
          <a:ln w="19050">
            <a:noFill/>
          </a:ln>
          <a:effectLst/>
          <a:scene3d>
            <a:camera prst="orthographicFront"/>
            <a:lightRig rig="brightRoom" dir="t"/>
          </a:scene3d>
          <a:sp3d prstMaterial="flat">
            <a:bevelT w="50800" h="101600" prst="angle"/>
            <a:contourClr>
              <a:srgbClr val="000000"/>
            </a:contourClr>
          </a:sp3d>
        </c:spPr>
      </c:pivotFmt>
      <c:pivotFmt>
        <c:idx val="6"/>
        <c:spPr>
          <a:solidFill>
            <a:schemeClr val="accent2">
              <a:tint val="86000"/>
            </a:schemeClr>
          </a:solidFill>
          <a:ln w="19050">
            <a:noFill/>
          </a:ln>
          <a:effectLst/>
          <a:scene3d>
            <a:camera prst="orthographicFront"/>
            <a:lightRig rig="brightRoom" dir="t"/>
          </a:scene3d>
          <a:sp3d prstMaterial="flat">
            <a:bevelT w="50800" h="101600" prst="angle"/>
            <a:contourClr>
              <a:srgbClr val="000000"/>
            </a:contourClr>
          </a:sp3d>
        </c:spPr>
      </c:pivotFmt>
      <c:pivotFmt>
        <c:idx val="7"/>
        <c:spPr>
          <a:solidFill>
            <a:schemeClr val="accent2">
              <a:tint val="72000"/>
            </a:schemeClr>
          </a:solidFill>
          <a:ln w="19050">
            <a:noFill/>
          </a:ln>
          <a:effectLst/>
          <a:scene3d>
            <a:camera prst="orthographicFront"/>
            <a:lightRig rig="brightRoom" dir="t"/>
          </a:scene3d>
          <a:sp3d prstMaterial="flat">
            <a:bevelT w="50800" h="101600" prst="angle"/>
            <a:contourClr>
              <a:srgbClr val="000000"/>
            </a:contourClr>
          </a:sp3d>
        </c:spPr>
      </c:pivotFmt>
      <c:pivotFmt>
        <c:idx val="8"/>
        <c:spPr>
          <a:solidFill>
            <a:schemeClr val="accent2">
              <a:tint val="58000"/>
            </a:schemeClr>
          </a:solidFill>
          <a:ln w="19050">
            <a:noFill/>
          </a:ln>
          <a:effectLst/>
          <a:scene3d>
            <a:camera prst="orthographicFront"/>
            <a:lightRig rig="brightRoom" dir="t"/>
          </a:scene3d>
          <a:sp3d prstMaterial="flat">
            <a:bevelT w="50800" h="101600" prst="angle"/>
            <a:contourClr>
              <a:srgbClr val="000000"/>
            </a:contourClr>
          </a:sp3d>
        </c:spPr>
      </c:pivotFmt>
      <c:pivotFmt>
        <c:idx val="9"/>
        <c:spPr>
          <a:solidFill>
            <a:schemeClr val="accent2">
              <a:tint val="44000"/>
            </a:schemeClr>
          </a:solidFill>
          <a:ln w="19050">
            <a:noFill/>
          </a:ln>
          <a:effectLst/>
          <a:scene3d>
            <a:camera prst="orthographicFront"/>
            <a:lightRig rig="brightRoom" dir="t"/>
          </a:scene3d>
          <a:sp3d prstMaterial="flat">
            <a:bevelT w="50800" h="101600" prst="angle"/>
            <a:contourClr>
              <a:srgbClr val="000000"/>
            </a:contourClr>
          </a:sp3d>
        </c:spPr>
      </c:pivotFmt>
      <c:pivotFmt>
        <c:idx val="10"/>
        <c:spPr>
          <a:solidFill>
            <a:schemeClr val="accent2"/>
          </a:solidFill>
          <a:ln w="19050">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xmlns:c16r2="http://schemas.microsoft.com/office/drawing/2015/06/chart">
            <c:ext xmlns:c15="http://schemas.microsoft.com/office/drawing/2012/chart" uri="{CE6537A1-D6FC-4f65-9D91-7224C49458BB}"/>
          </c:extLst>
        </c:dLbl>
      </c:pivotFmt>
      <c:pivotFmt>
        <c:idx val="11"/>
        <c:spPr>
          <a:solidFill>
            <a:schemeClr val="accent2">
              <a:shade val="44000"/>
            </a:schemeClr>
          </a:solidFill>
          <a:ln w="19050">
            <a:noFill/>
          </a:ln>
          <a:effectLst/>
          <a:scene3d>
            <a:camera prst="orthographicFront"/>
            <a:lightRig rig="brightRoom" dir="t"/>
          </a:scene3d>
          <a:sp3d prstMaterial="flat">
            <a:bevelT w="50800" h="101600" prst="angle"/>
            <a:contourClr>
              <a:srgbClr val="000000"/>
            </a:contourClr>
          </a:sp3d>
        </c:spPr>
      </c:pivotFmt>
      <c:pivotFmt>
        <c:idx val="12"/>
        <c:spPr>
          <a:solidFill>
            <a:schemeClr val="accent2">
              <a:shade val="58000"/>
            </a:schemeClr>
          </a:solidFill>
          <a:ln w="19050">
            <a:noFill/>
          </a:ln>
          <a:effectLst/>
          <a:scene3d>
            <a:camera prst="orthographicFront"/>
            <a:lightRig rig="brightRoom" dir="t"/>
          </a:scene3d>
          <a:sp3d prstMaterial="flat">
            <a:bevelT w="50800" h="101600" prst="angle"/>
            <a:contourClr>
              <a:srgbClr val="000000"/>
            </a:contourClr>
          </a:sp3d>
        </c:spPr>
      </c:pivotFmt>
      <c:pivotFmt>
        <c:idx val="13"/>
        <c:spPr>
          <a:solidFill>
            <a:schemeClr val="accent2">
              <a:shade val="72000"/>
            </a:schemeClr>
          </a:solidFill>
          <a:ln w="19050">
            <a:noFill/>
          </a:ln>
          <a:effectLst/>
          <a:scene3d>
            <a:camera prst="orthographicFront"/>
            <a:lightRig rig="brightRoom" dir="t"/>
          </a:scene3d>
          <a:sp3d prstMaterial="flat">
            <a:bevelT w="50800" h="101600" prst="angle"/>
            <a:contourClr>
              <a:srgbClr val="000000"/>
            </a:contourClr>
          </a:sp3d>
        </c:spPr>
      </c:pivotFmt>
      <c:pivotFmt>
        <c:idx val="14"/>
        <c:spPr>
          <a:solidFill>
            <a:schemeClr val="accent2">
              <a:shade val="86000"/>
            </a:schemeClr>
          </a:solidFill>
          <a:ln w="19050">
            <a:noFill/>
          </a:ln>
          <a:effectLst/>
          <a:scene3d>
            <a:camera prst="orthographicFront"/>
            <a:lightRig rig="brightRoom" dir="t"/>
          </a:scene3d>
          <a:sp3d prstMaterial="flat">
            <a:bevelT w="50800" h="101600" prst="angle"/>
            <a:contourClr>
              <a:srgbClr val="000000"/>
            </a:contourClr>
          </a:sp3d>
        </c:spPr>
      </c:pivotFmt>
      <c:pivotFmt>
        <c:idx val="15"/>
        <c:spPr>
          <a:solidFill>
            <a:schemeClr val="accent2"/>
          </a:solidFill>
          <a:ln w="19050">
            <a:noFill/>
          </a:ln>
          <a:effectLst/>
          <a:scene3d>
            <a:camera prst="orthographicFront"/>
            <a:lightRig rig="brightRoom" dir="t"/>
          </a:scene3d>
          <a:sp3d prstMaterial="flat">
            <a:bevelT w="50800" h="101600" prst="angle"/>
            <a:contourClr>
              <a:srgbClr val="000000"/>
            </a:contourClr>
          </a:sp3d>
        </c:spPr>
      </c:pivotFmt>
      <c:pivotFmt>
        <c:idx val="16"/>
        <c:spPr>
          <a:solidFill>
            <a:schemeClr val="accent2">
              <a:tint val="86000"/>
            </a:schemeClr>
          </a:solidFill>
          <a:ln w="19050">
            <a:noFill/>
          </a:ln>
          <a:effectLst/>
          <a:scene3d>
            <a:camera prst="orthographicFront"/>
            <a:lightRig rig="brightRoom" dir="t"/>
          </a:scene3d>
          <a:sp3d prstMaterial="flat">
            <a:bevelT w="50800" h="101600" prst="angle"/>
            <a:contourClr>
              <a:srgbClr val="000000"/>
            </a:contourClr>
          </a:sp3d>
        </c:spPr>
      </c:pivotFmt>
      <c:pivotFmt>
        <c:idx val="17"/>
        <c:spPr>
          <a:solidFill>
            <a:schemeClr val="accent2">
              <a:tint val="72000"/>
            </a:schemeClr>
          </a:solidFill>
          <a:ln w="19050">
            <a:noFill/>
          </a:ln>
          <a:effectLst/>
          <a:scene3d>
            <a:camera prst="orthographicFront"/>
            <a:lightRig rig="brightRoom" dir="t"/>
          </a:scene3d>
          <a:sp3d prstMaterial="flat">
            <a:bevelT w="50800" h="101600" prst="angle"/>
            <a:contourClr>
              <a:srgbClr val="000000"/>
            </a:contourClr>
          </a:sp3d>
        </c:spPr>
      </c:pivotFmt>
      <c:pivotFmt>
        <c:idx val="18"/>
        <c:spPr>
          <a:solidFill>
            <a:schemeClr val="accent2">
              <a:tint val="58000"/>
            </a:schemeClr>
          </a:solidFill>
          <a:ln w="19050">
            <a:noFill/>
          </a:ln>
          <a:effectLst/>
          <a:scene3d>
            <a:camera prst="orthographicFront"/>
            <a:lightRig rig="brightRoom" dir="t"/>
          </a:scene3d>
          <a:sp3d prstMaterial="flat">
            <a:bevelT w="50800" h="101600" prst="angle"/>
            <a:contourClr>
              <a:srgbClr val="000000"/>
            </a:contourClr>
          </a:sp3d>
        </c:spPr>
      </c:pivotFmt>
      <c:pivotFmt>
        <c:idx val="19"/>
        <c:spPr>
          <a:solidFill>
            <a:schemeClr val="accent2">
              <a:tint val="44000"/>
            </a:schemeClr>
          </a:solidFill>
          <a:ln w="19050">
            <a:noFill/>
          </a:ln>
          <a:effectLst/>
          <a:scene3d>
            <a:camera prst="orthographicFront"/>
            <a:lightRig rig="brightRoom" dir="t"/>
          </a:scene3d>
          <a:sp3d prstMaterial="flat">
            <a:bevelT w="50800" h="101600" prst="angle"/>
            <a:contourClr>
              <a:srgbClr val="000000"/>
            </a:contourClr>
          </a:sp3d>
        </c:spPr>
      </c:pivotFmt>
      <c:pivotFmt>
        <c:idx val="20"/>
        <c:spPr>
          <a:solidFill>
            <a:schemeClr val="accent2"/>
          </a:solidFill>
          <a:ln w="19050">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xmlns:c16r2="http://schemas.microsoft.com/office/drawing/2015/06/chart">
            <c:ext xmlns:c15="http://schemas.microsoft.com/office/drawing/2012/chart" uri="{CE6537A1-D6FC-4f65-9D91-7224C49458BB}"/>
          </c:extLst>
        </c:dLbl>
      </c:pivotFmt>
      <c:pivotFmt>
        <c:idx val="21"/>
        <c:spPr>
          <a:solidFill>
            <a:schemeClr val="accent2">
              <a:shade val="44000"/>
            </a:schemeClr>
          </a:solidFill>
          <a:ln w="19050">
            <a:noFill/>
          </a:ln>
          <a:effectLst/>
          <a:scene3d>
            <a:camera prst="orthographicFront"/>
            <a:lightRig rig="brightRoom" dir="t"/>
          </a:scene3d>
          <a:sp3d prstMaterial="flat">
            <a:bevelT w="50800" h="101600" prst="angle"/>
            <a:contourClr>
              <a:srgbClr val="000000"/>
            </a:contourClr>
          </a:sp3d>
        </c:spPr>
      </c:pivotFmt>
      <c:pivotFmt>
        <c:idx val="22"/>
        <c:spPr>
          <a:solidFill>
            <a:schemeClr val="accent2">
              <a:shade val="58000"/>
            </a:schemeClr>
          </a:solidFill>
          <a:ln w="19050">
            <a:noFill/>
          </a:ln>
          <a:effectLst/>
          <a:scene3d>
            <a:camera prst="orthographicFront"/>
            <a:lightRig rig="brightRoom" dir="t"/>
          </a:scene3d>
          <a:sp3d prstMaterial="flat">
            <a:bevelT w="50800" h="101600" prst="angle"/>
            <a:contourClr>
              <a:srgbClr val="000000"/>
            </a:contourClr>
          </a:sp3d>
        </c:spPr>
      </c:pivotFmt>
      <c:pivotFmt>
        <c:idx val="23"/>
        <c:spPr>
          <a:solidFill>
            <a:schemeClr val="accent2">
              <a:shade val="72000"/>
            </a:schemeClr>
          </a:solidFill>
          <a:ln w="19050">
            <a:noFill/>
          </a:ln>
          <a:effectLst/>
          <a:scene3d>
            <a:camera prst="orthographicFront"/>
            <a:lightRig rig="brightRoom" dir="t"/>
          </a:scene3d>
          <a:sp3d prstMaterial="flat">
            <a:bevelT w="50800" h="101600" prst="angle"/>
            <a:contourClr>
              <a:srgbClr val="000000"/>
            </a:contourClr>
          </a:sp3d>
        </c:spPr>
      </c:pivotFmt>
      <c:pivotFmt>
        <c:idx val="24"/>
        <c:spPr>
          <a:solidFill>
            <a:schemeClr val="accent2">
              <a:shade val="86000"/>
            </a:schemeClr>
          </a:solidFill>
          <a:ln w="19050">
            <a:noFill/>
          </a:ln>
          <a:effectLst/>
          <a:scene3d>
            <a:camera prst="orthographicFront"/>
            <a:lightRig rig="brightRoom" dir="t"/>
          </a:scene3d>
          <a:sp3d prstMaterial="flat">
            <a:bevelT w="50800" h="101600" prst="angle"/>
            <a:contourClr>
              <a:srgbClr val="000000"/>
            </a:contourClr>
          </a:sp3d>
        </c:spPr>
      </c:pivotFmt>
      <c:pivotFmt>
        <c:idx val="25"/>
        <c:spPr>
          <a:solidFill>
            <a:schemeClr val="accent2"/>
          </a:solidFill>
          <a:ln w="19050">
            <a:noFill/>
          </a:ln>
          <a:effectLst/>
          <a:scene3d>
            <a:camera prst="orthographicFront"/>
            <a:lightRig rig="brightRoom" dir="t"/>
          </a:scene3d>
          <a:sp3d prstMaterial="flat">
            <a:bevelT w="50800" h="101600" prst="angle"/>
            <a:contourClr>
              <a:srgbClr val="000000"/>
            </a:contourClr>
          </a:sp3d>
        </c:spPr>
      </c:pivotFmt>
      <c:pivotFmt>
        <c:idx val="26"/>
        <c:spPr>
          <a:solidFill>
            <a:schemeClr val="accent2">
              <a:tint val="86000"/>
            </a:schemeClr>
          </a:solidFill>
          <a:ln w="19050">
            <a:noFill/>
          </a:ln>
          <a:effectLst/>
          <a:scene3d>
            <a:camera prst="orthographicFront"/>
            <a:lightRig rig="brightRoom" dir="t"/>
          </a:scene3d>
          <a:sp3d prstMaterial="flat">
            <a:bevelT w="50800" h="101600" prst="angle"/>
            <a:contourClr>
              <a:srgbClr val="000000"/>
            </a:contourClr>
          </a:sp3d>
        </c:spPr>
      </c:pivotFmt>
      <c:pivotFmt>
        <c:idx val="27"/>
        <c:spPr>
          <a:solidFill>
            <a:schemeClr val="accent2">
              <a:tint val="72000"/>
            </a:schemeClr>
          </a:solidFill>
          <a:ln w="19050">
            <a:noFill/>
          </a:ln>
          <a:effectLst/>
          <a:scene3d>
            <a:camera prst="orthographicFront"/>
            <a:lightRig rig="brightRoom" dir="t"/>
          </a:scene3d>
          <a:sp3d prstMaterial="flat">
            <a:bevelT w="50800" h="101600" prst="angle"/>
            <a:contourClr>
              <a:srgbClr val="000000"/>
            </a:contourClr>
          </a:sp3d>
        </c:spPr>
      </c:pivotFmt>
      <c:pivotFmt>
        <c:idx val="28"/>
        <c:spPr>
          <a:solidFill>
            <a:schemeClr val="accent2">
              <a:tint val="58000"/>
            </a:schemeClr>
          </a:solidFill>
          <a:ln w="19050">
            <a:noFill/>
          </a:ln>
          <a:effectLst/>
          <a:scene3d>
            <a:camera prst="orthographicFront"/>
            <a:lightRig rig="brightRoom" dir="t"/>
          </a:scene3d>
          <a:sp3d prstMaterial="flat">
            <a:bevelT w="50800" h="101600" prst="angle"/>
            <a:contourClr>
              <a:srgbClr val="000000"/>
            </a:contourClr>
          </a:sp3d>
        </c:spPr>
      </c:pivotFmt>
      <c:pivotFmt>
        <c:idx val="29"/>
        <c:spPr>
          <a:solidFill>
            <a:schemeClr val="accent2">
              <a:tint val="44000"/>
            </a:schemeClr>
          </a:solidFill>
          <a:ln w="19050">
            <a:noFill/>
          </a:ln>
          <a:effectLst/>
          <a:scene3d>
            <a:camera prst="orthographicFront"/>
            <a:lightRig rig="brightRoom" dir="t"/>
          </a:scene3d>
          <a:sp3d prstMaterial="flat">
            <a:bevelT w="50800" h="101600" prst="angle"/>
            <a:contourClr>
              <a:srgbClr val="000000"/>
            </a:contourClr>
          </a:sp3d>
        </c:spPr>
      </c:pivotFmt>
      <c:pivotFmt>
        <c:idx val="30"/>
        <c:spPr>
          <a:solidFill>
            <a:schemeClr val="accent2"/>
          </a:solidFill>
          <a:ln w="19050">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xmlns:c16r2="http://schemas.microsoft.com/office/drawing/2015/06/chart">
            <c:ext xmlns:c15="http://schemas.microsoft.com/office/drawing/2012/chart" uri="{CE6537A1-D6FC-4f65-9D91-7224C49458BB}"/>
          </c:extLst>
        </c:dLbl>
      </c:pivotFmt>
      <c:pivotFmt>
        <c:idx val="31"/>
        <c:spPr>
          <a:solidFill>
            <a:schemeClr val="accent2">
              <a:shade val="44000"/>
            </a:schemeClr>
          </a:solidFill>
          <a:ln w="19050">
            <a:noFill/>
          </a:ln>
          <a:effectLst/>
          <a:scene3d>
            <a:camera prst="orthographicFront"/>
            <a:lightRig rig="brightRoom" dir="t"/>
          </a:scene3d>
          <a:sp3d prstMaterial="flat">
            <a:bevelT w="50800" h="101600" prst="angle"/>
            <a:contourClr>
              <a:srgbClr val="000000"/>
            </a:contourClr>
          </a:sp3d>
        </c:spPr>
      </c:pivotFmt>
      <c:pivotFmt>
        <c:idx val="32"/>
        <c:spPr>
          <a:solidFill>
            <a:schemeClr val="accent2">
              <a:shade val="58000"/>
            </a:schemeClr>
          </a:solidFill>
          <a:ln w="19050">
            <a:noFill/>
          </a:ln>
          <a:effectLst/>
          <a:scene3d>
            <a:camera prst="orthographicFront"/>
            <a:lightRig rig="brightRoom" dir="t"/>
          </a:scene3d>
          <a:sp3d prstMaterial="flat">
            <a:bevelT w="50800" h="101600" prst="angle"/>
            <a:contourClr>
              <a:srgbClr val="000000"/>
            </a:contourClr>
          </a:sp3d>
        </c:spPr>
      </c:pivotFmt>
      <c:pivotFmt>
        <c:idx val="33"/>
        <c:spPr>
          <a:solidFill>
            <a:schemeClr val="accent2">
              <a:shade val="72000"/>
            </a:schemeClr>
          </a:solidFill>
          <a:ln w="19050">
            <a:noFill/>
          </a:ln>
          <a:effectLst/>
          <a:scene3d>
            <a:camera prst="orthographicFront"/>
            <a:lightRig rig="brightRoom" dir="t"/>
          </a:scene3d>
          <a:sp3d prstMaterial="flat">
            <a:bevelT w="50800" h="101600" prst="angle"/>
            <a:contourClr>
              <a:srgbClr val="000000"/>
            </a:contourClr>
          </a:sp3d>
        </c:spPr>
      </c:pivotFmt>
      <c:pivotFmt>
        <c:idx val="34"/>
        <c:spPr>
          <a:solidFill>
            <a:schemeClr val="accent2">
              <a:shade val="86000"/>
            </a:schemeClr>
          </a:solidFill>
          <a:ln w="19050">
            <a:noFill/>
          </a:ln>
          <a:effectLst/>
          <a:scene3d>
            <a:camera prst="orthographicFront"/>
            <a:lightRig rig="brightRoom" dir="t"/>
          </a:scene3d>
          <a:sp3d prstMaterial="flat">
            <a:bevelT w="50800" h="101600" prst="angle"/>
            <a:contourClr>
              <a:srgbClr val="000000"/>
            </a:contourClr>
          </a:sp3d>
        </c:spPr>
      </c:pivotFmt>
      <c:pivotFmt>
        <c:idx val="35"/>
        <c:spPr>
          <a:solidFill>
            <a:schemeClr val="accent2"/>
          </a:solidFill>
          <a:ln w="19050">
            <a:noFill/>
          </a:ln>
          <a:effectLst/>
          <a:scene3d>
            <a:camera prst="orthographicFront"/>
            <a:lightRig rig="brightRoom" dir="t"/>
          </a:scene3d>
          <a:sp3d prstMaterial="flat">
            <a:bevelT w="50800" h="101600" prst="angle"/>
            <a:contourClr>
              <a:srgbClr val="000000"/>
            </a:contourClr>
          </a:sp3d>
        </c:spPr>
      </c:pivotFmt>
      <c:pivotFmt>
        <c:idx val="36"/>
        <c:spPr>
          <a:solidFill>
            <a:schemeClr val="accent2">
              <a:tint val="86000"/>
            </a:schemeClr>
          </a:solidFill>
          <a:ln w="19050">
            <a:noFill/>
          </a:ln>
          <a:effectLst/>
          <a:scene3d>
            <a:camera prst="orthographicFront"/>
            <a:lightRig rig="brightRoom" dir="t"/>
          </a:scene3d>
          <a:sp3d prstMaterial="flat">
            <a:bevelT w="50800" h="101600" prst="angle"/>
            <a:contourClr>
              <a:srgbClr val="000000"/>
            </a:contourClr>
          </a:sp3d>
        </c:spPr>
      </c:pivotFmt>
      <c:pivotFmt>
        <c:idx val="37"/>
        <c:spPr>
          <a:solidFill>
            <a:schemeClr val="accent2">
              <a:tint val="72000"/>
            </a:schemeClr>
          </a:solidFill>
          <a:ln w="19050">
            <a:noFill/>
          </a:ln>
          <a:effectLst/>
          <a:scene3d>
            <a:camera prst="orthographicFront"/>
            <a:lightRig rig="brightRoom" dir="t"/>
          </a:scene3d>
          <a:sp3d prstMaterial="flat">
            <a:bevelT w="50800" h="101600" prst="angle"/>
            <a:contourClr>
              <a:srgbClr val="000000"/>
            </a:contourClr>
          </a:sp3d>
        </c:spPr>
      </c:pivotFmt>
      <c:pivotFmt>
        <c:idx val="38"/>
        <c:spPr>
          <a:solidFill>
            <a:schemeClr val="accent2">
              <a:tint val="58000"/>
            </a:schemeClr>
          </a:solidFill>
          <a:ln w="19050">
            <a:noFill/>
          </a:ln>
          <a:effectLst/>
          <a:scene3d>
            <a:camera prst="orthographicFront"/>
            <a:lightRig rig="brightRoom" dir="t"/>
          </a:scene3d>
          <a:sp3d prstMaterial="flat">
            <a:bevelT w="50800" h="101600" prst="angle"/>
            <a:contourClr>
              <a:srgbClr val="000000"/>
            </a:contourClr>
          </a:sp3d>
        </c:spPr>
      </c:pivotFmt>
      <c:pivotFmt>
        <c:idx val="39"/>
        <c:spPr>
          <a:solidFill>
            <a:schemeClr val="accent2">
              <a:tint val="44000"/>
            </a:schemeClr>
          </a:solidFill>
          <a:ln w="19050">
            <a:noFill/>
          </a:ln>
          <a:effectLst/>
          <a:scene3d>
            <a:camera prst="orthographicFront"/>
            <a:lightRig rig="brightRoom" dir="t"/>
          </a:scene3d>
          <a:sp3d prstMaterial="flat">
            <a:bevelT w="50800" h="101600" prst="angle"/>
            <a:contourClr>
              <a:srgbClr val="000000"/>
            </a:contourClr>
          </a:sp3d>
        </c:spPr>
      </c:pivotFmt>
      <c:pivotFmt>
        <c:idx val="40"/>
        <c:spPr>
          <a:solidFill>
            <a:schemeClr val="accent2"/>
          </a:solidFill>
          <a:ln w="19050">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xmlns:c16r2="http://schemas.microsoft.com/office/drawing/2015/06/chart">
            <c:ext xmlns:c15="http://schemas.microsoft.com/office/drawing/2012/chart" uri="{CE6537A1-D6FC-4f65-9D91-7224C49458BB}"/>
          </c:extLst>
        </c:dLbl>
      </c:pivotFmt>
      <c:pivotFmt>
        <c:idx val="41"/>
        <c:spPr>
          <a:solidFill>
            <a:schemeClr val="accent2">
              <a:shade val="44000"/>
            </a:schemeClr>
          </a:solidFill>
          <a:ln w="19050">
            <a:noFill/>
          </a:ln>
          <a:effectLst/>
          <a:scene3d>
            <a:camera prst="orthographicFront"/>
            <a:lightRig rig="brightRoom" dir="t"/>
          </a:scene3d>
          <a:sp3d prstMaterial="flat">
            <a:bevelT w="50800" h="101600" prst="angle"/>
            <a:contourClr>
              <a:srgbClr val="000000"/>
            </a:contourClr>
          </a:sp3d>
        </c:spPr>
      </c:pivotFmt>
      <c:pivotFmt>
        <c:idx val="42"/>
        <c:spPr>
          <a:solidFill>
            <a:schemeClr val="accent2">
              <a:shade val="58000"/>
            </a:schemeClr>
          </a:solidFill>
          <a:ln w="19050">
            <a:noFill/>
          </a:ln>
          <a:effectLst/>
          <a:scene3d>
            <a:camera prst="orthographicFront"/>
            <a:lightRig rig="brightRoom" dir="t"/>
          </a:scene3d>
          <a:sp3d prstMaterial="flat">
            <a:bevelT w="50800" h="101600" prst="angle"/>
            <a:contourClr>
              <a:srgbClr val="000000"/>
            </a:contourClr>
          </a:sp3d>
        </c:spPr>
      </c:pivotFmt>
      <c:pivotFmt>
        <c:idx val="43"/>
        <c:spPr>
          <a:solidFill>
            <a:schemeClr val="accent2">
              <a:shade val="72000"/>
            </a:schemeClr>
          </a:solidFill>
          <a:ln w="19050">
            <a:noFill/>
          </a:ln>
          <a:effectLst/>
          <a:scene3d>
            <a:camera prst="orthographicFront"/>
            <a:lightRig rig="brightRoom" dir="t"/>
          </a:scene3d>
          <a:sp3d prstMaterial="flat">
            <a:bevelT w="50800" h="101600" prst="angle"/>
            <a:contourClr>
              <a:srgbClr val="000000"/>
            </a:contourClr>
          </a:sp3d>
        </c:spPr>
      </c:pivotFmt>
      <c:pivotFmt>
        <c:idx val="44"/>
        <c:spPr>
          <a:solidFill>
            <a:schemeClr val="accent2">
              <a:shade val="86000"/>
            </a:schemeClr>
          </a:solidFill>
          <a:ln w="19050">
            <a:noFill/>
          </a:ln>
          <a:effectLst/>
          <a:scene3d>
            <a:camera prst="orthographicFront"/>
            <a:lightRig rig="brightRoom" dir="t"/>
          </a:scene3d>
          <a:sp3d prstMaterial="flat">
            <a:bevelT w="50800" h="101600" prst="angle"/>
            <a:contourClr>
              <a:srgbClr val="000000"/>
            </a:contourClr>
          </a:sp3d>
        </c:spPr>
      </c:pivotFmt>
      <c:pivotFmt>
        <c:idx val="45"/>
        <c:spPr>
          <a:solidFill>
            <a:schemeClr val="accent2"/>
          </a:solidFill>
          <a:ln w="19050">
            <a:noFill/>
          </a:ln>
          <a:effectLst/>
          <a:scene3d>
            <a:camera prst="orthographicFront"/>
            <a:lightRig rig="brightRoom" dir="t"/>
          </a:scene3d>
          <a:sp3d prstMaterial="flat">
            <a:bevelT w="50800" h="101600" prst="angle"/>
            <a:contourClr>
              <a:srgbClr val="000000"/>
            </a:contourClr>
          </a:sp3d>
        </c:spPr>
      </c:pivotFmt>
      <c:pivotFmt>
        <c:idx val="46"/>
        <c:spPr>
          <a:solidFill>
            <a:schemeClr val="accent2">
              <a:tint val="86000"/>
            </a:schemeClr>
          </a:solidFill>
          <a:ln w="19050">
            <a:noFill/>
          </a:ln>
          <a:effectLst/>
          <a:scene3d>
            <a:camera prst="orthographicFront"/>
            <a:lightRig rig="brightRoom" dir="t"/>
          </a:scene3d>
          <a:sp3d prstMaterial="flat">
            <a:bevelT w="50800" h="101600" prst="angle"/>
            <a:contourClr>
              <a:srgbClr val="000000"/>
            </a:contourClr>
          </a:sp3d>
        </c:spPr>
      </c:pivotFmt>
      <c:pivotFmt>
        <c:idx val="47"/>
        <c:spPr>
          <a:solidFill>
            <a:schemeClr val="accent2">
              <a:tint val="72000"/>
            </a:schemeClr>
          </a:solidFill>
          <a:ln w="19050">
            <a:noFill/>
          </a:ln>
          <a:effectLst/>
          <a:scene3d>
            <a:camera prst="orthographicFront"/>
            <a:lightRig rig="brightRoom" dir="t"/>
          </a:scene3d>
          <a:sp3d prstMaterial="flat">
            <a:bevelT w="50800" h="101600" prst="angle"/>
            <a:contourClr>
              <a:srgbClr val="000000"/>
            </a:contourClr>
          </a:sp3d>
        </c:spPr>
      </c:pivotFmt>
      <c:pivotFmt>
        <c:idx val="48"/>
        <c:spPr>
          <a:solidFill>
            <a:schemeClr val="accent2">
              <a:tint val="58000"/>
            </a:schemeClr>
          </a:solidFill>
          <a:ln w="19050">
            <a:noFill/>
          </a:ln>
          <a:effectLst/>
          <a:scene3d>
            <a:camera prst="orthographicFront"/>
            <a:lightRig rig="brightRoom" dir="t"/>
          </a:scene3d>
          <a:sp3d prstMaterial="flat">
            <a:bevelT w="50800" h="101600" prst="angle"/>
            <a:contourClr>
              <a:srgbClr val="000000"/>
            </a:contourClr>
          </a:sp3d>
        </c:spPr>
      </c:pivotFmt>
      <c:pivotFmt>
        <c:idx val="49"/>
        <c:spPr>
          <a:solidFill>
            <a:schemeClr val="accent2">
              <a:tint val="44000"/>
            </a:schemeClr>
          </a:solidFill>
          <a:ln w="19050">
            <a:noFill/>
          </a:ln>
          <a:effectLst/>
          <a:scene3d>
            <a:camera prst="orthographicFront"/>
            <a:lightRig rig="brightRoom" dir="t"/>
          </a:scene3d>
          <a:sp3d prstMaterial="flat">
            <a:bevelT w="50800" h="101600" prst="angle"/>
            <a:contourClr>
              <a:srgbClr val="000000"/>
            </a:contourClr>
          </a:sp3d>
        </c:spPr>
      </c:pivotFmt>
    </c:pivotFmts>
    <c:plotArea>
      <c:layout/>
      <c:doughnutChart>
        <c:varyColors val="1"/>
        <c:ser>
          <c:idx val="0"/>
          <c:order val="0"/>
          <c:tx>
            <c:strRef>
              <c:f>Transacbyproductcat!$B$3</c:f>
              <c:strCache>
                <c:ptCount val="1"/>
                <c:pt idx="0">
                  <c:v>Total</c:v>
                </c:pt>
              </c:strCache>
            </c:strRef>
          </c:tx>
          <c:dPt>
            <c:idx val="0"/>
            <c:bubble3D val="0"/>
            <c:spPr>
              <a:gradFill>
                <a:gsLst>
                  <a:gs pos="100000">
                    <a:schemeClr val="accent2">
                      <a:shade val="44000"/>
                      <a:lumMod val="60000"/>
                      <a:lumOff val="40000"/>
                    </a:schemeClr>
                  </a:gs>
                  <a:gs pos="0">
                    <a:schemeClr val="accent2">
                      <a:shade val="44000"/>
                    </a:schemeClr>
                  </a:gs>
                </a:gsLst>
                <a:lin ang="5400000" scaled="0"/>
              </a:gradFill>
              <a:ln w="19050">
                <a:solidFill>
                  <a:schemeClr val="lt1"/>
                </a:solidFill>
              </a:ln>
              <a:effectLst/>
            </c:spPr>
          </c:dPt>
          <c:dPt>
            <c:idx val="1"/>
            <c:bubble3D val="0"/>
            <c:spPr>
              <a:gradFill>
                <a:gsLst>
                  <a:gs pos="100000">
                    <a:schemeClr val="accent2">
                      <a:shade val="58000"/>
                      <a:lumMod val="60000"/>
                      <a:lumOff val="40000"/>
                    </a:schemeClr>
                  </a:gs>
                  <a:gs pos="0">
                    <a:schemeClr val="accent2">
                      <a:shade val="58000"/>
                    </a:schemeClr>
                  </a:gs>
                </a:gsLst>
                <a:lin ang="5400000" scaled="0"/>
              </a:gradFill>
              <a:ln w="19050">
                <a:solidFill>
                  <a:schemeClr val="lt1"/>
                </a:solidFill>
              </a:ln>
              <a:effectLst/>
            </c:spPr>
          </c:dPt>
          <c:dPt>
            <c:idx val="2"/>
            <c:bubble3D val="0"/>
            <c:spPr>
              <a:gradFill>
                <a:gsLst>
                  <a:gs pos="100000">
                    <a:schemeClr val="accent2">
                      <a:shade val="72000"/>
                      <a:lumMod val="60000"/>
                      <a:lumOff val="40000"/>
                    </a:schemeClr>
                  </a:gs>
                  <a:gs pos="0">
                    <a:schemeClr val="accent2">
                      <a:shade val="72000"/>
                    </a:schemeClr>
                  </a:gs>
                </a:gsLst>
                <a:lin ang="5400000" scaled="0"/>
              </a:gradFill>
              <a:ln w="19050">
                <a:solidFill>
                  <a:schemeClr val="lt1"/>
                </a:solidFill>
              </a:ln>
              <a:effectLst/>
            </c:spPr>
          </c:dPt>
          <c:dPt>
            <c:idx val="3"/>
            <c:bubble3D val="0"/>
            <c:spPr>
              <a:gradFill>
                <a:gsLst>
                  <a:gs pos="100000">
                    <a:schemeClr val="accent2">
                      <a:shade val="86000"/>
                      <a:lumMod val="60000"/>
                      <a:lumOff val="40000"/>
                    </a:schemeClr>
                  </a:gs>
                  <a:gs pos="0">
                    <a:schemeClr val="accent2">
                      <a:shade val="86000"/>
                    </a:schemeClr>
                  </a:gs>
                </a:gsLst>
                <a:lin ang="5400000" scaled="0"/>
              </a:gradFill>
              <a:ln w="19050">
                <a:solidFill>
                  <a:schemeClr val="lt1"/>
                </a:solidFill>
              </a:ln>
              <a:effectLst/>
            </c:spPr>
          </c:dPt>
          <c:dPt>
            <c:idx val="4"/>
            <c:bubble3D val="0"/>
            <c:spPr>
              <a:gradFill>
                <a:gsLst>
                  <a:gs pos="100000">
                    <a:schemeClr val="accent2">
                      <a:lumMod val="60000"/>
                      <a:lumOff val="40000"/>
                    </a:schemeClr>
                  </a:gs>
                  <a:gs pos="0">
                    <a:schemeClr val="accent2"/>
                  </a:gs>
                </a:gsLst>
                <a:lin ang="5400000" scaled="0"/>
              </a:gradFill>
              <a:ln w="19050">
                <a:solidFill>
                  <a:schemeClr val="lt1"/>
                </a:solidFill>
              </a:ln>
              <a:effectLst/>
            </c:spPr>
          </c:dPt>
          <c:dPt>
            <c:idx val="5"/>
            <c:bubble3D val="0"/>
            <c:spPr>
              <a:gradFill>
                <a:gsLst>
                  <a:gs pos="100000">
                    <a:schemeClr val="accent2">
                      <a:tint val="86000"/>
                      <a:lumMod val="60000"/>
                      <a:lumOff val="40000"/>
                    </a:schemeClr>
                  </a:gs>
                  <a:gs pos="0">
                    <a:schemeClr val="accent2">
                      <a:tint val="86000"/>
                    </a:schemeClr>
                  </a:gs>
                </a:gsLst>
                <a:lin ang="5400000" scaled="0"/>
              </a:gradFill>
              <a:ln w="19050">
                <a:solidFill>
                  <a:schemeClr val="lt1"/>
                </a:solidFill>
              </a:ln>
              <a:effectLst/>
            </c:spPr>
          </c:dPt>
          <c:dPt>
            <c:idx val="6"/>
            <c:bubble3D val="0"/>
            <c:spPr>
              <a:gradFill>
                <a:gsLst>
                  <a:gs pos="100000">
                    <a:schemeClr val="accent2">
                      <a:tint val="72000"/>
                      <a:lumMod val="60000"/>
                      <a:lumOff val="40000"/>
                    </a:schemeClr>
                  </a:gs>
                  <a:gs pos="0">
                    <a:schemeClr val="accent2">
                      <a:tint val="72000"/>
                    </a:schemeClr>
                  </a:gs>
                </a:gsLst>
                <a:lin ang="5400000" scaled="0"/>
              </a:gradFill>
              <a:ln w="19050">
                <a:solidFill>
                  <a:schemeClr val="lt1"/>
                </a:solidFill>
              </a:ln>
              <a:effectLst/>
            </c:spPr>
          </c:dPt>
          <c:dPt>
            <c:idx val="7"/>
            <c:bubble3D val="0"/>
            <c:spPr>
              <a:gradFill>
                <a:gsLst>
                  <a:gs pos="100000">
                    <a:schemeClr val="accent2">
                      <a:tint val="58000"/>
                      <a:lumMod val="60000"/>
                      <a:lumOff val="40000"/>
                    </a:schemeClr>
                  </a:gs>
                  <a:gs pos="0">
                    <a:schemeClr val="accent2">
                      <a:tint val="58000"/>
                    </a:schemeClr>
                  </a:gs>
                </a:gsLst>
                <a:lin ang="5400000" scaled="0"/>
              </a:gradFill>
              <a:ln w="19050">
                <a:solidFill>
                  <a:schemeClr val="lt1"/>
                </a:solidFill>
              </a:ln>
              <a:effectLst/>
            </c:spPr>
          </c:dPt>
          <c:dPt>
            <c:idx val="8"/>
            <c:bubble3D val="0"/>
            <c:spPr>
              <a:gradFill>
                <a:gsLst>
                  <a:gs pos="100000">
                    <a:schemeClr val="accent2">
                      <a:tint val="44000"/>
                      <a:lumMod val="60000"/>
                      <a:lumOff val="40000"/>
                    </a:schemeClr>
                  </a:gs>
                  <a:gs pos="0">
                    <a:schemeClr val="accent2">
                      <a:tint val="44000"/>
                    </a:schemeClr>
                  </a:gs>
                </a:gsLst>
                <a:lin ang="5400000" scaled="0"/>
              </a:gra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xmlns:c16r2="http://schemas.microsoft.com/office/drawing/2015/06/chart">
              <c:ext xmlns:c15="http://schemas.microsoft.com/office/drawing/2012/chart" uri="{CE6537A1-D6FC-4f65-9D91-7224C49458BB}">
                <c15:layout/>
              </c:ext>
            </c:extLst>
          </c:dLbls>
          <c:cat>
            <c:strRef>
              <c:f>Transacbyproductcat!$A$4:$A$13</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Transacbyproductcat!$B$4:$B$13</c:f>
              <c:numCache>
                <c:formatCode>General</c:formatCode>
                <c:ptCount val="9"/>
                <c:pt idx="0">
                  <c:v>1701309874</c:v>
                </c:pt>
                <c:pt idx="1">
                  <c:v>57115939</c:v>
                </c:pt>
                <c:pt idx="2">
                  <c:v>4374016464</c:v>
                </c:pt>
                <c:pt idx="3">
                  <c:v>131060427</c:v>
                </c:pt>
                <c:pt idx="4">
                  <c:v>852609712</c:v>
                </c:pt>
                <c:pt idx="5">
                  <c:v>518179438</c:v>
                </c:pt>
                <c:pt idx="6">
                  <c:v>91491092</c:v>
                </c:pt>
                <c:pt idx="7">
                  <c:v>36442305</c:v>
                </c:pt>
                <c:pt idx="8">
                  <c:v>3382312693</c:v>
                </c:pt>
              </c:numCache>
            </c:numRef>
          </c:val>
          <c:extLst xmlns:c16r2="http://schemas.microsoft.com/office/drawing/2015/06/chart"/>
        </c:ser>
        <c:dLbls>
          <c:showLegendKey val="0"/>
          <c:showVal val="0"/>
          <c:showCatName val="0"/>
          <c:showSerName val="0"/>
          <c:showPercent val="1"/>
          <c:showBubbleSize val="0"/>
          <c:showLeaderLines val="1"/>
        </c:dLbls>
        <c:firstSliceAng val="0"/>
        <c:holeSize val="70"/>
      </c:doughnutChart>
      <c:spPr>
        <a:noFill/>
        <a:ln>
          <a:noFill/>
        </a:ln>
        <a:effectLst/>
      </c:spPr>
    </c:plotArea>
    <c:legend>
      <c:legendPos val="r"/>
      <c:layout/>
      <c:overlay val="0"/>
      <c:spPr>
        <a:solidFill>
          <a:schemeClr val="lt1">
            <a:alpha val="50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xmlns:c16r2="http://schemas.microsoft.com/office/drawing/2015/06/chart">
    <c:ext xmlns:c16="http://schemas.microsoft.com/office/drawing/2014/chart" uri="{E28EC0CA-F0BB-4C9C-879D-F8772B89E7AC}">
      <c16:pivotOptions16>
        <c16:showExpandCollapseFieldButtons val="1"/>
      </c16:pivotOptions16>
    </c:ex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[Coffee Shop Sales dash (main 1) (3).xlsx]Pricecategory!PivotTable10</c:name>
    <c:fmtId val="-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Price Category</a:t>
            </a:r>
          </a:p>
        </c:rich>
      </c:tx>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1"/>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2"/>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3"/>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4"/>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s>
    <c:plotArea>
      <c:layout/>
      <c:barChart>
        <c:barDir val="col"/>
        <c:grouping val="clustered"/>
        <c:varyColors val="0"/>
        <c:ser>
          <c:idx val="0"/>
          <c:order val="0"/>
          <c:tx>
            <c:strRef>
              <c:f>Pricecategory!$B$3</c:f>
              <c:strCache>
                <c:ptCount val="1"/>
                <c:pt idx="0">
                  <c:v>Total</c:v>
                </c:pt>
              </c:strCache>
            </c:strRef>
          </c:tx>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Pricecategory!$A$4:$A$6</c:f>
              <c:strCache>
                <c:ptCount val="2"/>
                <c:pt idx="0">
                  <c:v>High Price</c:v>
                </c:pt>
                <c:pt idx="1">
                  <c:v>Low Price</c:v>
                </c:pt>
              </c:strCache>
            </c:strRef>
          </c:cat>
          <c:val>
            <c:numRef>
              <c:f>Pricecategory!$B$4:$B$6</c:f>
              <c:numCache>
                <c:formatCode>General</c:formatCode>
                <c:ptCount val="2"/>
                <c:pt idx="0">
                  <c:v>69397.939999998867</c:v>
                </c:pt>
                <c:pt idx="1">
                  <c:v>629414.38999995939</c:v>
                </c:pt>
              </c:numCache>
            </c:numRef>
          </c:val>
          <c:extLst xmlns:c16r2="http://schemas.microsoft.com/office/drawing/2015/06/chart"/>
        </c:ser>
        <c:dLbls>
          <c:showLegendKey val="0"/>
          <c:showVal val="0"/>
          <c:showCatName val="0"/>
          <c:showSerName val="0"/>
          <c:showPercent val="0"/>
          <c:showBubbleSize val="0"/>
        </c:dLbls>
        <c:gapWidth val="100"/>
        <c:overlap val="-24"/>
        <c:axId val="324205272"/>
        <c:axId val="441508304"/>
      </c:barChart>
      <c:catAx>
        <c:axId val="32420527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41508304"/>
        <c:crosses val="autoZero"/>
        <c:auto val="1"/>
        <c:lblAlgn val="ctr"/>
        <c:lblOffset val="100"/>
        <c:noMultiLvlLbl val="0"/>
      </c:catAx>
      <c:valAx>
        <c:axId val="441508304"/>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324205272"/>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xmlns:c16r2="http://schemas.microsoft.com/office/drawing/2015/06/chart">
    <c:ext xmlns:c16="http://schemas.microsoft.com/office/drawing/2014/chart" uri="{E28EC0CA-F0BB-4C9C-879D-F8772B89E7AC}">
      <c16:pivotOptions16>
        <c16:showExpandCollapseFieldButtons val="1"/>
      </c16:pivotOptions16>
    </c:ex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IN"/>
              <a:t>SALES BY MONTH</a:t>
            </a:r>
          </a:p>
        </c:rich>
      </c:tx>
      <c:layout>
        <c:manualLayout>
          <c:xMode val="edge"/>
          <c:yMode val="edge"/>
          <c:x val="0.32397241028051654"/>
          <c:y val="5.2958857222920926E-3"/>
        </c:manualLayout>
      </c:layout>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ivotFmts>
      <c:pivotFmt>
        <c:idx val="0"/>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1"/>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2"/>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3"/>
        <c:spPr>
          <a:noFill/>
          <a:ln w="9525" cap="flat" cmpd="sng" algn="ctr">
            <a:solidFill>
              <a:schemeClr val="accent2"/>
            </a:solidFill>
            <a:miter lim="800000"/>
          </a:ln>
          <a:effectLst>
            <a:glow rad="63500">
              <a:schemeClr val="accent2">
                <a:satMod val="175000"/>
                <a:alpha val="25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s>
    <c:plotArea>
      <c:layout/>
      <c:lineChart>
        <c:grouping val="standard"/>
        <c:varyColors val="0"/>
        <c:ser>
          <c:idx val="0"/>
          <c:order val="0"/>
          <c:tx>
            <c:v>Total</c:v>
          </c:tx>
          <c:spPr>
            <a:ln w="22225" cap="rnd">
              <a:solidFill>
                <a:schemeClr val="accent2"/>
              </a:solidFill>
            </a:ln>
            <a:effectLst>
              <a:glow rad="139700">
                <a:schemeClr val="accent2">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cat>
            <c:strLit>
              <c:ptCount val="7"/>
              <c:pt idx="0">
                <c:v>&lt;1/1/2023</c:v>
              </c:pt>
              <c:pt idx="1">
                <c:v>Jan</c:v>
              </c:pt>
              <c:pt idx="2">
                <c:v>Feb</c:v>
              </c:pt>
              <c:pt idx="3">
                <c:v>Mar</c:v>
              </c:pt>
              <c:pt idx="4">
                <c:v>Apr</c:v>
              </c:pt>
              <c:pt idx="5">
                <c:v>May</c:v>
              </c:pt>
              <c:pt idx="6">
                <c:v>Jun</c:v>
              </c:pt>
            </c:strLit>
          </c:cat>
          <c:val>
            <c:numLit>
              <c:formatCode>General</c:formatCode>
              <c:ptCount val="7"/>
              <c:pt idx="0">
                <c:v>0</c:v>
              </c:pt>
              <c:pt idx="1">
                <c:v>81677.739999999278</c:v>
              </c:pt>
              <c:pt idx="2">
                <c:v>76145.18999999958</c:v>
              </c:pt>
              <c:pt idx="3">
                <c:v>98834.680000000008</c:v>
              </c:pt>
              <c:pt idx="4">
                <c:v>118941.08000000106</c:v>
              </c:pt>
              <c:pt idx="5">
                <c:v>156727.76000000449</c:v>
              </c:pt>
              <c:pt idx="6">
                <c:v>166485.88000000533</c:v>
              </c:pt>
            </c:numLit>
          </c:val>
          <c:smooth val="0"/>
          <c:extLst xmlns:c16r2="http://schemas.microsoft.com/office/drawing/2015/06/chart"/>
        </c:ser>
        <c:dLbls>
          <c:showLegendKey val="0"/>
          <c:showVal val="0"/>
          <c:showCatName val="0"/>
          <c:showSerName val="0"/>
          <c:showPercent val="0"/>
          <c:showBubbleSize val="0"/>
        </c:dLbls>
        <c:marker val="1"/>
        <c:smooth val="0"/>
        <c:axId val="412821560"/>
        <c:axId val="412820384"/>
      </c:lineChart>
      <c:catAx>
        <c:axId val="412821560"/>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412820384"/>
        <c:crosses val="autoZero"/>
        <c:auto val="1"/>
        <c:lblAlgn val="ctr"/>
        <c:lblOffset val="100"/>
        <c:noMultiLvlLbl val="0"/>
      </c:catAx>
      <c:valAx>
        <c:axId val="412820384"/>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412821560"/>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xmlns:c16r2="http://schemas.microsoft.com/office/drawing/2015/06/char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xmlns:c16r2="http://schemas.microsoft.com/office/drawing/2015/06/chart"/>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PRODUCT DETAIL  </a:t>
            </a:r>
          </a:p>
        </c:rich>
      </c:tx>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diamond"/>
          <c:size val="5"/>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1"/>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2"/>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
        <c:idx val="3"/>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
      </c:pivotFmt>
    </c:pivotFmts>
    <c:plotArea>
      <c:layout/>
      <c:barChart>
        <c:barDir val="bar"/>
        <c:grouping val="clustered"/>
        <c:varyColors val="0"/>
        <c:ser>
          <c:idx val="0"/>
          <c:order val="0"/>
          <c:tx>
            <c:v>Total</c:v>
          </c:tx>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Lit>
              <c:ptCount val="10"/>
              <c:pt idx="0">
                <c:v>Brazilian Lg</c:v>
              </c:pt>
              <c:pt idx="1">
                <c:v>Cappuccino</c:v>
              </c:pt>
              <c:pt idx="2">
                <c:v>Cappuccino Lg</c:v>
              </c:pt>
              <c:pt idx="3">
                <c:v>Dark chocolate Lg</c:v>
              </c:pt>
              <c:pt idx="4">
                <c:v>Jamaican Coffee River Lg</c:v>
              </c:pt>
              <c:pt idx="5">
                <c:v>Latte</c:v>
              </c:pt>
              <c:pt idx="6">
                <c:v>Latte Rg</c:v>
              </c:pt>
              <c:pt idx="7">
                <c:v>Morning Sunrise Chai Lg</c:v>
              </c:pt>
              <c:pt idx="8">
                <c:v>Sustainably Grown Organic Lg</c:v>
              </c:pt>
              <c:pt idx="9">
                <c:v>Sustainably Grown Organic Rg</c:v>
              </c:pt>
            </c:strLit>
          </c:cat>
          <c:val>
            <c:numLit>
              <c:formatCode>General</c:formatCode>
              <c:ptCount val="10"/>
              <c:pt idx="0">
                <c:v>15109.5</c:v>
              </c:pt>
              <c:pt idx="1">
                <c:v>15997.5</c:v>
              </c:pt>
              <c:pt idx="2">
                <c:v>17641.75</c:v>
              </c:pt>
              <c:pt idx="3">
                <c:v>21006</c:v>
              </c:pt>
              <c:pt idx="4">
                <c:v>16481.25</c:v>
              </c:pt>
              <c:pt idx="5">
                <c:v>17257.5</c:v>
              </c:pt>
              <c:pt idx="6">
                <c:v>19112.25</c:v>
              </c:pt>
              <c:pt idx="7">
                <c:v>17384</c:v>
              </c:pt>
              <c:pt idx="8">
                <c:v>21151.75</c:v>
              </c:pt>
              <c:pt idx="9">
                <c:v>16233.75</c:v>
              </c:pt>
            </c:numLit>
          </c:val>
          <c:extLst xmlns:c16r2="http://schemas.microsoft.com/office/drawing/2015/06/chart"/>
        </c:ser>
        <c:dLbls>
          <c:showLegendKey val="0"/>
          <c:showVal val="0"/>
          <c:showCatName val="0"/>
          <c:showSerName val="0"/>
          <c:showPercent val="0"/>
          <c:showBubbleSize val="0"/>
        </c:dLbls>
        <c:gapWidth val="115"/>
        <c:overlap val="-20"/>
        <c:axId val="511435824"/>
        <c:axId val="511434256"/>
      </c:barChart>
      <c:catAx>
        <c:axId val="511435824"/>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11434256"/>
        <c:crosses val="autoZero"/>
        <c:auto val="1"/>
        <c:lblAlgn val="ctr"/>
        <c:lblOffset val="100"/>
        <c:noMultiLvlLbl val="0"/>
      </c:catAx>
      <c:valAx>
        <c:axId val="511434256"/>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11435824"/>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xmlns:c16r2="http://schemas.microsoft.com/office/drawing/2015/06/char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xmlns:c16r2="http://schemas.microsoft.com/office/drawing/2015/06/chart"/>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withinLinear" id="15">
  <a:schemeClr val="accent2"/>
</cs:colorStyle>
</file>

<file path=ppt/charts/colors6.xml><?xml version="1.0" encoding="utf-8"?>
<cs:colorStyle xmlns:cs="http://schemas.microsoft.com/office/drawing/2012/chartStyle" xmlns:a="http://schemas.openxmlformats.org/drawingml/2006/main" meth="withinLinear" id="15">
  <a:schemeClr val="accent2"/>
</cs:colorStyle>
</file>

<file path=ppt/charts/colors7.xml><?xml version="1.0" encoding="utf-8"?>
<cs:colorStyle xmlns:cs="http://schemas.microsoft.com/office/drawing/2012/chartStyle" xmlns:a="http://schemas.openxmlformats.org/drawingml/2006/main" meth="withinLinear" id="15">
  <a:schemeClr val="accent2"/>
</cs:colorStyle>
</file>

<file path=ppt/charts/colors8.xml><?xml version="1.0" encoding="utf-8"?>
<cs:colorStyle xmlns:cs="http://schemas.microsoft.com/office/drawing/2012/chartStyle" xmlns:a="http://schemas.openxmlformats.org/drawingml/2006/main" meth="withinLinear" id="15">
  <a:schemeClr val="accent2"/>
</cs:colorStyle>
</file>

<file path=ppt/charts/colors9.xml><?xml version="1.0" encoding="utf-8"?>
<cs:colorStyle xmlns:cs="http://schemas.microsoft.com/office/drawing/2012/chartStyle" xmlns:a="http://schemas.openxmlformats.org/drawingml/2006/main" meth="withinLinear" id="15">
  <a:schemeClr val="accent2"/>
</cs:colorStyle>
</file>

<file path=ppt/charts/colors10.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6.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F2BE6F-47E1-46DB-AE58-E01EE0702915}"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62D26E7D-06B7-42F1-816E-EE3E3CB8C1CB}">
      <dgm:prSet/>
      <dgm:spPr/>
      <dgm:t>
        <a:bodyPr/>
        <a:lstStyle/>
        <a:p>
          <a:endParaRPr lang="en-US" dirty="0"/>
        </a:p>
      </dgm:t>
    </dgm:pt>
    <dgm:pt modelId="{F5DCAA1D-0326-450F-94D9-DBE51AE2E507}" type="parTrans" cxnId="{33D12494-2922-4E90-862C-394691EAFE30}">
      <dgm:prSet/>
      <dgm:spPr/>
      <dgm:t>
        <a:bodyPr/>
        <a:lstStyle/>
        <a:p>
          <a:endParaRPr lang="en-US"/>
        </a:p>
      </dgm:t>
    </dgm:pt>
    <dgm:pt modelId="{6C40CA6F-918F-4EE5-B248-63C184C487EC}" type="sibTrans" cxnId="{33D12494-2922-4E90-862C-394691EAFE30}">
      <dgm:prSet/>
      <dgm:spPr/>
      <dgm:t>
        <a:bodyPr/>
        <a:lstStyle/>
        <a:p>
          <a:endParaRPr lang="en-US"/>
        </a:p>
      </dgm:t>
    </dgm:pt>
    <dgm:pt modelId="{DA786764-5680-4C00-9340-0B599CF7F761}">
      <dgm:prSet custT="1"/>
      <dgm:spPr/>
      <dgm:t>
        <a:bodyPr/>
        <a:lstStyle/>
        <a:p>
          <a:r>
            <a:rPr lang="en-US" sz="1600" dirty="0"/>
            <a:t>Store Dominance Hell's Kitchen is the top performer, generating 34% of total branch sales, driven by high foot traffic and demand for premium beverages</a:t>
          </a:r>
        </a:p>
      </dgm:t>
    </dgm:pt>
    <dgm:pt modelId="{4D2E39E4-8AFF-421F-A664-C78E71D6E92C}" type="parTrans" cxnId="{386347D5-3AA2-4467-8DD8-11BC27F3FDA2}">
      <dgm:prSet/>
      <dgm:spPr/>
      <dgm:t>
        <a:bodyPr/>
        <a:lstStyle/>
        <a:p>
          <a:endParaRPr lang="en-US"/>
        </a:p>
      </dgm:t>
    </dgm:pt>
    <dgm:pt modelId="{9F967494-9253-4FA3-8DB3-6ADF4AF1095E}" type="sibTrans" cxnId="{386347D5-3AA2-4467-8DD8-11BC27F3FDA2}">
      <dgm:prSet/>
      <dgm:spPr/>
      <dgm:t>
        <a:bodyPr/>
        <a:lstStyle/>
        <a:p>
          <a:endParaRPr lang="en-US"/>
        </a:p>
      </dgm:t>
    </dgm:pt>
    <dgm:pt modelId="{0007B47F-C296-45A3-A50F-FD77864A3913}">
      <dgm:prSet/>
      <dgm:spPr/>
      <dgm:t>
        <a:bodyPr/>
        <a:lstStyle/>
        <a:p>
          <a:r>
            <a:rPr lang="en-US"/>
            <a:t>Core Transactions Coffee and tea account for over 65% of transaction volume. Frequent single-item coffee orders lower the average transaction value.</a:t>
          </a:r>
        </a:p>
      </dgm:t>
    </dgm:pt>
    <dgm:pt modelId="{6F023F03-7104-4B8F-BB90-C30D6C36BB1F}" type="parTrans" cxnId="{A95B2DF4-3746-43C3-8E78-4E456C62F55F}">
      <dgm:prSet/>
      <dgm:spPr/>
      <dgm:t>
        <a:bodyPr/>
        <a:lstStyle/>
        <a:p>
          <a:endParaRPr lang="en-US"/>
        </a:p>
      </dgm:t>
    </dgm:pt>
    <dgm:pt modelId="{8695C3ED-2DA6-43C6-AF0D-703832FDF0DC}" type="sibTrans" cxnId="{A95B2DF4-3746-43C3-8E78-4E456C62F55F}">
      <dgm:prSet/>
      <dgm:spPr/>
      <dgm:t>
        <a:bodyPr/>
        <a:lstStyle/>
        <a:p>
          <a:endParaRPr lang="en-US"/>
        </a:p>
      </dgm:t>
    </dgm:pt>
    <dgm:pt modelId="{2DB84EF9-35BD-402F-991A-664C80C829DB}">
      <dgm:prSet/>
      <dgm:spPr/>
      <dgm:t>
        <a:bodyPr/>
        <a:lstStyle/>
        <a:p>
          <a:r>
            <a:rPr lang="en-US"/>
            <a:t>Peak Operational Hours The 7:00-10:00 AM rush accounts for 55% of daily transactions and often causes line congestion and bottlenecks.</a:t>
          </a:r>
        </a:p>
      </dgm:t>
    </dgm:pt>
    <dgm:pt modelId="{01458F83-8901-4934-9E14-796E30F4FD21}" type="parTrans" cxnId="{E411B19C-CC32-4D98-B43F-7E18978F8249}">
      <dgm:prSet/>
      <dgm:spPr/>
      <dgm:t>
        <a:bodyPr/>
        <a:lstStyle/>
        <a:p>
          <a:endParaRPr lang="en-US"/>
        </a:p>
      </dgm:t>
    </dgm:pt>
    <dgm:pt modelId="{85BCE42A-E49A-444D-9A92-92F1A0A4A89C}" type="sibTrans" cxnId="{E411B19C-CC32-4D98-B43F-7E18978F8249}">
      <dgm:prSet/>
      <dgm:spPr/>
      <dgm:t>
        <a:bodyPr/>
        <a:lstStyle/>
        <a:p>
          <a:endParaRPr lang="en-US"/>
        </a:p>
      </dgm:t>
    </dgm:pt>
    <dgm:pt modelId="{51347CD5-3948-4A4F-9928-2E5704B2513D}">
      <dgm:prSet/>
      <dgm:spPr/>
      <dgm:t>
        <a:bodyPr/>
        <a:lstStyle/>
        <a:p>
          <a:r>
            <a:rPr lang="en-US"/>
            <a:t>Revenue Volatility Growth is steady with seasonal spikes, but revenue softens in slower mid-season months.</a:t>
          </a:r>
        </a:p>
      </dgm:t>
    </dgm:pt>
    <dgm:pt modelId="{3C454346-6F83-48D0-96C7-68869F148D2C}" type="parTrans" cxnId="{2496F89C-BA1F-4254-BDCC-1ED33EFA613C}">
      <dgm:prSet/>
      <dgm:spPr/>
      <dgm:t>
        <a:bodyPr/>
        <a:lstStyle/>
        <a:p>
          <a:endParaRPr lang="en-US"/>
        </a:p>
      </dgm:t>
    </dgm:pt>
    <dgm:pt modelId="{18FA61D9-0C6D-4141-BEC2-32D9A8506A1C}" type="sibTrans" cxnId="{2496F89C-BA1F-4254-BDCC-1ED33EFA613C}">
      <dgm:prSet/>
      <dgm:spPr/>
      <dgm:t>
        <a:bodyPr/>
        <a:lstStyle/>
        <a:p>
          <a:endParaRPr lang="en-US"/>
        </a:p>
      </dgm:t>
    </dgm:pt>
    <dgm:pt modelId="{625ECDC1-1D2F-4E61-94A3-13F6F58BCA4B}">
      <dgm:prSet custT="1"/>
      <dgm:spPr/>
      <dgm:t>
        <a:bodyPr/>
        <a:lstStyle/>
        <a:p>
          <a:pPr>
            <a:buFont typeface="Arial" panose="020B0604020202020204" pitchFamily="34" charset="0"/>
            <a:buChar char="•"/>
          </a:pPr>
          <a:r>
            <a:rPr lang="en-US" sz="1800" b="1" dirty="0">
              <a:solidFill>
                <a:schemeClr val="bg1"/>
              </a:solidFill>
            </a:rPr>
            <a:t>Solution</a:t>
          </a:r>
          <a:r>
            <a:rPr lang="en-US" sz="1200" b="1" dirty="0">
              <a:solidFill>
                <a:schemeClr val="bg1"/>
              </a:solidFill>
            </a:rPr>
            <a:t>s</a:t>
          </a:r>
          <a:endParaRPr lang="en-US" sz="1200" dirty="0">
            <a:solidFill>
              <a:schemeClr val="bg1"/>
            </a:solidFill>
          </a:endParaRPr>
        </a:p>
      </dgm:t>
    </dgm:pt>
    <dgm:pt modelId="{4F2A4E44-F971-4147-AFCB-34E64424A64B}" type="parTrans" cxnId="{7F0CB53E-206D-4B5E-BFB3-72A94E03D020}">
      <dgm:prSet/>
      <dgm:spPr/>
      <dgm:t>
        <a:bodyPr/>
        <a:lstStyle/>
        <a:p>
          <a:endParaRPr lang="en-US"/>
        </a:p>
      </dgm:t>
    </dgm:pt>
    <dgm:pt modelId="{0D10C749-B030-441F-8BAC-4BB336FFEE7C}" type="sibTrans" cxnId="{7F0CB53E-206D-4B5E-BFB3-72A94E03D020}">
      <dgm:prSet/>
      <dgm:spPr/>
      <dgm:t>
        <a:bodyPr/>
        <a:lstStyle/>
        <a:p>
          <a:endParaRPr lang="en-US"/>
        </a:p>
      </dgm:t>
    </dgm:pt>
    <dgm:pt modelId="{88ABBAE0-35C0-4245-A03B-9311C293122B}">
      <dgm:prSet/>
      <dgm:spPr/>
      <dgm:t>
        <a:bodyPr/>
        <a:lstStyle/>
        <a:p>
          <a:r>
            <a:rPr lang="en-US"/>
            <a:t>Operational Replication Lift underperforming Astoria shifts by copying the inventory and staffing models used at Hell's Kitchen.</a:t>
          </a:r>
        </a:p>
      </dgm:t>
    </dgm:pt>
    <dgm:pt modelId="{2E5C8BBC-8680-4BFC-965C-C98E769CA6D1}" type="parTrans" cxnId="{DEFA66AC-1B0F-46F3-BD7E-E8FDC5A663EC}">
      <dgm:prSet/>
      <dgm:spPr/>
      <dgm:t>
        <a:bodyPr/>
        <a:lstStyle/>
        <a:p>
          <a:endParaRPr lang="en-US"/>
        </a:p>
      </dgm:t>
    </dgm:pt>
    <dgm:pt modelId="{E38D5B06-DECC-453C-909F-6A914990ABF0}" type="sibTrans" cxnId="{DEFA66AC-1B0F-46F3-BD7E-E8FDC5A663EC}">
      <dgm:prSet/>
      <dgm:spPr/>
      <dgm:t>
        <a:bodyPr/>
        <a:lstStyle/>
        <a:p>
          <a:endParaRPr lang="en-US"/>
        </a:p>
      </dgm:t>
    </dgm:pt>
    <dgm:pt modelId="{301230DD-44AC-42C6-A95A-EE26955C3251}">
      <dgm:prSet/>
      <dgm:spPr/>
      <dgm:t>
        <a:bodyPr/>
        <a:lstStyle/>
        <a:p>
          <a:r>
            <a:rPr lang="en-US"/>
            <a:t>Strategic Product Bundling Offer discount bundles that pair core coffee with high-margin bakery items to raise average transaction value.</a:t>
          </a:r>
        </a:p>
      </dgm:t>
    </dgm:pt>
    <dgm:pt modelId="{E4915BE4-395D-483B-86CE-A3F9456851D8}" type="parTrans" cxnId="{9CFC9841-91A6-4AE7-ACCB-648B79D7D372}">
      <dgm:prSet/>
      <dgm:spPr/>
      <dgm:t>
        <a:bodyPr/>
        <a:lstStyle/>
        <a:p>
          <a:endParaRPr lang="en-US"/>
        </a:p>
      </dgm:t>
    </dgm:pt>
    <dgm:pt modelId="{2E94954B-4DCD-48F7-97DF-3367E6F37677}" type="sibTrans" cxnId="{9CFC9841-91A6-4AE7-ACCB-648B79D7D372}">
      <dgm:prSet/>
      <dgm:spPr/>
      <dgm:t>
        <a:bodyPr/>
        <a:lstStyle/>
        <a:p>
          <a:endParaRPr lang="en-US"/>
        </a:p>
      </dgm:t>
    </dgm:pt>
    <dgm:pt modelId="{23809E63-C6BC-44FB-8B30-6437A242BA87}">
      <dgm:prSet/>
      <dgm:spPr/>
      <dgm:t>
        <a:bodyPr/>
        <a:lstStyle/>
        <a:p>
          <a:r>
            <a:rPr lang="en-US"/>
            <a:t>Queue Optimization Reduce morning congestion with mobile ordering and pre-packed grab-and-go bakery displays.</a:t>
          </a:r>
        </a:p>
      </dgm:t>
    </dgm:pt>
    <dgm:pt modelId="{0E8BAD9E-AC35-42FE-B47A-5769ECF37FF3}" type="parTrans" cxnId="{FB49B8AD-6076-4975-8E3D-E69D32103CD0}">
      <dgm:prSet/>
      <dgm:spPr/>
      <dgm:t>
        <a:bodyPr/>
        <a:lstStyle/>
        <a:p>
          <a:endParaRPr lang="en-US"/>
        </a:p>
      </dgm:t>
    </dgm:pt>
    <dgm:pt modelId="{46DB866B-7352-4C5A-82DF-345A10602ED4}" type="sibTrans" cxnId="{FB49B8AD-6076-4975-8E3D-E69D32103CD0}">
      <dgm:prSet/>
      <dgm:spPr/>
      <dgm:t>
        <a:bodyPr/>
        <a:lstStyle/>
        <a:p>
          <a:endParaRPr lang="en-US"/>
        </a:p>
      </dgm:t>
    </dgm:pt>
    <dgm:pt modelId="{A6EE8724-D89D-4CD9-BF5F-321DB0333D40}">
      <dgm:prSet/>
      <dgm:spPr/>
      <dgm:t>
        <a:bodyPr/>
        <a:lstStyle/>
        <a:p>
          <a:r>
            <a:rPr lang="en-US"/>
            <a:t>Targeted Marketing Campaigns Smooth mid-season dips with seasonal promos and loyalty punch-cards in slower</a:t>
          </a:r>
        </a:p>
      </dgm:t>
    </dgm:pt>
    <dgm:pt modelId="{80609A39-57E4-404D-A146-735F6A27FF9C}" type="parTrans" cxnId="{A6C9186B-239B-42A8-89AF-C42E5DBABC95}">
      <dgm:prSet/>
      <dgm:spPr/>
      <dgm:t>
        <a:bodyPr/>
        <a:lstStyle/>
        <a:p>
          <a:endParaRPr lang="en-US"/>
        </a:p>
      </dgm:t>
    </dgm:pt>
    <dgm:pt modelId="{90949266-6CEF-4B38-9D74-3E27953A35EE}" type="sibTrans" cxnId="{A6C9186B-239B-42A8-89AF-C42E5DBABC95}">
      <dgm:prSet/>
      <dgm:spPr/>
      <dgm:t>
        <a:bodyPr/>
        <a:lstStyle/>
        <a:p>
          <a:endParaRPr lang="en-US"/>
        </a:p>
      </dgm:t>
    </dgm:pt>
    <dgm:pt modelId="{1FC1AD73-A22F-4A4D-913C-508B2B37B9E5}" type="pres">
      <dgm:prSet presAssocID="{1DF2BE6F-47E1-46DB-AE58-E01EE0702915}" presName="linear" presStyleCnt="0">
        <dgm:presLayoutVars>
          <dgm:animLvl val="lvl"/>
          <dgm:resizeHandles val="exact"/>
        </dgm:presLayoutVars>
      </dgm:prSet>
      <dgm:spPr/>
      <dgm:t>
        <a:bodyPr/>
        <a:lstStyle/>
        <a:p>
          <a:endParaRPr lang="en-US"/>
        </a:p>
      </dgm:t>
    </dgm:pt>
    <dgm:pt modelId="{0FD1B86B-42E5-4899-BC10-6787485618BD}" type="pres">
      <dgm:prSet presAssocID="{62D26E7D-06B7-42F1-816E-EE3E3CB8C1CB}" presName="parentText" presStyleLbl="node1" presStyleIdx="0" presStyleCnt="8" custLinFactNeighborY="98355">
        <dgm:presLayoutVars>
          <dgm:chMax val="0"/>
          <dgm:bulletEnabled val="1"/>
        </dgm:presLayoutVars>
      </dgm:prSet>
      <dgm:spPr/>
      <dgm:t>
        <a:bodyPr/>
        <a:lstStyle/>
        <a:p>
          <a:endParaRPr lang="en-US"/>
        </a:p>
      </dgm:t>
    </dgm:pt>
    <dgm:pt modelId="{10F8EC4D-645B-4DB8-B2F0-9F0F9CF98328}" type="pres">
      <dgm:prSet presAssocID="{62D26E7D-06B7-42F1-816E-EE3E3CB8C1CB}" presName="childText" presStyleLbl="revTx" presStyleIdx="0" presStyleCnt="2">
        <dgm:presLayoutVars>
          <dgm:bulletEnabled val="1"/>
        </dgm:presLayoutVars>
      </dgm:prSet>
      <dgm:spPr/>
      <dgm:t>
        <a:bodyPr/>
        <a:lstStyle/>
        <a:p>
          <a:endParaRPr lang="en-US"/>
        </a:p>
      </dgm:t>
    </dgm:pt>
    <dgm:pt modelId="{D7F42236-88EC-4123-97CD-22595FA1E35E}" type="pres">
      <dgm:prSet presAssocID="{0007B47F-C296-45A3-A50F-FD77864A3913}" presName="parentText" presStyleLbl="node1" presStyleIdx="1" presStyleCnt="8">
        <dgm:presLayoutVars>
          <dgm:chMax val="0"/>
          <dgm:bulletEnabled val="1"/>
        </dgm:presLayoutVars>
      </dgm:prSet>
      <dgm:spPr/>
      <dgm:t>
        <a:bodyPr/>
        <a:lstStyle/>
        <a:p>
          <a:endParaRPr lang="en-US"/>
        </a:p>
      </dgm:t>
    </dgm:pt>
    <dgm:pt modelId="{A91719FD-E827-4B9B-9A15-5B9F6AA11FA9}" type="pres">
      <dgm:prSet presAssocID="{8695C3ED-2DA6-43C6-AF0D-703832FDF0DC}" presName="spacer" presStyleCnt="0"/>
      <dgm:spPr/>
    </dgm:pt>
    <dgm:pt modelId="{3A3A0AF9-BC95-4B19-81E3-A4E38E6C238A}" type="pres">
      <dgm:prSet presAssocID="{2DB84EF9-35BD-402F-991A-664C80C829DB}" presName="parentText" presStyleLbl="node1" presStyleIdx="2" presStyleCnt="8">
        <dgm:presLayoutVars>
          <dgm:chMax val="0"/>
          <dgm:bulletEnabled val="1"/>
        </dgm:presLayoutVars>
      </dgm:prSet>
      <dgm:spPr/>
      <dgm:t>
        <a:bodyPr/>
        <a:lstStyle/>
        <a:p>
          <a:endParaRPr lang="en-US"/>
        </a:p>
      </dgm:t>
    </dgm:pt>
    <dgm:pt modelId="{D5247D71-A396-47D6-B7A9-AF695D2C911D}" type="pres">
      <dgm:prSet presAssocID="{85BCE42A-E49A-444D-9A92-92F1A0A4A89C}" presName="spacer" presStyleCnt="0"/>
      <dgm:spPr/>
    </dgm:pt>
    <dgm:pt modelId="{2957DFE0-49B2-42C8-84B8-5FD8489CD5A8}" type="pres">
      <dgm:prSet presAssocID="{51347CD5-3948-4A4F-9928-2E5704B2513D}" presName="parentText" presStyleLbl="node1" presStyleIdx="3" presStyleCnt="8">
        <dgm:presLayoutVars>
          <dgm:chMax val="0"/>
          <dgm:bulletEnabled val="1"/>
        </dgm:presLayoutVars>
      </dgm:prSet>
      <dgm:spPr/>
      <dgm:t>
        <a:bodyPr/>
        <a:lstStyle/>
        <a:p>
          <a:endParaRPr lang="en-US"/>
        </a:p>
      </dgm:t>
    </dgm:pt>
    <dgm:pt modelId="{95673FDD-9D3C-4881-9644-9FD87EADE3C5}" type="pres">
      <dgm:prSet presAssocID="{51347CD5-3948-4A4F-9928-2E5704B2513D}" presName="childText" presStyleLbl="revTx" presStyleIdx="1" presStyleCnt="2">
        <dgm:presLayoutVars>
          <dgm:bulletEnabled val="1"/>
        </dgm:presLayoutVars>
      </dgm:prSet>
      <dgm:spPr/>
      <dgm:t>
        <a:bodyPr/>
        <a:lstStyle/>
        <a:p>
          <a:endParaRPr lang="en-US"/>
        </a:p>
      </dgm:t>
    </dgm:pt>
    <dgm:pt modelId="{86E70A78-9991-43D0-AE22-20695C3A576F}" type="pres">
      <dgm:prSet presAssocID="{88ABBAE0-35C0-4245-A03B-9311C293122B}" presName="parentText" presStyleLbl="node1" presStyleIdx="4" presStyleCnt="8">
        <dgm:presLayoutVars>
          <dgm:chMax val="0"/>
          <dgm:bulletEnabled val="1"/>
        </dgm:presLayoutVars>
      </dgm:prSet>
      <dgm:spPr/>
      <dgm:t>
        <a:bodyPr/>
        <a:lstStyle/>
        <a:p>
          <a:endParaRPr lang="en-US"/>
        </a:p>
      </dgm:t>
    </dgm:pt>
    <dgm:pt modelId="{61EF7262-4E3C-48DB-B83F-F13D8BBD283E}" type="pres">
      <dgm:prSet presAssocID="{E38D5B06-DECC-453C-909F-6A914990ABF0}" presName="spacer" presStyleCnt="0"/>
      <dgm:spPr/>
    </dgm:pt>
    <dgm:pt modelId="{60001198-A6DB-4115-BDF2-3CEC7CBF83E4}" type="pres">
      <dgm:prSet presAssocID="{301230DD-44AC-42C6-A95A-EE26955C3251}" presName="parentText" presStyleLbl="node1" presStyleIdx="5" presStyleCnt="8">
        <dgm:presLayoutVars>
          <dgm:chMax val="0"/>
          <dgm:bulletEnabled val="1"/>
        </dgm:presLayoutVars>
      </dgm:prSet>
      <dgm:spPr/>
      <dgm:t>
        <a:bodyPr/>
        <a:lstStyle/>
        <a:p>
          <a:endParaRPr lang="en-US"/>
        </a:p>
      </dgm:t>
    </dgm:pt>
    <dgm:pt modelId="{D1F0D8E4-37F9-466C-A6B8-C0901AC4E5EA}" type="pres">
      <dgm:prSet presAssocID="{2E94954B-4DCD-48F7-97DF-3367E6F37677}" presName="spacer" presStyleCnt="0"/>
      <dgm:spPr/>
    </dgm:pt>
    <dgm:pt modelId="{FAAAFCAE-B1CF-44B8-9AA8-5635183BA75F}" type="pres">
      <dgm:prSet presAssocID="{23809E63-C6BC-44FB-8B30-6437A242BA87}" presName="parentText" presStyleLbl="node1" presStyleIdx="6" presStyleCnt="8">
        <dgm:presLayoutVars>
          <dgm:chMax val="0"/>
          <dgm:bulletEnabled val="1"/>
        </dgm:presLayoutVars>
      </dgm:prSet>
      <dgm:spPr/>
      <dgm:t>
        <a:bodyPr/>
        <a:lstStyle/>
        <a:p>
          <a:endParaRPr lang="en-US"/>
        </a:p>
      </dgm:t>
    </dgm:pt>
    <dgm:pt modelId="{0326869C-47F3-4CCA-9731-C244218CD420}" type="pres">
      <dgm:prSet presAssocID="{46DB866B-7352-4C5A-82DF-345A10602ED4}" presName="spacer" presStyleCnt="0"/>
      <dgm:spPr/>
    </dgm:pt>
    <dgm:pt modelId="{41370701-459F-4699-A00E-509CAD06DC6D}" type="pres">
      <dgm:prSet presAssocID="{A6EE8724-D89D-4CD9-BF5F-321DB0333D40}" presName="parentText" presStyleLbl="node1" presStyleIdx="7" presStyleCnt="8">
        <dgm:presLayoutVars>
          <dgm:chMax val="0"/>
          <dgm:bulletEnabled val="1"/>
        </dgm:presLayoutVars>
      </dgm:prSet>
      <dgm:spPr/>
      <dgm:t>
        <a:bodyPr/>
        <a:lstStyle/>
        <a:p>
          <a:endParaRPr lang="en-US"/>
        </a:p>
      </dgm:t>
    </dgm:pt>
  </dgm:ptLst>
  <dgm:cxnLst>
    <dgm:cxn modelId="{D6C15C32-5996-4DFD-B4A1-68244400770F}" type="presOf" srcId="{1DF2BE6F-47E1-46DB-AE58-E01EE0702915}" destId="{1FC1AD73-A22F-4A4D-913C-508B2B37B9E5}" srcOrd="0" destOrd="0" presId="urn:microsoft.com/office/officeart/2005/8/layout/vList2"/>
    <dgm:cxn modelId="{0B6D2F5C-952D-4FE3-BAF5-A506159AFD4C}" type="presOf" srcId="{625ECDC1-1D2F-4E61-94A3-13F6F58BCA4B}" destId="{95673FDD-9D3C-4881-9644-9FD87EADE3C5}" srcOrd="0" destOrd="0" presId="urn:microsoft.com/office/officeart/2005/8/layout/vList2"/>
    <dgm:cxn modelId="{78C0E22D-7CFE-4B43-94AF-661DED4F44AF}" type="presOf" srcId="{62D26E7D-06B7-42F1-816E-EE3E3CB8C1CB}" destId="{0FD1B86B-42E5-4899-BC10-6787485618BD}" srcOrd="0" destOrd="0" presId="urn:microsoft.com/office/officeart/2005/8/layout/vList2"/>
    <dgm:cxn modelId="{A6C9186B-239B-42A8-89AF-C42E5DBABC95}" srcId="{1DF2BE6F-47E1-46DB-AE58-E01EE0702915}" destId="{A6EE8724-D89D-4CD9-BF5F-321DB0333D40}" srcOrd="7" destOrd="0" parTransId="{80609A39-57E4-404D-A146-735F6A27FF9C}" sibTransId="{90949266-6CEF-4B38-9D74-3E27953A35EE}"/>
    <dgm:cxn modelId="{DEFA66AC-1B0F-46F3-BD7E-E8FDC5A663EC}" srcId="{1DF2BE6F-47E1-46DB-AE58-E01EE0702915}" destId="{88ABBAE0-35C0-4245-A03B-9311C293122B}" srcOrd="4" destOrd="0" parTransId="{2E5C8BBC-8680-4BFC-965C-C98E769CA6D1}" sibTransId="{E38D5B06-DECC-453C-909F-6A914990ABF0}"/>
    <dgm:cxn modelId="{E76B3C06-00DF-474C-AED5-70C85CFD3FFA}" type="presOf" srcId="{A6EE8724-D89D-4CD9-BF5F-321DB0333D40}" destId="{41370701-459F-4699-A00E-509CAD06DC6D}" srcOrd="0" destOrd="0" presId="urn:microsoft.com/office/officeart/2005/8/layout/vList2"/>
    <dgm:cxn modelId="{2496F89C-BA1F-4254-BDCC-1ED33EFA613C}" srcId="{1DF2BE6F-47E1-46DB-AE58-E01EE0702915}" destId="{51347CD5-3948-4A4F-9928-2E5704B2513D}" srcOrd="3" destOrd="0" parTransId="{3C454346-6F83-48D0-96C7-68869F148D2C}" sibTransId="{18FA61D9-0C6D-4141-BEC2-32D9A8506A1C}"/>
    <dgm:cxn modelId="{3E4AD09E-4CB4-43F3-9BC3-9F085DA4A315}" type="presOf" srcId="{2DB84EF9-35BD-402F-991A-664C80C829DB}" destId="{3A3A0AF9-BC95-4B19-81E3-A4E38E6C238A}" srcOrd="0" destOrd="0" presId="urn:microsoft.com/office/officeart/2005/8/layout/vList2"/>
    <dgm:cxn modelId="{88F14DA6-E390-456C-82A9-A87A544C555E}" type="presOf" srcId="{23809E63-C6BC-44FB-8B30-6437A242BA87}" destId="{FAAAFCAE-B1CF-44B8-9AA8-5635183BA75F}" srcOrd="0" destOrd="0" presId="urn:microsoft.com/office/officeart/2005/8/layout/vList2"/>
    <dgm:cxn modelId="{386347D5-3AA2-4467-8DD8-11BC27F3FDA2}" srcId="{62D26E7D-06B7-42F1-816E-EE3E3CB8C1CB}" destId="{DA786764-5680-4C00-9340-0B599CF7F761}" srcOrd="0" destOrd="0" parTransId="{4D2E39E4-8AFF-421F-A664-C78E71D6E92C}" sibTransId="{9F967494-9253-4FA3-8DB3-6ADF4AF1095E}"/>
    <dgm:cxn modelId="{41E65053-0E0E-488B-BB3F-B05B85A6EC5B}" type="presOf" srcId="{0007B47F-C296-45A3-A50F-FD77864A3913}" destId="{D7F42236-88EC-4123-97CD-22595FA1E35E}" srcOrd="0" destOrd="0" presId="urn:microsoft.com/office/officeart/2005/8/layout/vList2"/>
    <dgm:cxn modelId="{7F0CB53E-206D-4B5E-BFB3-72A94E03D020}" srcId="{51347CD5-3948-4A4F-9928-2E5704B2513D}" destId="{625ECDC1-1D2F-4E61-94A3-13F6F58BCA4B}" srcOrd="0" destOrd="0" parTransId="{4F2A4E44-F971-4147-AFCB-34E64424A64B}" sibTransId="{0D10C749-B030-441F-8BAC-4BB336FFEE7C}"/>
    <dgm:cxn modelId="{FB49B8AD-6076-4975-8E3D-E69D32103CD0}" srcId="{1DF2BE6F-47E1-46DB-AE58-E01EE0702915}" destId="{23809E63-C6BC-44FB-8B30-6437A242BA87}" srcOrd="6" destOrd="0" parTransId="{0E8BAD9E-AC35-42FE-B47A-5769ECF37FF3}" sibTransId="{46DB866B-7352-4C5A-82DF-345A10602ED4}"/>
    <dgm:cxn modelId="{E411B19C-CC32-4D98-B43F-7E18978F8249}" srcId="{1DF2BE6F-47E1-46DB-AE58-E01EE0702915}" destId="{2DB84EF9-35BD-402F-991A-664C80C829DB}" srcOrd="2" destOrd="0" parTransId="{01458F83-8901-4934-9E14-796E30F4FD21}" sibTransId="{85BCE42A-E49A-444D-9A92-92F1A0A4A89C}"/>
    <dgm:cxn modelId="{A95B2DF4-3746-43C3-8E78-4E456C62F55F}" srcId="{1DF2BE6F-47E1-46DB-AE58-E01EE0702915}" destId="{0007B47F-C296-45A3-A50F-FD77864A3913}" srcOrd="1" destOrd="0" parTransId="{6F023F03-7104-4B8F-BB90-C30D6C36BB1F}" sibTransId="{8695C3ED-2DA6-43C6-AF0D-703832FDF0DC}"/>
    <dgm:cxn modelId="{738CD451-016E-4959-8673-FF25FCB6BC98}" type="presOf" srcId="{51347CD5-3948-4A4F-9928-2E5704B2513D}" destId="{2957DFE0-49B2-42C8-84B8-5FD8489CD5A8}" srcOrd="0" destOrd="0" presId="urn:microsoft.com/office/officeart/2005/8/layout/vList2"/>
    <dgm:cxn modelId="{B083C1DF-9E8A-4570-9AA3-DCAB16FF8DA1}" type="presOf" srcId="{88ABBAE0-35C0-4245-A03B-9311C293122B}" destId="{86E70A78-9991-43D0-AE22-20695C3A576F}" srcOrd="0" destOrd="0" presId="urn:microsoft.com/office/officeart/2005/8/layout/vList2"/>
    <dgm:cxn modelId="{10BFBC9D-A559-43C0-9B75-AB6E2AFD3460}" type="presOf" srcId="{301230DD-44AC-42C6-A95A-EE26955C3251}" destId="{60001198-A6DB-4115-BDF2-3CEC7CBF83E4}" srcOrd="0" destOrd="0" presId="urn:microsoft.com/office/officeart/2005/8/layout/vList2"/>
    <dgm:cxn modelId="{33D12494-2922-4E90-862C-394691EAFE30}" srcId="{1DF2BE6F-47E1-46DB-AE58-E01EE0702915}" destId="{62D26E7D-06B7-42F1-816E-EE3E3CB8C1CB}" srcOrd="0" destOrd="0" parTransId="{F5DCAA1D-0326-450F-94D9-DBE51AE2E507}" sibTransId="{6C40CA6F-918F-4EE5-B248-63C184C487EC}"/>
    <dgm:cxn modelId="{9CFC9841-91A6-4AE7-ACCB-648B79D7D372}" srcId="{1DF2BE6F-47E1-46DB-AE58-E01EE0702915}" destId="{301230DD-44AC-42C6-A95A-EE26955C3251}" srcOrd="5" destOrd="0" parTransId="{E4915BE4-395D-483B-86CE-A3F9456851D8}" sibTransId="{2E94954B-4DCD-48F7-97DF-3367E6F37677}"/>
    <dgm:cxn modelId="{96733E56-3A64-4FCE-A8B8-D605A7A96FB6}" type="presOf" srcId="{DA786764-5680-4C00-9340-0B599CF7F761}" destId="{10F8EC4D-645B-4DB8-B2F0-9F0F9CF98328}" srcOrd="0" destOrd="0" presId="urn:microsoft.com/office/officeart/2005/8/layout/vList2"/>
    <dgm:cxn modelId="{7DF61EA0-74A3-4BC1-8D54-FC998374EBC3}" type="presParOf" srcId="{1FC1AD73-A22F-4A4D-913C-508B2B37B9E5}" destId="{0FD1B86B-42E5-4899-BC10-6787485618BD}" srcOrd="0" destOrd="0" presId="urn:microsoft.com/office/officeart/2005/8/layout/vList2"/>
    <dgm:cxn modelId="{C0FB1F10-EE1F-4AC6-B0BA-07035C61131D}" type="presParOf" srcId="{1FC1AD73-A22F-4A4D-913C-508B2B37B9E5}" destId="{10F8EC4D-645B-4DB8-B2F0-9F0F9CF98328}" srcOrd="1" destOrd="0" presId="urn:microsoft.com/office/officeart/2005/8/layout/vList2"/>
    <dgm:cxn modelId="{068B61E1-A019-4FC4-9C28-201DF3A4DB8B}" type="presParOf" srcId="{1FC1AD73-A22F-4A4D-913C-508B2B37B9E5}" destId="{D7F42236-88EC-4123-97CD-22595FA1E35E}" srcOrd="2" destOrd="0" presId="urn:microsoft.com/office/officeart/2005/8/layout/vList2"/>
    <dgm:cxn modelId="{036820D7-5E13-4B9A-913A-9C2747279206}" type="presParOf" srcId="{1FC1AD73-A22F-4A4D-913C-508B2B37B9E5}" destId="{A91719FD-E827-4B9B-9A15-5B9F6AA11FA9}" srcOrd="3" destOrd="0" presId="urn:microsoft.com/office/officeart/2005/8/layout/vList2"/>
    <dgm:cxn modelId="{E130D306-A90E-4D23-9C8E-CD537AB4E23B}" type="presParOf" srcId="{1FC1AD73-A22F-4A4D-913C-508B2B37B9E5}" destId="{3A3A0AF9-BC95-4B19-81E3-A4E38E6C238A}" srcOrd="4" destOrd="0" presId="urn:microsoft.com/office/officeart/2005/8/layout/vList2"/>
    <dgm:cxn modelId="{344181AD-C912-408F-9346-7269E62D4CAF}" type="presParOf" srcId="{1FC1AD73-A22F-4A4D-913C-508B2B37B9E5}" destId="{D5247D71-A396-47D6-B7A9-AF695D2C911D}" srcOrd="5" destOrd="0" presId="urn:microsoft.com/office/officeart/2005/8/layout/vList2"/>
    <dgm:cxn modelId="{5B9FF28D-D9D3-4E97-A231-E3133BFC046A}" type="presParOf" srcId="{1FC1AD73-A22F-4A4D-913C-508B2B37B9E5}" destId="{2957DFE0-49B2-42C8-84B8-5FD8489CD5A8}" srcOrd="6" destOrd="0" presId="urn:microsoft.com/office/officeart/2005/8/layout/vList2"/>
    <dgm:cxn modelId="{C44C5308-1679-43AB-B5D0-92603BABC17A}" type="presParOf" srcId="{1FC1AD73-A22F-4A4D-913C-508B2B37B9E5}" destId="{95673FDD-9D3C-4881-9644-9FD87EADE3C5}" srcOrd="7" destOrd="0" presId="urn:microsoft.com/office/officeart/2005/8/layout/vList2"/>
    <dgm:cxn modelId="{2572B8BA-4BFA-4BF3-BF01-DE98CC96E855}" type="presParOf" srcId="{1FC1AD73-A22F-4A4D-913C-508B2B37B9E5}" destId="{86E70A78-9991-43D0-AE22-20695C3A576F}" srcOrd="8" destOrd="0" presId="urn:microsoft.com/office/officeart/2005/8/layout/vList2"/>
    <dgm:cxn modelId="{A095EF4C-B020-4C77-8E1E-6860D9DCF3EE}" type="presParOf" srcId="{1FC1AD73-A22F-4A4D-913C-508B2B37B9E5}" destId="{61EF7262-4E3C-48DB-B83F-F13D8BBD283E}" srcOrd="9" destOrd="0" presId="urn:microsoft.com/office/officeart/2005/8/layout/vList2"/>
    <dgm:cxn modelId="{660AEACC-FDF8-4C57-B08F-B40ED673F6E1}" type="presParOf" srcId="{1FC1AD73-A22F-4A4D-913C-508B2B37B9E5}" destId="{60001198-A6DB-4115-BDF2-3CEC7CBF83E4}" srcOrd="10" destOrd="0" presId="urn:microsoft.com/office/officeart/2005/8/layout/vList2"/>
    <dgm:cxn modelId="{3B835E17-A3C7-436F-9855-8F1A2B92A455}" type="presParOf" srcId="{1FC1AD73-A22F-4A4D-913C-508B2B37B9E5}" destId="{D1F0D8E4-37F9-466C-A6B8-C0901AC4E5EA}" srcOrd="11" destOrd="0" presId="urn:microsoft.com/office/officeart/2005/8/layout/vList2"/>
    <dgm:cxn modelId="{218B83F7-C7BA-4BF8-8C57-3442840AECA1}" type="presParOf" srcId="{1FC1AD73-A22F-4A4D-913C-508B2B37B9E5}" destId="{FAAAFCAE-B1CF-44B8-9AA8-5635183BA75F}" srcOrd="12" destOrd="0" presId="urn:microsoft.com/office/officeart/2005/8/layout/vList2"/>
    <dgm:cxn modelId="{AD113F3E-E377-4B73-9B9A-7009B3BE6F28}" type="presParOf" srcId="{1FC1AD73-A22F-4A4D-913C-508B2B37B9E5}" destId="{0326869C-47F3-4CCA-9731-C244218CD420}" srcOrd="13" destOrd="0" presId="urn:microsoft.com/office/officeart/2005/8/layout/vList2"/>
    <dgm:cxn modelId="{66D5444A-560D-4AFD-A0E6-17B4DE18AB12}" type="presParOf" srcId="{1FC1AD73-A22F-4A4D-913C-508B2B37B9E5}" destId="{41370701-459F-4699-A00E-509CAD06DC6D}"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1B86B-42E5-4899-BC10-6787485618BD}">
      <dsp:nvSpPr>
        <dsp:cNvPr id="0" name=""/>
        <dsp:cNvSpPr/>
      </dsp:nvSpPr>
      <dsp:spPr>
        <a:xfrm>
          <a:off x="0" y="617268"/>
          <a:ext cx="7452360" cy="5569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endParaRPr lang="en-US" sz="1400" kern="1200" dirty="0"/>
        </a:p>
      </dsp:txBody>
      <dsp:txXfrm>
        <a:off x="27187" y="644455"/>
        <a:ext cx="7397986" cy="502546"/>
      </dsp:txXfrm>
    </dsp:sp>
    <dsp:sp modelId="{10F8EC4D-645B-4DB8-B2F0-9F0F9CF98328}">
      <dsp:nvSpPr>
        <dsp:cNvPr id="0" name=""/>
        <dsp:cNvSpPr/>
      </dsp:nvSpPr>
      <dsp:spPr>
        <a:xfrm>
          <a:off x="0" y="689632"/>
          <a:ext cx="7452360" cy="492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6612"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Store Dominance Hell's Kitchen is the top performer, generating 34% of total branch sales, driven by high foot traffic and demand for premium beverages</a:t>
          </a:r>
        </a:p>
      </dsp:txBody>
      <dsp:txXfrm>
        <a:off x="0" y="689632"/>
        <a:ext cx="7452360" cy="492660"/>
      </dsp:txXfrm>
    </dsp:sp>
    <dsp:sp modelId="{D7F42236-88EC-4123-97CD-22595FA1E35E}">
      <dsp:nvSpPr>
        <dsp:cNvPr id="0" name=""/>
        <dsp:cNvSpPr/>
      </dsp:nvSpPr>
      <dsp:spPr>
        <a:xfrm>
          <a:off x="0" y="1182293"/>
          <a:ext cx="7452360" cy="55692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a:t>Core Transactions Coffee and tea account for over 65% of transaction volume. Frequent single-item coffee orders lower the average transaction value.</a:t>
          </a:r>
        </a:p>
      </dsp:txBody>
      <dsp:txXfrm>
        <a:off x="27187" y="1209480"/>
        <a:ext cx="7397986" cy="502546"/>
      </dsp:txXfrm>
    </dsp:sp>
    <dsp:sp modelId="{3A3A0AF9-BC95-4B19-81E3-A4E38E6C238A}">
      <dsp:nvSpPr>
        <dsp:cNvPr id="0" name=""/>
        <dsp:cNvSpPr/>
      </dsp:nvSpPr>
      <dsp:spPr>
        <a:xfrm>
          <a:off x="0" y="1779533"/>
          <a:ext cx="7452360" cy="55692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a:t>Peak Operational Hours The 7:00-10:00 AM rush accounts for 55% of daily transactions and often causes line congestion and bottlenecks.</a:t>
          </a:r>
        </a:p>
      </dsp:txBody>
      <dsp:txXfrm>
        <a:off x="27187" y="1806720"/>
        <a:ext cx="7397986" cy="502546"/>
      </dsp:txXfrm>
    </dsp:sp>
    <dsp:sp modelId="{2957DFE0-49B2-42C8-84B8-5FD8489CD5A8}">
      <dsp:nvSpPr>
        <dsp:cNvPr id="0" name=""/>
        <dsp:cNvSpPr/>
      </dsp:nvSpPr>
      <dsp:spPr>
        <a:xfrm>
          <a:off x="0" y="2376772"/>
          <a:ext cx="7452360" cy="55692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a:t>Revenue Volatility Growth is steady with seasonal spikes, but revenue softens in slower mid-season months.</a:t>
          </a:r>
        </a:p>
      </dsp:txBody>
      <dsp:txXfrm>
        <a:off x="27187" y="2403959"/>
        <a:ext cx="7397986" cy="502546"/>
      </dsp:txXfrm>
    </dsp:sp>
    <dsp:sp modelId="{95673FDD-9D3C-4881-9644-9FD87EADE3C5}">
      <dsp:nvSpPr>
        <dsp:cNvPr id="0" name=""/>
        <dsp:cNvSpPr/>
      </dsp:nvSpPr>
      <dsp:spPr>
        <a:xfrm>
          <a:off x="0" y="2933692"/>
          <a:ext cx="7452360" cy="29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6612" tIns="22860" rIns="128016" bIns="22860" numCol="1" spcCol="1270" anchor="t" anchorCtr="0">
          <a:noAutofit/>
        </a:bodyPr>
        <a:lstStyle/>
        <a:p>
          <a:pPr marL="171450" lvl="1" indent="-171450" algn="l" defTabSz="800100">
            <a:lnSpc>
              <a:spcPct val="90000"/>
            </a:lnSpc>
            <a:spcBef>
              <a:spcPct val="0"/>
            </a:spcBef>
            <a:spcAft>
              <a:spcPct val="20000"/>
            </a:spcAft>
            <a:buFont typeface="Arial" panose="020B0604020202020204" pitchFamily="34" charset="0"/>
            <a:buChar char="••"/>
          </a:pPr>
          <a:r>
            <a:rPr lang="en-US" sz="1800" b="1" kern="1200" dirty="0">
              <a:solidFill>
                <a:schemeClr val="bg1"/>
              </a:solidFill>
            </a:rPr>
            <a:t>Solution</a:t>
          </a:r>
          <a:r>
            <a:rPr lang="en-US" sz="1200" b="1" kern="1200" dirty="0">
              <a:solidFill>
                <a:schemeClr val="bg1"/>
              </a:solidFill>
            </a:rPr>
            <a:t>s</a:t>
          </a:r>
          <a:endParaRPr lang="en-US" sz="1200" kern="1200" dirty="0">
            <a:solidFill>
              <a:schemeClr val="bg1"/>
            </a:solidFill>
          </a:endParaRPr>
        </a:p>
      </dsp:txBody>
      <dsp:txXfrm>
        <a:off x="0" y="2933692"/>
        <a:ext cx="7452360" cy="297045"/>
      </dsp:txXfrm>
    </dsp:sp>
    <dsp:sp modelId="{86E70A78-9991-43D0-AE22-20695C3A576F}">
      <dsp:nvSpPr>
        <dsp:cNvPr id="0" name=""/>
        <dsp:cNvSpPr/>
      </dsp:nvSpPr>
      <dsp:spPr>
        <a:xfrm>
          <a:off x="0" y="3230737"/>
          <a:ext cx="7452360" cy="55692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a:t>Operational Replication Lift underperforming Astoria shifts by copying the inventory and staffing models used at Hell's Kitchen.</a:t>
          </a:r>
        </a:p>
      </dsp:txBody>
      <dsp:txXfrm>
        <a:off x="27187" y="3257924"/>
        <a:ext cx="7397986" cy="502546"/>
      </dsp:txXfrm>
    </dsp:sp>
    <dsp:sp modelId="{60001198-A6DB-4115-BDF2-3CEC7CBF83E4}">
      <dsp:nvSpPr>
        <dsp:cNvPr id="0" name=""/>
        <dsp:cNvSpPr/>
      </dsp:nvSpPr>
      <dsp:spPr>
        <a:xfrm>
          <a:off x="0" y="3827978"/>
          <a:ext cx="7452360" cy="5569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a:t>Strategic Product Bundling Offer discount bundles that pair core coffee with high-margin bakery items to raise average transaction value.</a:t>
          </a:r>
        </a:p>
      </dsp:txBody>
      <dsp:txXfrm>
        <a:off x="27187" y="3855165"/>
        <a:ext cx="7397986" cy="502546"/>
      </dsp:txXfrm>
    </dsp:sp>
    <dsp:sp modelId="{FAAAFCAE-B1CF-44B8-9AA8-5635183BA75F}">
      <dsp:nvSpPr>
        <dsp:cNvPr id="0" name=""/>
        <dsp:cNvSpPr/>
      </dsp:nvSpPr>
      <dsp:spPr>
        <a:xfrm>
          <a:off x="0" y="4425218"/>
          <a:ext cx="7452360" cy="55692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a:t>Queue Optimization Reduce morning congestion with mobile ordering and pre-packed grab-and-go bakery displays.</a:t>
          </a:r>
        </a:p>
      </dsp:txBody>
      <dsp:txXfrm>
        <a:off x="27187" y="4452405"/>
        <a:ext cx="7397986" cy="502546"/>
      </dsp:txXfrm>
    </dsp:sp>
    <dsp:sp modelId="{41370701-459F-4699-A00E-509CAD06DC6D}">
      <dsp:nvSpPr>
        <dsp:cNvPr id="0" name=""/>
        <dsp:cNvSpPr/>
      </dsp:nvSpPr>
      <dsp:spPr>
        <a:xfrm>
          <a:off x="0" y="5022458"/>
          <a:ext cx="7452360" cy="55692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a:t>Targeted Marketing Campaigns Smooth mid-season dips with seasonal promos and loyalty punch-cards in slower</a:t>
          </a:r>
        </a:p>
      </dsp:txBody>
      <dsp:txXfrm>
        <a:off x="27187" y="5049645"/>
        <a:ext cx="7397986" cy="50254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CEEBBE-2A4B-455F-BEE5-FA04B72D2BEB}"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339D69-7E3B-4D89-8769-9B91DF16876A}" type="slidenum">
              <a:rPr lang="en-US" smtClean="0"/>
              <a:t>‹#›</a:t>
            </a:fld>
            <a:endParaRPr lang="en-US"/>
          </a:p>
        </p:txBody>
      </p:sp>
    </p:spTree>
    <p:extLst>
      <p:ext uri="{BB962C8B-B14F-4D97-AF65-F5344CB8AC3E}">
        <p14:creationId xmlns:p14="http://schemas.microsoft.com/office/powerpoint/2010/main" val="580519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339D69-7E3B-4D89-8769-9B91DF16876A}" type="slidenum">
              <a:rPr lang="en-US" smtClean="0"/>
              <a:t>10</a:t>
            </a:fld>
            <a:endParaRPr lang="en-US"/>
          </a:p>
        </p:txBody>
      </p:sp>
    </p:spTree>
    <p:extLst>
      <p:ext uri="{BB962C8B-B14F-4D97-AF65-F5344CB8AC3E}">
        <p14:creationId xmlns:p14="http://schemas.microsoft.com/office/powerpoint/2010/main" val="2720599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339D69-7E3B-4D89-8769-9B91DF16876A}" type="slidenum">
              <a:rPr lang="en-US" smtClean="0"/>
              <a:t>14</a:t>
            </a:fld>
            <a:endParaRPr lang="en-US"/>
          </a:p>
        </p:txBody>
      </p:sp>
    </p:spTree>
    <p:extLst>
      <p:ext uri="{BB962C8B-B14F-4D97-AF65-F5344CB8AC3E}">
        <p14:creationId xmlns:p14="http://schemas.microsoft.com/office/powerpoint/2010/main" val="3888230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chart" Target="../charts/chart1.xml"/><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chart" Target="../charts/chart7.xml"/></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7"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chart" Target="../charts/chart10.xml"/><Relationship Id="rId4" Type="http://schemas.openxmlformats.org/officeDocument/2006/relationships/chart" Target="../charts/char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Rectangle 1"/>
          <p:cNvSpPr/>
          <p:nvPr/>
        </p:nvSpPr>
        <p:spPr>
          <a:xfrm>
            <a:off x="-3496" y="0"/>
            <a:ext cx="6705600" cy="6858000"/>
          </a:xfrm>
          <a:prstGeom prst="rect">
            <a:avLst/>
          </a:prstGeom>
          <a:solidFill>
            <a:srgbClr val="4A3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800" dirty="0">
                <a:latin typeface="Algerian" panose="04020705040A02060702" pitchFamily="82" charset="0"/>
                <a:cs typeface="Aldhabi" panose="020F0502020204030204" pitchFamily="2" charset="-78"/>
              </a:rPr>
              <a:t>COFFEE SHOP SALES DASHBOARD</a:t>
            </a:r>
            <a:endParaRPr sz="4800" dirty="0">
              <a:latin typeface="Algerian" panose="04020705040A02060702" pitchFamily="82" charset="0"/>
              <a:cs typeface="Aldhabi" panose="020F0502020204030204" pitchFamily="2" charset="-78"/>
            </a:endParaRPr>
          </a:p>
        </p:txBody>
      </p:sp>
      <p:sp>
        <p:nvSpPr>
          <p:cNvPr id="3" name="Rectangle 2"/>
          <p:cNvSpPr/>
          <p:nvPr/>
        </p:nvSpPr>
        <p:spPr>
          <a:xfrm>
            <a:off x="609600" y="4183260"/>
            <a:ext cx="762000" cy="38100"/>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6705600" y="0"/>
            <a:ext cx="5486400" cy="6858000"/>
          </a:xfrm>
          <a:prstGeom prst="rect">
            <a:avLst/>
          </a:prstGeom>
        </p:spPr>
      </p:pic>
      <p:sp>
        <p:nvSpPr>
          <p:cNvPr id="5" name="TextBox 4"/>
          <p:cNvSpPr txBox="1"/>
          <p:nvPr/>
        </p:nvSpPr>
        <p:spPr>
          <a:xfrm>
            <a:off x="609600" y="1112639"/>
            <a:ext cx="6858000" cy="209550"/>
          </a:xfrm>
          <a:prstGeom prst="rect">
            <a:avLst/>
          </a:prstGeom>
          <a:noFill/>
        </p:spPr>
        <p:txBody>
          <a:bodyPr wrap="none" lIns="0" tIns="0" rIns="0" bIns="0" anchor="t">
            <a:spAutoFit/>
          </a:bodyPr>
          <a:lstStyle/>
          <a:p>
            <a:pPr algn="l"/>
            <a:r>
              <a:rPr sz="1200" b="1" i="0" u="none">
                <a:solidFill>
                  <a:srgbClr val="D4B595"/>
                </a:solidFill>
                <a:latin typeface="Nunito"/>
              </a:rPr>
              <a:t>DATA ANALYST PORTFOLIO PROJECT</a:t>
            </a:r>
          </a:p>
        </p:txBody>
      </p:sp>
      <p:sp>
        <p:nvSpPr>
          <p:cNvPr id="8" name="TextBox 7"/>
          <p:cNvSpPr txBox="1"/>
          <p:nvPr/>
        </p:nvSpPr>
        <p:spPr>
          <a:xfrm>
            <a:off x="609600" y="4678560"/>
            <a:ext cx="6858000" cy="257175"/>
          </a:xfrm>
          <a:prstGeom prst="rect">
            <a:avLst/>
          </a:prstGeom>
          <a:noFill/>
        </p:spPr>
        <p:txBody>
          <a:bodyPr wrap="none" lIns="0" tIns="0" rIns="0" bIns="0" anchor="t">
            <a:spAutoFit/>
          </a:bodyPr>
          <a:lstStyle/>
          <a:p>
            <a:pPr algn="l"/>
            <a:r>
              <a:rPr sz="1500" b="1" i="0" u="none">
                <a:solidFill>
                  <a:srgbClr val="FAF8F5"/>
                </a:solidFill>
                <a:latin typeface="Nunito"/>
              </a:rPr>
              <a:t>Transforming raw Excel data into actionable retail intelligence.</a:t>
            </a:r>
          </a:p>
        </p:txBody>
      </p:sp>
      <p:sp>
        <p:nvSpPr>
          <p:cNvPr id="9" name="TextBox 8"/>
          <p:cNvSpPr txBox="1"/>
          <p:nvPr/>
        </p:nvSpPr>
        <p:spPr>
          <a:xfrm>
            <a:off x="609600" y="5316735"/>
            <a:ext cx="1162178" cy="161583"/>
          </a:xfrm>
          <a:prstGeom prst="rect">
            <a:avLst/>
          </a:prstGeom>
          <a:noFill/>
        </p:spPr>
        <p:txBody>
          <a:bodyPr wrap="square" lIns="0" tIns="0" rIns="0" bIns="0" anchor="t">
            <a:spAutoFit/>
          </a:bodyPr>
          <a:lstStyle/>
          <a:p>
            <a:pPr algn="l"/>
            <a:r>
              <a:rPr lang="en-US" sz="1050" dirty="0">
                <a:solidFill>
                  <a:srgbClr val="D4B595"/>
                </a:solidFill>
                <a:latin typeface="Nunito"/>
              </a:rPr>
              <a:t>Prepared By</a:t>
            </a:r>
            <a:endParaRPr sz="1050" b="0" i="0" u="none" dirty="0">
              <a:solidFill>
                <a:srgbClr val="D4B595"/>
              </a:solidFill>
              <a:latin typeface="Nunito"/>
            </a:endParaRPr>
          </a:p>
        </p:txBody>
      </p:sp>
      <p:sp>
        <p:nvSpPr>
          <p:cNvPr id="10" name="TextBox 9"/>
          <p:cNvSpPr txBox="1"/>
          <p:nvPr/>
        </p:nvSpPr>
        <p:spPr>
          <a:xfrm>
            <a:off x="609600" y="5535810"/>
            <a:ext cx="1612621" cy="184666"/>
          </a:xfrm>
          <a:prstGeom prst="rect">
            <a:avLst/>
          </a:prstGeom>
          <a:noFill/>
        </p:spPr>
        <p:txBody>
          <a:bodyPr wrap="none" lIns="0" tIns="0" rIns="0" bIns="0" anchor="t">
            <a:spAutoFit/>
          </a:bodyPr>
          <a:lstStyle/>
          <a:p>
            <a:pPr algn="l"/>
            <a:r>
              <a:rPr lang="en-US" sz="1200" b="1" i="0" u="none" dirty="0" err="1">
                <a:solidFill>
                  <a:srgbClr val="FAF8F5"/>
                </a:solidFill>
                <a:latin typeface="Nunito"/>
              </a:rPr>
              <a:t>Munshidha</a:t>
            </a:r>
            <a:r>
              <a:rPr lang="en-US" sz="1200" b="1" i="0" u="none" dirty="0">
                <a:solidFill>
                  <a:srgbClr val="FAF8F5"/>
                </a:solidFill>
                <a:latin typeface="Nunito"/>
              </a:rPr>
              <a:t> </a:t>
            </a:r>
            <a:r>
              <a:rPr lang="en-US" sz="1200" b="1" i="0" u="none" dirty="0" err="1">
                <a:solidFill>
                  <a:srgbClr val="FAF8F5"/>
                </a:solidFill>
                <a:latin typeface="Nunito"/>
              </a:rPr>
              <a:t>Nashrin</a:t>
            </a:r>
            <a:r>
              <a:rPr lang="en-US" sz="1200" b="1" i="0" u="none" dirty="0">
                <a:solidFill>
                  <a:srgbClr val="FAF8F5"/>
                </a:solidFill>
                <a:latin typeface="Nunito"/>
              </a:rPr>
              <a:t> </a:t>
            </a:r>
            <a:r>
              <a:rPr lang="en-US" sz="1200" b="1" i="0" u="none" dirty="0" err="1">
                <a:solidFill>
                  <a:srgbClr val="FAF8F5"/>
                </a:solidFill>
                <a:latin typeface="Nunito"/>
              </a:rPr>
              <a:t>Vk</a:t>
            </a:r>
            <a:endParaRPr sz="1200" b="1" i="0" u="none" dirty="0">
              <a:solidFill>
                <a:srgbClr val="FAF8F5"/>
              </a:solidFill>
              <a:latin typeface="Nunito"/>
            </a:endParaRPr>
          </a:p>
        </p:txBody>
      </p:sp>
      <p:sp>
        <p:nvSpPr>
          <p:cNvPr id="11" name="TextBox 10"/>
          <p:cNvSpPr txBox="1"/>
          <p:nvPr/>
        </p:nvSpPr>
        <p:spPr>
          <a:xfrm>
            <a:off x="2886075" y="5316735"/>
            <a:ext cx="2464593" cy="180975"/>
          </a:xfrm>
          <a:prstGeom prst="rect">
            <a:avLst/>
          </a:prstGeom>
          <a:noFill/>
        </p:spPr>
        <p:txBody>
          <a:bodyPr wrap="none" lIns="0" tIns="0" rIns="0" bIns="0" anchor="t">
            <a:spAutoFit/>
          </a:bodyPr>
          <a:lstStyle/>
          <a:p>
            <a:pPr algn="l"/>
            <a:r>
              <a:rPr sz="1050" b="0" i="0" u="none">
                <a:solidFill>
                  <a:srgbClr val="D4B595"/>
                </a:solidFill>
                <a:latin typeface="Nunito"/>
              </a:rPr>
              <a:t>PLATFORM</a:t>
            </a:r>
          </a:p>
        </p:txBody>
      </p:sp>
      <p:sp>
        <p:nvSpPr>
          <p:cNvPr id="12" name="TextBox 11"/>
          <p:cNvSpPr txBox="1"/>
          <p:nvPr/>
        </p:nvSpPr>
        <p:spPr>
          <a:xfrm>
            <a:off x="2886075" y="5535810"/>
            <a:ext cx="2464593" cy="209550"/>
          </a:xfrm>
          <a:prstGeom prst="rect">
            <a:avLst/>
          </a:prstGeom>
          <a:noFill/>
        </p:spPr>
        <p:txBody>
          <a:bodyPr wrap="none" lIns="0" tIns="0" rIns="0" bIns="0" anchor="t">
            <a:spAutoFit/>
          </a:bodyPr>
          <a:lstStyle/>
          <a:p>
            <a:pPr algn="l"/>
            <a:r>
              <a:rPr sz="1200" b="1" i="0" u="none">
                <a:solidFill>
                  <a:srgbClr val="FAF8F5"/>
                </a:solidFill>
                <a:latin typeface="Nunito"/>
              </a:rPr>
              <a:t>Advanced Excel Dashboards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Rounded Rectangle 1"/>
          <p:cNvSpPr/>
          <p:nvPr/>
        </p:nvSpPr>
        <p:spPr>
          <a:xfrm>
            <a:off x="990600" y="2762250"/>
            <a:ext cx="3200400" cy="914400"/>
          </a:xfrm>
          <a:prstGeom prst="roundRect">
            <a:avLst>
              <a:gd name="adj" fmla="val 12500"/>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800" y="2762250"/>
            <a:ext cx="3200400" cy="914400"/>
          </a:xfrm>
          <a:prstGeom prst="roundRect">
            <a:avLst>
              <a:gd name="adj" fmla="val 12500"/>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01000" y="2762250"/>
            <a:ext cx="3200400" cy="914400"/>
          </a:xfrm>
          <a:prstGeom prst="roundRect">
            <a:avLst>
              <a:gd name="adj" fmla="val 12500"/>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90600" y="4781550"/>
            <a:ext cx="3200400" cy="914400"/>
          </a:xfrm>
          <a:prstGeom prst="roundRect">
            <a:avLst>
              <a:gd name="adj" fmla="val 12500"/>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495800" y="4781550"/>
            <a:ext cx="3200400" cy="914400"/>
          </a:xfrm>
          <a:prstGeom prst="roundRect">
            <a:avLst>
              <a:gd name="adj" fmla="val 12500"/>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001000" y="4781550"/>
            <a:ext cx="3200400" cy="914400"/>
          </a:xfrm>
          <a:prstGeom prst="roundRect">
            <a:avLst>
              <a:gd name="adj" fmla="val 12500"/>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90600" y="2762250"/>
            <a:ext cx="57150" cy="914400"/>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95800" y="2762250"/>
            <a:ext cx="57150" cy="914400"/>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01000" y="2762250"/>
            <a:ext cx="57150" cy="914400"/>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90600" y="4781550"/>
            <a:ext cx="57150" cy="914400"/>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95800" y="4781550"/>
            <a:ext cx="57150" cy="914400"/>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01000" y="4781550"/>
            <a:ext cx="57150" cy="914400"/>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2000" y="762000"/>
            <a:ext cx="11430000" cy="581025"/>
          </a:xfrm>
          <a:prstGeom prst="rect">
            <a:avLst/>
          </a:prstGeom>
          <a:noFill/>
        </p:spPr>
        <p:txBody>
          <a:bodyPr wrap="none" lIns="0" tIns="0" rIns="0" bIns="0" anchor="t">
            <a:spAutoFit/>
          </a:bodyPr>
          <a:lstStyle/>
          <a:p>
            <a:pPr algn="l"/>
            <a:r>
              <a:rPr sz="3600" b="1" i="0" u="none">
                <a:solidFill>
                  <a:srgbClr val="4A3B32"/>
                </a:solidFill>
                <a:latin typeface="Lora"/>
              </a:rPr>
              <a:t>Agenda</a:t>
            </a:r>
          </a:p>
        </p:txBody>
      </p:sp>
      <p:sp>
        <p:nvSpPr>
          <p:cNvPr id="15" name="TextBox 14"/>
          <p:cNvSpPr txBox="1"/>
          <p:nvPr/>
        </p:nvSpPr>
        <p:spPr>
          <a:xfrm>
            <a:off x="762000" y="1495425"/>
            <a:ext cx="11430000" cy="257175"/>
          </a:xfrm>
          <a:prstGeom prst="rect">
            <a:avLst/>
          </a:prstGeom>
          <a:noFill/>
        </p:spPr>
        <p:txBody>
          <a:bodyPr wrap="none" lIns="0" tIns="0" rIns="0" bIns="0" anchor="t">
            <a:spAutoFit/>
          </a:bodyPr>
          <a:lstStyle/>
          <a:p>
            <a:pPr algn="l"/>
            <a:r>
              <a:rPr sz="1500" b="0" i="0" u="none">
                <a:solidFill>
                  <a:srgbClr val="6B5A4E"/>
                </a:solidFill>
                <a:latin typeface="Nunito"/>
              </a:rPr>
              <a:t>From raw transaction logs to interactive insights.</a:t>
            </a:r>
          </a:p>
        </p:txBody>
      </p:sp>
      <p:sp>
        <p:nvSpPr>
          <p:cNvPr id="16" name="TextBox 15"/>
          <p:cNvSpPr txBox="1"/>
          <p:nvPr/>
        </p:nvSpPr>
        <p:spPr>
          <a:xfrm>
            <a:off x="1352550" y="3067050"/>
            <a:ext cx="3325415" cy="304800"/>
          </a:xfrm>
          <a:prstGeom prst="rect">
            <a:avLst/>
          </a:prstGeom>
          <a:noFill/>
        </p:spPr>
        <p:txBody>
          <a:bodyPr wrap="none" lIns="0" tIns="0" rIns="0" bIns="0" anchor="t">
            <a:spAutoFit/>
          </a:bodyPr>
          <a:lstStyle/>
          <a:p>
            <a:pPr algn="l"/>
            <a:r>
              <a:rPr sz="1800" b="1" i="0" u="none">
                <a:solidFill>
                  <a:srgbClr val="4A3B32"/>
                </a:solidFill>
                <a:latin typeface="Nunito"/>
              </a:rPr>
              <a:t>1. Objectives</a:t>
            </a:r>
          </a:p>
        </p:txBody>
      </p:sp>
      <p:sp>
        <p:nvSpPr>
          <p:cNvPr id="17" name="TextBox 16"/>
          <p:cNvSpPr txBox="1"/>
          <p:nvPr/>
        </p:nvSpPr>
        <p:spPr>
          <a:xfrm>
            <a:off x="4857750" y="3067050"/>
            <a:ext cx="3325415" cy="304800"/>
          </a:xfrm>
          <a:prstGeom prst="rect">
            <a:avLst/>
          </a:prstGeom>
          <a:noFill/>
        </p:spPr>
        <p:txBody>
          <a:bodyPr wrap="none" lIns="0" tIns="0" rIns="0" bIns="0" anchor="t">
            <a:spAutoFit/>
          </a:bodyPr>
          <a:lstStyle/>
          <a:p>
            <a:pPr algn="l"/>
            <a:r>
              <a:rPr sz="1800" b="1" i="0" u="none">
                <a:solidFill>
                  <a:srgbClr val="4A3B32"/>
                </a:solidFill>
                <a:latin typeface="Nunito"/>
              </a:rPr>
              <a:t>2. Dataset Overview</a:t>
            </a:r>
          </a:p>
        </p:txBody>
      </p:sp>
      <p:sp>
        <p:nvSpPr>
          <p:cNvPr id="18" name="TextBox 17"/>
          <p:cNvSpPr txBox="1"/>
          <p:nvPr/>
        </p:nvSpPr>
        <p:spPr>
          <a:xfrm>
            <a:off x="8362950" y="3067050"/>
            <a:ext cx="3325415" cy="304800"/>
          </a:xfrm>
          <a:prstGeom prst="rect">
            <a:avLst/>
          </a:prstGeom>
          <a:noFill/>
        </p:spPr>
        <p:txBody>
          <a:bodyPr wrap="none" lIns="0" tIns="0" rIns="0" bIns="0" anchor="t">
            <a:spAutoFit/>
          </a:bodyPr>
          <a:lstStyle/>
          <a:p>
            <a:pPr algn="l"/>
            <a:r>
              <a:rPr sz="1800" b="1" i="0" u="none">
                <a:solidFill>
                  <a:srgbClr val="4A3B32"/>
                </a:solidFill>
                <a:latin typeface="Nunito"/>
              </a:rPr>
              <a:t>3. Data Cleaning</a:t>
            </a:r>
          </a:p>
        </p:txBody>
      </p:sp>
      <p:sp>
        <p:nvSpPr>
          <p:cNvPr id="19" name="TextBox 18"/>
          <p:cNvSpPr txBox="1"/>
          <p:nvPr/>
        </p:nvSpPr>
        <p:spPr>
          <a:xfrm>
            <a:off x="1352550" y="5086350"/>
            <a:ext cx="3325415" cy="304800"/>
          </a:xfrm>
          <a:prstGeom prst="rect">
            <a:avLst/>
          </a:prstGeom>
          <a:noFill/>
        </p:spPr>
        <p:txBody>
          <a:bodyPr wrap="none" lIns="0" tIns="0" rIns="0" bIns="0" anchor="t">
            <a:spAutoFit/>
          </a:bodyPr>
          <a:lstStyle/>
          <a:p>
            <a:pPr algn="l"/>
            <a:r>
              <a:rPr sz="1800" b="1" i="0" u="none">
                <a:solidFill>
                  <a:srgbClr val="4A3B32"/>
                </a:solidFill>
                <a:latin typeface="Nunito"/>
              </a:rPr>
              <a:t>4. Calculated Columns</a:t>
            </a:r>
          </a:p>
        </p:txBody>
      </p:sp>
      <p:sp>
        <p:nvSpPr>
          <p:cNvPr id="20" name="TextBox 19"/>
          <p:cNvSpPr txBox="1"/>
          <p:nvPr/>
        </p:nvSpPr>
        <p:spPr>
          <a:xfrm>
            <a:off x="4857750" y="5086350"/>
            <a:ext cx="3325415" cy="304800"/>
          </a:xfrm>
          <a:prstGeom prst="rect">
            <a:avLst/>
          </a:prstGeom>
          <a:noFill/>
        </p:spPr>
        <p:txBody>
          <a:bodyPr wrap="none" lIns="0" tIns="0" rIns="0" bIns="0" anchor="t">
            <a:spAutoFit/>
          </a:bodyPr>
          <a:lstStyle/>
          <a:p>
            <a:pPr algn="l"/>
            <a:r>
              <a:rPr sz="1800" b="1" i="0" u="none">
                <a:solidFill>
                  <a:srgbClr val="4A3B32"/>
                </a:solidFill>
                <a:latin typeface="Nunito"/>
              </a:rPr>
              <a:t>5. Dashboard Layout</a:t>
            </a:r>
          </a:p>
        </p:txBody>
      </p:sp>
      <p:sp>
        <p:nvSpPr>
          <p:cNvPr id="21" name="TextBox 20"/>
          <p:cNvSpPr txBox="1"/>
          <p:nvPr/>
        </p:nvSpPr>
        <p:spPr>
          <a:xfrm>
            <a:off x="8362950" y="5086350"/>
            <a:ext cx="3325415" cy="304800"/>
          </a:xfrm>
          <a:prstGeom prst="rect">
            <a:avLst/>
          </a:prstGeom>
          <a:noFill/>
        </p:spPr>
        <p:txBody>
          <a:bodyPr wrap="none" lIns="0" tIns="0" rIns="0" bIns="0" anchor="t">
            <a:spAutoFit/>
          </a:bodyPr>
          <a:lstStyle/>
          <a:p>
            <a:pPr algn="l"/>
            <a:r>
              <a:rPr sz="1800" b="1" i="0" u="none">
                <a:solidFill>
                  <a:srgbClr val="4A3B32"/>
                </a:solidFill>
                <a:latin typeface="Nunito"/>
              </a:rPr>
              <a:t>6. Insights &amp; Strategy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Rounded Rectangle 1"/>
          <p:cNvSpPr/>
          <p:nvPr/>
        </p:nvSpPr>
        <p:spPr>
          <a:xfrm>
            <a:off x="762000" y="2619375"/>
            <a:ext cx="3302049" cy="2809875"/>
          </a:xfrm>
          <a:prstGeom prst="roundRect">
            <a:avLst>
              <a:gd name="adj" fmla="val 54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45049" y="2619375"/>
            <a:ext cx="3302049" cy="2809875"/>
          </a:xfrm>
          <a:prstGeom prst="roundRect">
            <a:avLst>
              <a:gd name="adj" fmla="val 54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128099" y="2619375"/>
            <a:ext cx="3302049" cy="2809875"/>
          </a:xfrm>
          <a:prstGeom prst="roundRect">
            <a:avLst>
              <a:gd name="adj" fmla="val 54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2031950" y="3076575"/>
            <a:ext cx="762000" cy="762000"/>
          </a:xfrm>
          <a:prstGeom prst="rect">
            <a:avLst/>
          </a:prstGeom>
        </p:spPr>
      </p:pic>
      <p:pic>
        <p:nvPicPr>
          <p:cNvPr id="6" name="Picture 5" descr="image.png"/>
          <p:cNvPicPr>
            <a:picLocks noChangeAspect="1"/>
          </p:cNvPicPr>
          <p:nvPr/>
        </p:nvPicPr>
        <p:blipFill>
          <a:blip r:embed="rId3"/>
          <a:stretch>
            <a:fillRect/>
          </a:stretch>
        </p:blipFill>
        <p:spPr>
          <a:xfrm>
            <a:off x="5715000" y="3076575"/>
            <a:ext cx="762000" cy="762000"/>
          </a:xfrm>
          <a:prstGeom prst="rect">
            <a:avLst/>
          </a:prstGeom>
        </p:spPr>
      </p:pic>
      <p:pic>
        <p:nvPicPr>
          <p:cNvPr id="7" name="Picture 6" descr="image.png"/>
          <p:cNvPicPr>
            <a:picLocks noChangeAspect="1"/>
          </p:cNvPicPr>
          <p:nvPr/>
        </p:nvPicPr>
        <p:blipFill>
          <a:blip r:embed="rId4"/>
          <a:stretch>
            <a:fillRect/>
          </a:stretch>
        </p:blipFill>
        <p:spPr>
          <a:xfrm>
            <a:off x="9398049" y="3076575"/>
            <a:ext cx="762000" cy="762000"/>
          </a:xfrm>
          <a:prstGeom prst="rect">
            <a:avLst/>
          </a:prstGeom>
        </p:spPr>
      </p:pic>
      <p:pic>
        <p:nvPicPr>
          <p:cNvPr id="8" name="Picture 7" descr="image.png"/>
          <p:cNvPicPr>
            <a:picLocks noChangeAspect="1"/>
          </p:cNvPicPr>
          <p:nvPr/>
        </p:nvPicPr>
        <p:blipFill>
          <a:blip r:embed="rId5"/>
          <a:stretch>
            <a:fillRect/>
          </a:stretch>
        </p:blipFill>
        <p:spPr>
          <a:xfrm>
            <a:off x="2241500" y="3305175"/>
            <a:ext cx="342900" cy="304800"/>
          </a:xfrm>
          <a:prstGeom prst="rect">
            <a:avLst/>
          </a:prstGeom>
        </p:spPr>
      </p:pic>
      <p:pic>
        <p:nvPicPr>
          <p:cNvPr id="9" name="Picture 8" descr="image.png"/>
          <p:cNvPicPr>
            <a:picLocks noChangeAspect="1"/>
          </p:cNvPicPr>
          <p:nvPr/>
        </p:nvPicPr>
        <p:blipFill>
          <a:blip r:embed="rId6"/>
          <a:stretch>
            <a:fillRect/>
          </a:stretch>
        </p:blipFill>
        <p:spPr>
          <a:xfrm>
            <a:off x="5943600" y="3305175"/>
            <a:ext cx="304800" cy="304800"/>
          </a:xfrm>
          <a:prstGeom prst="rect">
            <a:avLst/>
          </a:prstGeom>
        </p:spPr>
      </p:pic>
      <p:pic>
        <p:nvPicPr>
          <p:cNvPr id="10" name="Picture 9" descr="image.png"/>
          <p:cNvPicPr>
            <a:picLocks noChangeAspect="1"/>
          </p:cNvPicPr>
          <p:nvPr/>
        </p:nvPicPr>
        <p:blipFill>
          <a:blip r:embed="rId7"/>
          <a:stretch>
            <a:fillRect/>
          </a:stretch>
        </p:blipFill>
        <p:spPr>
          <a:xfrm>
            <a:off x="9626649" y="3305175"/>
            <a:ext cx="304800" cy="304800"/>
          </a:xfrm>
          <a:prstGeom prst="rect">
            <a:avLst/>
          </a:prstGeom>
        </p:spPr>
      </p:pic>
      <p:sp>
        <p:nvSpPr>
          <p:cNvPr id="11" name="TextBox 10"/>
          <p:cNvSpPr txBox="1"/>
          <p:nvPr/>
        </p:nvSpPr>
        <p:spPr>
          <a:xfrm>
            <a:off x="762000" y="762000"/>
            <a:ext cx="5250656" cy="581025"/>
          </a:xfrm>
          <a:prstGeom prst="rect">
            <a:avLst/>
          </a:prstGeom>
          <a:noFill/>
        </p:spPr>
        <p:txBody>
          <a:bodyPr wrap="none" lIns="0" tIns="0" rIns="0" bIns="0" anchor="t">
            <a:spAutoFit/>
          </a:bodyPr>
          <a:lstStyle/>
          <a:p>
            <a:pPr algn="l"/>
            <a:r>
              <a:rPr sz="3600" b="1" i="0" u="none">
                <a:solidFill>
                  <a:srgbClr val="4A3B32"/>
                </a:solidFill>
                <a:latin typeface="Lora"/>
              </a:rPr>
              <a:t>Project Objectives</a:t>
            </a:r>
          </a:p>
        </p:txBody>
      </p:sp>
      <p:sp>
        <p:nvSpPr>
          <p:cNvPr id="12" name="TextBox 11"/>
          <p:cNvSpPr txBox="1"/>
          <p:nvPr/>
        </p:nvSpPr>
        <p:spPr>
          <a:xfrm>
            <a:off x="9058275" y="1114425"/>
            <a:ext cx="2964656" cy="228600"/>
          </a:xfrm>
          <a:prstGeom prst="rect">
            <a:avLst/>
          </a:prstGeom>
          <a:noFill/>
        </p:spPr>
        <p:txBody>
          <a:bodyPr wrap="none" lIns="0" tIns="0" rIns="0" bIns="0" anchor="t">
            <a:spAutoFit/>
          </a:bodyPr>
          <a:lstStyle/>
          <a:p>
            <a:pPr algn="l"/>
            <a:r>
              <a:rPr sz="1350" b="1" i="0" u="none">
                <a:solidFill>
                  <a:srgbClr val="8C5E3C"/>
                </a:solidFill>
                <a:latin typeface="Nunito"/>
              </a:rPr>
              <a:t>CORE BUSINESS QUESTIONS</a:t>
            </a:r>
          </a:p>
        </p:txBody>
      </p:sp>
      <p:sp>
        <p:nvSpPr>
          <p:cNvPr id="13" name="TextBox 12"/>
          <p:cNvSpPr txBox="1"/>
          <p:nvPr/>
        </p:nvSpPr>
        <p:spPr>
          <a:xfrm>
            <a:off x="646104" y="4067175"/>
            <a:ext cx="3533840" cy="295275"/>
          </a:xfrm>
          <a:prstGeom prst="rect">
            <a:avLst/>
          </a:prstGeom>
          <a:noFill/>
        </p:spPr>
        <p:txBody>
          <a:bodyPr wrap="none" lIns="0" tIns="0" rIns="0" bIns="0" anchor="t">
            <a:spAutoFit/>
          </a:bodyPr>
          <a:lstStyle/>
          <a:p>
            <a:pPr algn="ctr"/>
            <a:r>
              <a:rPr sz="1800" b="1" i="0" u="none">
                <a:solidFill>
                  <a:srgbClr val="4A3B32"/>
                </a:solidFill>
                <a:latin typeface="Lora"/>
              </a:rPr>
              <a:t>Store Performance</a:t>
            </a:r>
          </a:p>
        </p:txBody>
      </p:sp>
      <p:sp>
        <p:nvSpPr>
          <p:cNvPr id="14" name="TextBox 13"/>
          <p:cNvSpPr txBox="1"/>
          <p:nvPr/>
        </p:nvSpPr>
        <p:spPr>
          <a:xfrm>
            <a:off x="730243" y="4514850"/>
            <a:ext cx="3365562" cy="457200"/>
          </a:xfrm>
          <a:prstGeom prst="rect">
            <a:avLst/>
          </a:prstGeom>
          <a:noFill/>
        </p:spPr>
        <p:txBody>
          <a:bodyPr wrap="square" lIns="0" tIns="0" rIns="0" bIns="0" anchor="t">
            <a:spAutoFit/>
          </a:bodyPr>
          <a:lstStyle/>
          <a:p>
            <a:pPr algn="ctr"/>
            <a:r>
              <a:rPr sz="1350" b="0" i="0" u="none">
                <a:solidFill>
                  <a:srgbClr val="6B5A4E"/>
                </a:solidFill>
                <a:latin typeface="Nunito"/>
              </a:rPr>
              <a:t>Identify top revenue-generating branch locations.</a:t>
            </a:r>
          </a:p>
        </p:txBody>
      </p:sp>
      <p:sp>
        <p:nvSpPr>
          <p:cNvPr id="15" name="TextBox 14"/>
          <p:cNvSpPr txBox="1"/>
          <p:nvPr/>
        </p:nvSpPr>
        <p:spPr>
          <a:xfrm>
            <a:off x="4329154" y="4067175"/>
            <a:ext cx="3533840" cy="295275"/>
          </a:xfrm>
          <a:prstGeom prst="rect">
            <a:avLst/>
          </a:prstGeom>
          <a:noFill/>
        </p:spPr>
        <p:txBody>
          <a:bodyPr wrap="none" lIns="0" tIns="0" rIns="0" bIns="0" anchor="t">
            <a:spAutoFit/>
          </a:bodyPr>
          <a:lstStyle/>
          <a:p>
            <a:pPr algn="ctr"/>
            <a:r>
              <a:rPr sz="1800" b="1" i="0" u="none">
                <a:solidFill>
                  <a:srgbClr val="4A3B32"/>
                </a:solidFill>
                <a:latin typeface="Lora"/>
              </a:rPr>
              <a:t>Peak Operations</a:t>
            </a:r>
          </a:p>
        </p:txBody>
      </p:sp>
      <p:sp>
        <p:nvSpPr>
          <p:cNvPr id="16" name="TextBox 15"/>
          <p:cNvSpPr txBox="1"/>
          <p:nvPr/>
        </p:nvSpPr>
        <p:spPr>
          <a:xfrm>
            <a:off x="4413293" y="4514850"/>
            <a:ext cx="3365562" cy="457200"/>
          </a:xfrm>
          <a:prstGeom prst="rect">
            <a:avLst/>
          </a:prstGeom>
          <a:noFill/>
        </p:spPr>
        <p:txBody>
          <a:bodyPr wrap="square" lIns="0" tIns="0" rIns="0" bIns="0" anchor="t">
            <a:spAutoFit/>
          </a:bodyPr>
          <a:lstStyle/>
          <a:p>
            <a:pPr algn="ctr"/>
            <a:r>
              <a:rPr sz="1350" b="0" i="0" u="none">
                <a:solidFill>
                  <a:srgbClr val="6B5A4E"/>
                </a:solidFill>
                <a:latin typeface="Nunito"/>
              </a:rPr>
              <a:t>Pinpoint high-demand hours to optimize barista staffing.</a:t>
            </a:r>
          </a:p>
        </p:txBody>
      </p:sp>
      <p:sp>
        <p:nvSpPr>
          <p:cNvPr id="17" name="TextBox 16"/>
          <p:cNvSpPr txBox="1"/>
          <p:nvPr/>
        </p:nvSpPr>
        <p:spPr>
          <a:xfrm>
            <a:off x="8012203" y="4067175"/>
            <a:ext cx="3533840" cy="295275"/>
          </a:xfrm>
          <a:prstGeom prst="rect">
            <a:avLst/>
          </a:prstGeom>
          <a:noFill/>
        </p:spPr>
        <p:txBody>
          <a:bodyPr wrap="none" lIns="0" tIns="0" rIns="0" bIns="0" anchor="t">
            <a:spAutoFit/>
          </a:bodyPr>
          <a:lstStyle/>
          <a:p>
            <a:pPr algn="ctr"/>
            <a:r>
              <a:rPr sz="1800" b="1" i="0" u="none">
                <a:solidFill>
                  <a:srgbClr val="4A3B32"/>
                </a:solidFill>
                <a:latin typeface="Lora"/>
              </a:rPr>
              <a:t>Product Mix</a:t>
            </a:r>
          </a:p>
        </p:txBody>
      </p:sp>
      <p:sp>
        <p:nvSpPr>
          <p:cNvPr id="18" name="TextBox 17"/>
          <p:cNvSpPr txBox="1"/>
          <p:nvPr/>
        </p:nvSpPr>
        <p:spPr>
          <a:xfrm>
            <a:off x="8096343" y="4514850"/>
            <a:ext cx="3365562" cy="457200"/>
          </a:xfrm>
          <a:prstGeom prst="rect">
            <a:avLst/>
          </a:prstGeom>
          <a:noFill/>
        </p:spPr>
        <p:txBody>
          <a:bodyPr wrap="square" lIns="0" tIns="0" rIns="0" bIns="0" anchor="t">
            <a:spAutoFit/>
          </a:bodyPr>
          <a:lstStyle/>
          <a:p>
            <a:pPr algn="ctr"/>
            <a:r>
              <a:rPr sz="1350" b="0" i="0" u="none">
                <a:solidFill>
                  <a:srgbClr val="6B5A4E"/>
                </a:solidFill>
                <a:latin typeface="Nunito"/>
              </a:rPr>
              <a:t>Evaluate profitability and cross-sell opportunities.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Rounded Rectangle 1"/>
          <p:cNvSpPr/>
          <p:nvPr/>
        </p:nvSpPr>
        <p:spPr>
          <a:xfrm>
            <a:off x="8026449" y="1800225"/>
            <a:ext cx="3403550" cy="1257300"/>
          </a:xfrm>
          <a:prstGeom prst="roundRect">
            <a:avLst>
              <a:gd name="adj" fmla="val 9090"/>
            </a:avLst>
          </a:prstGeom>
          <a:solidFill>
            <a:srgbClr val="4A3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026449" y="3286125"/>
            <a:ext cx="3403550" cy="1257300"/>
          </a:xfrm>
          <a:prstGeom prst="roundRect">
            <a:avLst>
              <a:gd name="adj" fmla="val 9090"/>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26449" y="4772025"/>
            <a:ext cx="3403550" cy="1647825"/>
          </a:xfrm>
          <a:prstGeom prst="roundRect">
            <a:avLst>
              <a:gd name="adj" fmla="val 6936"/>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026449" y="3286125"/>
            <a:ext cx="38100" cy="1257300"/>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026449" y="4772025"/>
            <a:ext cx="38100" cy="1647825"/>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62000" y="2824162"/>
            <a:ext cx="2067073"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29073" y="2824162"/>
            <a:ext cx="1448246"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77320" y="2824162"/>
            <a:ext cx="3291929"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62000" y="3348037"/>
            <a:ext cx="2067073"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829073" y="3348037"/>
            <a:ext cx="1448246"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77320" y="3348037"/>
            <a:ext cx="3291929"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62000" y="3871912"/>
            <a:ext cx="2067073"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829073" y="3871912"/>
            <a:ext cx="1448246"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77320" y="3871912"/>
            <a:ext cx="3291929"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62000" y="4395787"/>
            <a:ext cx="2067073"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829073" y="4395787"/>
            <a:ext cx="1448246"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77320" y="4395787"/>
            <a:ext cx="3291929"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62000" y="4919662"/>
            <a:ext cx="2067073"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829073" y="4919662"/>
            <a:ext cx="1448246"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77320" y="4919662"/>
            <a:ext cx="3291929"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62000" y="5443537"/>
            <a:ext cx="2067073"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829073" y="5443537"/>
            <a:ext cx="1448246"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77320" y="5443537"/>
            <a:ext cx="3291929"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5" name="Table 24"/>
          <p:cNvGraphicFramePr>
            <a:graphicFrameLocks noGrp="1"/>
          </p:cNvGraphicFramePr>
          <p:nvPr/>
        </p:nvGraphicFramePr>
        <p:xfrm>
          <a:off x="762000" y="1800225"/>
          <a:ext cx="6807248" cy="3657600"/>
        </p:xfrm>
        <a:graphic>
          <a:graphicData uri="http://schemas.openxmlformats.org/drawingml/2006/table">
            <a:tbl>
              <a:tblPr/>
              <a:tblGrid>
                <a:gridCol w="2067073">
                  <a:extLst>
                    <a:ext uri="{9D8B030D-6E8A-4147-A177-3AD203B41FA5}">
                      <a16:colId xmlns="" xmlns:a16="http://schemas.microsoft.com/office/drawing/2014/main" val="20000"/>
                    </a:ext>
                  </a:extLst>
                </a:gridCol>
                <a:gridCol w="1448246">
                  <a:extLst>
                    <a:ext uri="{9D8B030D-6E8A-4147-A177-3AD203B41FA5}">
                      <a16:colId xmlns="" xmlns:a16="http://schemas.microsoft.com/office/drawing/2014/main" val="20001"/>
                    </a:ext>
                  </a:extLst>
                </a:gridCol>
                <a:gridCol w="3291929">
                  <a:extLst>
                    <a:ext uri="{9D8B030D-6E8A-4147-A177-3AD203B41FA5}">
                      <a16:colId xmlns="" xmlns:a16="http://schemas.microsoft.com/office/drawing/2014/main" val="20002"/>
                    </a:ext>
                  </a:extLst>
                </a:gridCol>
              </a:tblGrid>
              <a:tr h="522514">
                <a:tc>
                  <a:txBody>
                    <a:bodyPr/>
                    <a:lstStyle/>
                    <a:p>
                      <a:pPr algn="l"/>
                      <a:r>
                        <a:rPr sz="1200" b="1" i="0" u="none">
                          <a:solidFill>
                            <a:srgbClr val="FAF8F5"/>
                          </a:solidFill>
                          <a:latin typeface="Nunito"/>
                        </a:rPr>
                        <a:t>Column Name</a:t>
                      </a:r>
                    </a:p>
                  </a:txBody>
                  <a:tcPr marL="63500" marR="63500" marT="25400" marB="25400" anchor="ctr">
                    <a:lnL>
                      <a:noFill/>
                    </a:lnL>
                    <a:lnR>
                      <a:noFill/>
                    </a:lnR>
                    <a:lnT>
                      <a:noFill/>
                    </a:lnT>
                    <a:lnB>
                      <a:noFill/>
                    </a:lnB>
                    <a:solidFill>
                      <a:srgbClr val="4A3B32"/>
                    </a:solidFill>
                  </a:tcPr>
                </a:tc>
                <a:tc>
                  <a:txBody>
                    <a:bodyPr/>
                    <a:lstStyle/>
                    <a:p>
                      <a:pPr algn="l"/>
                      <a:r>
                        <a:rPr sz="1200" b="1" i="0" u="none">
                          <a:solidFill>
                            <a:srgbClr val="FAF8F5"/>
                          </a:solidFill>
                          <a:latin typeface="Nunito"/>
                        </a:rPr>
                        <a:t>Data Type</a:t>
                      </a:r>
                    </a:p>
                  </a:txBody>
                  <a:tcPr marL="63500" marR="63500" marT="25400" marB="25400" anchor="ctr">
                    <a:lnL>
                      <a:noFill/>
                    </a:lnL>
                    <a:lnR>
                      <a:noFill/>
                    </a:lnR>
                    <a:lnT>
                      <a:noFill/>
                    </a:lnT>
                    <a:lnB>
                      <a:noFill/>
                    </a:lnB>
                    <a:solidFill>
                      <a:srgbClr val="4A3B32"/>
                    </a:solidFill>
                  </a:tcPr>
                </a:tc>
                <a:tc>
                  <a:txBody>
                    <a:bodyPr/>
                    <a:lstStyle/>
                    <a:p>
                      <a:pPr algn="l"/>
                      <a:r>
                        <a:rPr sz="1200" b="1" i="0" u="none">
                          <a:solidFill>
                            <a:srgbClr val="FAF8F5"/>
                          </a:solidFill>
                          <a:latin typeface="Nunito"/>
                        </a:rPr>
                        <a:t>Description</a:t>
                      </a:r>
                    </a:p>
                  </a:txBody>
                  <a:tcPr marL="63500" marR="63500" marT="25400" marB="25400" anchor="ctr">
                    <a:lnL>
                      <a:noFill/>
                    </a:lnL>
                    <a:lnR>
                      <a:noFill/>
                    </a:lnR>
                    <a:lnT>
                      <a:noFill/>
                    </a:lnT>
                    <a:lnB>
                      <a:noFill/>
                    </a:lnB>
                    <a:solidFill>
                      <a:srgbClr val="4A3B32"/>
                    </a:solidFill>
                  </a:tcPr>
                </a:tc>
                <a:extLst>
                  <a:ext uri="{0D108BD9-81ED-4DB2-BD59-A6C34878D82A}">
                    <a16:rowId xmlns="" xmlns:a16="http://schemas.microsoft.com/office/drawing/2014/main" val="10000"/>
                  </a:ext>
                </a:extLst>
              </a:tr>
              <a:tr h="522514">
                <a:tc>
                  <a:txBody>
                    <a:bodyPr/>
                    <a:lstStyle/>
                    <a:p>
                      <a:pPr algn="l"/>
                      <a:r>
                        <a:rPr sz="1200" b="0" i="0" u="none">
                          <a:solidFill>
                            <a:srgbClr val="2C241B"/>
                          </a:solidFill>
                          <a:latin typeface="Nunito"/>
                        </a:rPr>
                        <a:t>transaction_id</a:t>
                      </a:r>
                    </a:p>
                  </a:txBody>
                  <a:tcPr marL="63500" marR="63500" marT="25400" marB="25400" anchor="ctr">
                    <a:lnL>
                      <a:noFill/>
                    </a:lnL>
                    <a:lnR>
                      <a:noFill/>
                    </a:lnR>
                    <a:lnT>
                      <a:noFill/>
                    </a:lnT>
                    <a:lnB>
                      <a:noFill/>
                    </a:lnB>
                    <a:solidFill>
                      <a:srgbClr val="FAF8F5"/>
                    </a:solidFill>
                  </a:tcPr>
                </a:tc>
                <a:tc>
                  <a:txBody>
                    <a:bodyPr/>
                    <a:lstStyle/>
                    <a:p>
                      <a:pPr algn="l"/>
                      <a:r>
                        <a:rPr sz="1200" b="0" i="0" u="none">
                          <a:solidFill>
                            <a:srgbClr val="2C241B"/>
                          </a:solidFill>
                          <a:latin typeface="Nunito"/>
                        </a:rPr>
                        <a:t>Numeric</a:t>
                      </a:r>
                    </a:p>
                  </a:txBody>
                  <a:tcPr marL="63500" marR="63500" marT="25400" marB="25400" anchor="ctr">
                    <a:lnL>
                      <a:noFill/>
                    </a:lnL>
                    <a:lnR>
                      <a:noFill/>
                    </a:lnR>
                    <a:lnT>
                      <a:noFill/>
                    </a:lnT>
                    <a:lnB>
                      <a:noFill/>
                    </a:lnB>
                    <a:solidFill>
                      <a:srgbClr val="FAF8F5"/>
                    </a:solidFill>
                  </a:tcPr>
                </a:tc>
                <a:tc>
                  <a:txBody>
                    <a:bodyPr/>
                    <a:lstStyle/>
                    <a:p>
                      <a:pPr algn="l"/>
                      <a:r>
                        <a:rPr sz="1200" b="0" i="0" u="none">
                          <a:solidFill>
                            <a:srgbClr val="2C241B"/>
                          </a:solidFill>
                          <a:latin typeface="Nunito"/>
                        </a:rPr>
                        <a:t>Unique identifier per order.</a:t>
                      </a:r>
                    </a:p>
                  </a:txBody>
                  <a:tcPr marL="63500" marR="63500" marT="25400" marB="25400" anchor="ctr">
                    <a:lnL>
                      <a:noFill/>
                    </a:lnL>
                    <a:lnR>
                      <a:noFill/>
                    </a:lnR>
                    <a:lnT>
                      <a:noFill/>
                    </a:lnT>
                    <a:lnB>
                      <a:noFill/>
                    </a:lnB>
                    <a:solidFill>
                      <a:srgbClr val="FAF8F5"/>
                    </a:solidFill>
                  </a:tcPr>
                </a:tc>
                <a:extLst>
                  <a:ext uri="{0D108BD9-81ED-4DB2-BD59-A6C34878D82A}">
                    <a16:rowId xmlns="" xmlns:a16="http://schemas.microsoft.com/office/drawing/2014/main" val="10001"/>
                  </a:ext>
                </a:extLst>
              </a:tr>
              <a:tr h="522514">
                <a:tc>
                  <a:txBody>
                    <a:bodyPr/>
                    <a:lstStyle/>
                    <a:p>
                      <a:pPr algn="l"/>
                      <a:r>
                        <a:rPr sz="1200" b="0" i="0" u="none">
                          <a:solidFill>
                            <a:srgbClr val="2C241B"/>
                          </a:solidFill>
                          <a:latin typeface="Nunito"/>
                        </a:rPr>
                        <a:t>transaction_date</a:t>
                      </a:r>
                    </a:p>
                  </a:txBody>
                  <a:tcPr marL="63500" marR="63500" marT="25400" marB="25400" anchor="ctr">
                    <a:lnL>
                      <a:noFill/>
                    </a:lnL>
                    <a:lnR>
                      <a:noFill/>
                    </a:lnR>
                    <a:lnT>
                      <a:noFill/>
                    </a:lnT>
                    <a:lnB>
                      <a:noFill/>
                    </a:lnB>
                    <a:solidFill>
                      <a:srgbClr val="F5F0E6"/>
                    </a:solidFill>
                  </a:tcPr>
                </a:tc>
                <a:tc>
                  <a:txBody>
                    <a:bodyPr/>
                    <a:lstStyle/>
                    <a:p>
                      <a:pPr algn="l"/>
                      <a:r>
                        <a:rPr sz="1200" b="0" i="0" u="none">
                          <a:solidFill>
                            <a:srgbClr val="2C241B"/>
                          </a:solidFill>
                          <a:latin typeface="Nunito"/>
                        </a:rPr>
                        <a:t>Date/Time</a:t>
                      </a:r>
                    </a:p>
                  </a:txBody>
                  <a:tcPr marL="63500" marR="63500" marT="25400" marB="25400" anchor="ctr">
                    <a:lnL>
                      <a:noFill/>
                    </a:lnL>
                    <a:lnR>
                      <a:noFill/>
                    </a:lnR>
                    <a:lnT>
                      <a:noFill/>
                    </a:lnT>
                    <a:lnB>
                      <a:noFill/>
                    </a:lnB>
                    <a:solidFill>
                      <a:srgbClr val="F5F0E6"/>
                    </a:solidFill>
                  </a:tcPr>
                </a:tc>
                <a:tc>
                  <a:txBody>
                    <a:bodyPr/>
                    <a:lstStyle/>
                    <a:p>
                      <a:pPr algn="l"/>
                      <a:r>
                        <a:rPr sz="1200" b="0" i="0" u="none">
                          <a:solidFill>
                            <a:srgbClr val="2C241B"/>
                          </a:solidFill>
                          <a:latin typeface="Nunito"/>
                        </a:rPr>
                        <a:t>Timestamp of the purchase.</a:t>
                      </a:r>
                    </a:p>
                  </a:txBody>
                  <a:tcPr marL="63500" marR="63500" marT="25400" marB="25400" anchor="ctr">
                    <a:lnL>
                      <a:noFill/>
                    </a:lnL>
                    <a:lnR>
                      <a:noFill/>
                    </a:lnR>
                    <a:lnT>
                      <a:noFill/>
                    </a:lnT>
                    <a:lnB>
                      <a:noFill/>
                    </a:lnB>
                    <a:solidFill>
                      <a:srgbClr val="F5F0E6"/>
                    </a:solidFill>
                  </a:tcPr>
                </a:tc>
                <a:extLst>
                  <a:ext uri="{0D108BD9-81ED-4DB2-BD59-A6C34878D82A}">
                    <a16:rowId xmlns="" xmlns:a16="http://schemas.microsoft.com/office/drawing/2014/main" val="10002"/>
                  </a:ext>
                </a:extLst>
              </a:tr>
              <a:tr h="522514">
                <a:tc>
                  <a:txBody>
                    <a:bodyPr/>
                    <a:lstStyle/>
                    <a:p>
                      <a:pPr algn="l"/>
                      <a:r>
                        <a:rPr sz="1200" b="0" i="0" u="none">
                          <a:solidFill>
                            <a:srgbClr val="2C241B"/>
                          </a:solidFill>
                          <a:latin typeface="Nunito"/>
                        </a:rPr>
                        <a:t>store_location</a:t>
                      </a:r>
                    </a:p>
                  </a:txBody>
                  <a:tcPr marL="63500" marR="63500" marT="25400" marB="25400" anchor="ctr">
                    <a:lnL>
                      <a:noFill/>
                    </a:lnL>
                    <a:lnR>
                      <a:noFill/>
                    </a:lnR>
                    <a:lnT>
                      <a:noFill/>
                    </a:lnT>
                    <a:lnB>
                      <a:noFill/>
                    </a:lnB>
                    <a:solidFill>
                      <a:srgbClr val="FAF8F5"/>
                    </a:solidFill>
                  </a:tcPr>
                </a:tc>
                <a:tc>
                  <a:txBody>
                    <a:bodyPr/>
                    <a:lstStyle/>
                    <a:p>
                      <a:pPr algn="l"/>
                      <a:r>
                        <a:rPr sz="1200" b="0" i="0" u="none">
                          <a:solidFill>
                            <a:srgbClr val="2C241B"/>
                          </a:solidFill>
                          <a:latin typeface="Nunito"/>
                        </a:rPr>
                        <a:t>Text</a:t>
                      </a:r>
                    </a:p>
                  </a:txBody>
                  <a:tcPr marL="63500" marR="63500" marT="25400" marB="25400" anchor="ctr">
                    <a:lnL>
                      <a:noFill/>
                    </a:lnL>
                    <a:lnR>
                      <a:noFill/>
                    </a:lnR>
                    <a:lnT>
                      <a:noFill/>
                    </a:lnT>
                    <a:lnB>
                      <a:noFill/>
                    </a:lnB>
                    <a:solidFill>
                      <a:srgbClr val="FAF8F5"/>
                    </a:solidFill>
                  </a:tcPr>
                </a:tc>
                <a:tc>
                  <a:txBody>
                    <a:bodyPr/>
                    <a:lstStyle/>
                    <a:p>
                      <a:pPr algn="l"/>
                      <a:r>
                        <a:rPr sz="1200" b="0" i="0" u="none">
                          <a:solidFill>
                            <a:srgbClr val="2C241B"/>
                          </a:solidFill>
                          <a:latin typeface="Nunito"/>
                        </a:rPr>
                        <a:t>Manhattan, Astoria, etc.</a:t>
                      </a:r>
                    </a:p>
                  </a:txBody>
                  <a:tcPr marL="63500" marR="63500" marT="25400" marB="25400" anchor="ctr">
                    <a:lnL>
                      <a:noFill/>
                    </a:lnL>
                    <a:lnR>
                      <a:noFill/>
                    </a:lnR>
                    <a:lnT>
                      <a:noFill/>
                    </a:lnT>
                    <a:lnB>
                      <a:noFill/>
                    </a:lnB>
                    <a:solidFill>
                      <a:srgbClr val="FAF8F5"/>
                    </a:solidFill>
                  </a:tcPr>
                </a:tc>
                <a:extLst>
                  <a:ext uri="{0D108BD9-81ED-4DB2-BD59-A6C34878D82A}">
                    <a16:rowId xmlns="" xmlns:a16="http://schemas.microsoft.com/office/drawing/2014/main" val="10003"/>
                  </a:ext>
                </a:extLst>
              </a:tr>
              <a:tr h="522514">
                <a:tc>
                  <a:txBody>
                    <a:bodyPr/>
                    <a:lstStyle/>
                    <a:p>
                      <a:pPr algn="l"/>
                      <a:r>
                        <a:rPr sz="1200" b="0" i="0" u="none">
                          <a:solidFill>
                            <a:srgbClr val="2C241B"/>
                          </a:solidFill>
                          <a:latin typeface="Nunito"/>
                        </a:rPr>
                        <a:t>product_category</a:t>
                      </a:r>
                    </a:p>
                  </a:txBody>
                  <a:tcPr marL="63500" marR="63500" marT="25400" marB="25400" anchor="ctr">
                    <a:lnL>
                      <a:noFill/>
                    </a:lnL>
                    <a:lnR>
                      <a:noFill/>
                    </a:lnR>
                    <a:lnT>
                      <a:noFill/>
                    </a:lnT>
                    <a:lnB>
                      <a:noFill/>
                    </a:lnB>
                    <a:solidFill>
                      <a:srgbClr val="F5F0E6"/>
                    </a:solidFill>
                  </a:tcPr>
                </a:tc>
                <a:tc>
                  <a:txBody>
                    <a:bodyPr/>
                    <a:lstStyle/>
                    <a:p>
                      <a:pPr algn="l"/>
                      <a:r>
                        <a:rPr sz="1200" b="0" i="0" u="none">
                          <a:solidFill>
                            <a:srgbClr val="2C241B"/>
                          </a:solidFill>
                          <a:latin typeface="Nunito"/>
                        </a:rPr>
                        <a:t>Text</a:t>
                      </a:r>
                    </a:p>
                  </a:txBody>
                  <a:tcPr marL="63500" marR="63500" marT="25400" marB="25400" anchor="ctr">
                    <a:lnL>
                      <a:noFill/>
                    </a:lnL>
                    <a:lnR>
                      <a:noFill/>
                    </a:lnR>
                    <a:lnT>
                      <a:noFill/>
                    </a:lnT>
                    <a:lnB>
                      <a:noFill/>
                    </a:lnB>
                    <a:solidFill>
                      <a:srgbClr val="F5F0E6"/>
                    </a:solidFill>
                  </a:tcPr>
                </a:tc>
                <a:tc>
                  <a:txBody>
                    <a:bodyPr/>
                    <a:lstStyle/>
                    <a:p>
                      <a:pPr algn="l"/>
                      <a:r>
                        <a:rPr sz="1200" b="0" i="0" u="none">
                          <a:solidFill>
                            <a:srgbClr val="2C241B"/>
                          </a:solidFill>
                          <a:latin typeface="Nunito"/>
                        </a:rPr>
                        <a:t>Coffee, Tea, Bakery, Packaged.</a:t>
                      </a:r>
                    </a:p>
                  </a:txBody>
                  <a:tcPr marL="63500" marR="63500" marT="25400" marB="25400" anchor="ctr">
                    <a:lnL>
                      <a:noFill/>
                    </a:lnL>
                    <a:lnR>
                      <a:noFill/>
                    </a:lnR>
                    <a:lnT>
                      <a:noFill/>
                    </a:lnT>
                    <a:lnB>
                      <a:noFill/>
                    </a:lnB>
                    <a:solidFill>
                      <a:srgbClr val="F5F0E6"/>
                    </a:solidFill>
                  </a:tcPr>
                </a:tc>
                <a:extLst>
                  <a:ext uri="{0D108BD9-81ED-4DB2-BD59-A6C34878D82A}">
                    <a16:rowId xmlns="" xmlns:a16="http://schemas.microsoft.com/office/drawing/2014/main" val="10004"/>
                  </a:ext>
                </a:extLst>
              </a:tr>
              <a:tr h="522514">
                <a:tc>
                  <a:txBody>
                    <a:bodyPr/>
                    <a:lstStyle/>
                    <a:p>
                      <a:pPr algn="l"/>
                      <a:r>
                        <a:rPr sz="1200" b="0" i="0" u="none">
                          <a:solidFill>
                            <a:srgbClr val="2C241B"/>
                          </a:solidFill>
                          <a:latin typeface="Nunito"/>
                        </a:rPr>
                        <a:t>unit_price</a:t>
                      </a:r>
                    </a:p>
                  </a:txBody>
                  <a:tcPr marL="63500" marR="63500" marT="25400" marB="25400" anchor="ctr">
                    <a:lnL>
                      <a:noFill/>
                    </a:lnL>
                    <a:lnR>
                      <a:noFill/>
                    </a:lnR>
                    <a:lnT>
                      <a:noFill/>
                    </a:lnT>
                    <a:lnB>
                      <a:noFill/>
                    </a:lnB>
                    <a:solidFill>
                      <a:srgbClr val="FAF8F5"/>
                    </a:solidFill>
                  </a:tcPr>
                </a:tc>
                <a:tc>
                  <a:txBody>
                    <a:bodyPr/>
                    <a:lstStyle/>
                    <a:p>
                      <a:pPr algn="l"/>
                      <a:r>
                        <a:rPr sz="1200" b="0" i="0" u="none">
                          <a:solidFill>
                            <a:srgbClr val="2C241B"/>
                          </a:solidFill>
                          <a:latin typeface="Nunito"/>
                        </a:rPr>
                        <a:t>Decimal</a:t>
                      </a:r>
                    </a:p>
                  </a:txBody>
                  <a:tcPr marL="63500" marR="63500" marT="25400" marB="25400" anchor="ctr">
                    <a:lnL>
                      <a:noFill/>
                    </a:lnL>
                    <a:lnR>
                      <a:noFill/>
                    </a:lnR>
                    <a:lnT>
                      <a:noFill/>
                    </a:lnT>
                    <a:lnB>
                      <a:noFill/>
                    </a:lnB>
                    <a:solidFill>
                      <a:srgbClr val="FAF8F5"/>
                    </a:solidFill>
                  </a:tcPr>
                </a:tc>
                <a:tc>
                  <a:txBody>
                    <a:bodyPr/>
                    <a:lstStyle/>
                    <a:p>
                      <a:pPr algn="l"/>
                      <a:r>
                        <a:rPr sz="1200" b="0" i="0" u="none">
                          <a:solidFill>
                            <a:srgbClr val="2C241B"/>
                          </a:solidFill>
                          <a:latin typeface="Nunito"/>
                        </a:rPr>
                        <a:t>Price per individual item.</a:t>
                      </a:r>
                    </a:p>
                  </a:txBody>
                  <a:tcPr marL="63500" marR="63500" marT="25400" marB="25400" anchor="ctr">
                    <a:lnL>
                      <a:noFill/>
                    </a:lnL>
                    <a:lnR>
                      <a:noFill/>
                    </a:lnR>
                    <a:lnT>
                      <a:noFill/>
                    </a:lnT>
                    <a:lnB>
                      <a:noFill/>
                    </a:lnB>
                    <a:solidFill>
                      <a:srgbClr val="FAF8F5"/>
                    </a:solidFill>
                  </a:tcPr>
                </a:tc>
                <a:extLst>
                  <a:ext uri="{0D108BD9-81ED-4DB2-BD59-A6C34878D82A}">
                    <a16:rowId xmlns="" xmlns:a16="http://schemas.microsoft.com/office/drawing/2014/main" val="10005"/>
                  </a:ext>
                </a:extLst>
              </a:tr>
              <a:tr h="522516">
                <a:tc>
                  <a:txBody>
                    <a:bodyPr/>
                    <a:lstStyle/>
                    <a:p>
                      <a:pPr algn="l"/>
                      <a:r>
                        <a:rPr sz="1200" b="0" i="0" u="none">
                          <a:solidFill>
                            <a:srgbClr val="2C241B"/>
                          </a:solidFill>
                          <a:latin typeface="Nunito"/>
                        </a:rPr>
                        <a:t>transaction_qty</a:t>
                      </a:r>
                    </a:p>
                  </a:txBody>
                  <a:tcPr marL="63500" marR="63500" marT="25400" marB="25400" anchor="ctr">
                    <a:lnL>
                      <a:noFill/>
                    </a:lnL>
                    <a:lnR>
                      <a:noFill/>
                    </a:lnR>
                    <a:lnT>
                      <a:noFill/>
                    </a:lnT>
                    <a:lnB>
                      <a:noFill/>
                    </a:lnB>
                    <a:solidFill>
                      <a:srgbClr val="F5F0E6"/>
                    </a:solidFill>
                  </a:tcPr>
                </a:tc>
                <a:tc>
                  <a:txBody>
                    <a:bodyPr/>
                    <a:lstStyle/>
                    <a:p>
                      <a:pPr algn="l"/>
                      <a:r>
                        <a:rPr sz="1200" b="0" i="0" u="none">
                          <a:solidFill>
                            <a:srgbClr val="2C241B"/>
                          </a:solidFill>
                          <a:latin typeface="Nunito"/>
                        </a:rPr>
                        <a:t>Numeric</a:t>
                      </a:r>
                    </a:p>
                  </a:txBody>
                  <a:tcPr marL="63500" marR="63500" marT="25400" marB="25400" anchor="ctr">
                    <a:lnL>
                      <a:noFill/>
                    </a:lnL>
                    <a:lnR>
                      <a:noFill/>
                    </a:lnR>
                    <a:lnT>
                      <a:noFill/>
                    </a:lnT>
                    <a:lnB>
                      <a:noFill/>
                    </a:lnB>
                    <a:solidFill>
                      <a:srgbClr val="F5F0E6"/>
                    </a:solidFill>
                  </a:tcPr>
                </a:tc>
                <a:tc>
                  <a:txBody>
                    <a:bodyPr/>
                    <a:lstStyle/>
                    <a:p>
                      <a:pPr algn="l"/>
                      <a:r>
                        <a:rPr sz="1200" b="0" i="0" u="none">
                          <a:solidFill>
                            <a:srgbClr val="2C241B"/>
                          </a:solidFill>
                          <a:latin typeface="Nunito"/>
                        </a:rPr>
                        <a:t>Number of items in cart.</a:t>
                      </a:r>
                    </a:p>
                  </a:txBody>
                  <a:tcPr marL="63500" marR="63500" marT="25400" marB="25400" anchor="ctr">
                    <a:lnL>
                      <a:noFill/>
                    </a:lnL>
                    <a:lnR>
                      <a:noFill/>
                    </a:lnR>
                    <a:lnT>
                      <a:noFill/>
                    </a:lnT>
                    <a:lnB>
                      <a:noFill/>
                    </a:lnB>
                    <a:solidFill>
                      <a:srgbClr val="F5F0E6"/>
                    </a:solidFill>
                  </a:tcPr>
                </a:tc>
                <a:extLst>
                  <a:ext uri="{0D108BD9-81ED-4DB2-BD59-A6C34878D82A}">
                    <a16:rowId xmlns="" xmlns:a16="http://schemas.microsoft.com/office/drawing/2014/main" val="10006"/>
                  </a:ext>
                </a:extLst>
              </a:tr>
            </a:tbl>
          </a:graphicData>
        </a:graphic>
      </p:graphicFrame>
      <p:sp>
        <p:nvSpPr>
          <p:cNvPr id="26" name="TextBox 25"/>
          <p:cNvSpPr txBox="1"/>
          <p:nvPr/>
        </p:nvSpPr>
        <p:spPr>
          <a:xfrm>
            <a:off x="762000" y="762000"/>
            <a:ext cx="11430000" cy="581025"/>
          </a:xfrm>
          <a:prstGeom prst="rect">
            <a:avLst/>
          </a:prstGeom>
          <a:noFill/>
        </p:spPr>
        <p:txBody>
          <a:bodyPr wrap="none" lIns="0" tIns="0" rIns="0" bIns="0" anchor="t">
            <a:spAutoFit/>
          </a:bodyPr>
          <a:lstStyle/>
          <a:p>
            <a:pPr algn="l"/>
            <a:r>
              <a:rPr sz="3600" b="1" i="0" u="none">
                <a:solidFill>
                  <a:srgbClr val="4A3B32"/>
                </a:solidFill>
                <a:latin typeface="Lora"/>
              </a:rPr>
              <a:t>Dataset Overview</a:t>
            </a:r>
          </a:p>
        </p:txBody>
      </p:sp>
      <p:sp>
        <p:nvSpPr>
          <p:cNvPr id="27" name="TextBox 26"/>
          <p:cNvSpPr txBox="1"/>
          <p:nvPr/>
        </p:nvSpPr>
        <p:spPr>
          <a:xfrm>
            <a:off x="8331249" y="2057401"/>
            <a:ext cx="1707696" cy="307777"/>
          </a:xfrm>
          <a:prstGeom prst="rect">
            <a:avLst/>
          </a:prstGeom>
          <a:noFill/>
        </p:spPr>
        <p:txBody>
          <a:bodyPr wrap="square" lIns="0" tIns="0" rIns="0" bIns="0" anchor="t">
            <a:spAutoFit/>
          </a:bodyPr>
          <a:lstStyle/>
          <a:p>
            <a:pPr algn="l"/>
            <a:r>
              <a:rPr lang="en-US" sz="2000" dirty="0" smtClean="0">
                <a:solidFill>
                  <a:schemeClr val="bg1"/>
                </a:solidFill>
                <a:latin typeface="Nunito"/>
              </a:rPr>
              <a:t>149116</a:t>
            </a:r>
            <a:endParaRPr sz="2000" b="0" i="0" u="none" dirty="0">
              <a:solidFill>
                <a:schemeClr val="bg1"/>
              </a:solidFill>
              <a:latin typeface="Nunito"/>
            </a:endParaRPr>
          </a:p>
        </p:txBody>
      </p:sp>
      <p:sp>
        <p:nvSpPr>
          <p:cNvPr id="28" name="TextBox 27"/>
          <p:cNvSpPr txBox="1"/>
          <p:nvPr/>
        </p:nvSpPr>
        <p:spPr>
          <a:xfrm>
            <a:off x="8369349" y="2489685"/>
            <a:ext cx="1669596" cy="369332"/>
          </a:xfrm>
          <a:prstGeom prst="rect">
            <a:avLst/>
          </a:prstGeom>
          <a:noFill/>
        </p:spPr>
        <p:txBody>
          <a:bodyPr wrap="square" lIns="0" tIns="0" rIns="0" bIns="0" anchor="t">
            <a:spAutoFit/>
          </a:bodyPr>
          <a:lstStyle/>
          <a:p>
            <a:pPr algn="l"/>
            <a:r>
              <a:rPr lang="en-US" sz="2400" b="1" dirty="0" smtClean="0">
                <a:solidFill>
                  <a:srgbClr val="FAF8F5"/>
                </a:solidFill>
                <a:latin typeface="Lora"/>
              </a:rPr>
              <a:t>ROWS</a:t>
            </a:r>
            <a:endParaRPr sz="2400" b="1" i="0" u="none" dirty="0">
              <a:solidFill>
                <a:srgbClr val="FAF8F5"/>
              </a:solidFill>
              <a:latin typeface="Lora"/>
            </a:endParaRPr>
          </a:p>
        </p:txBody>
      </p:sp>
      <p:sp>
        <p:nvSpPr>
          <p:cNvPr id="29" name="TextBox 28"/>
          <p:cNvSpPr txBox="1"/>
          <p:nvPr/>
        </p:nvSpPr>
        <p:spPr>
          <a:xfrm>
            <a:off x="8370179" y="3451969"/>
            <a:ext cx="429605" cy="430887"/>
          </a:xfrm>
          <a:prstGeom prst="rect">
            <a:avLst/>
          </a:prstGeom>
          <a:noFill/>
        </p:spPr>
        <p:txBody>
          <a:bodyPr wrap="none" lIns="0" tIns="0" rIns="0" bIns="0" anchor="t">
            <a:spAutoFit/>
          </a:bodyPr>
          <a:lstStyle/>
          <a:p>
            <a:pPr algn="l"/>
            <a:r>
              <a:rPr lang="en-US" sz="2800" dirty="0" smtClean="0">
                <a:solidFill>
                  <a:srgbClr val="8C5E3C"/>
                </a:solidFill>
                <a:latin typeface="Nunito"/>
              </a:rPr>
              <a:t>18</a:t>
            </a:r>
            <a:endParaRPr sz="2800" b="0" i="0" u="none" dirty="0">
              <a:solidFill>
                <a:srgbClr val="8C5E3C"/>
              </a:solidFill>
              <a:latin typeface="Nunito"/>
            </a:endParaRPr>
          </a:p>
        </p:txBody>
      </p:sp>
      <p:sp>
        <p:nvSpPr>
          <p:cNvPr id="30" name="TextBox 29"/>
          <p:cNvSpPr txBox="1"/>
          <p:nvPr/>
        </p:nvSpPr>
        <p:spPr>
          <a:xfrm>
            <a:off x="8331249" y="4002990"/>
            <a:ext cx="1590179" cy="369332"/>
          </a:xfrm>
          <a:prstGeom prst="rect">
            <a:avLst/>
          </a:prstGeom>
          <a:noFill/>
        </p:spPr>
        <p:txBody>
          <a:bodyPr wrap="none" lIns="0" tIns="0" rIns="0" bIns="0" anchor="t">
            <a:spAutoFit/>
          </a:bodyPr>
          <a:lstStyle/>
          <a:p>
            <a:pPr algn="l"/>
            <a:r>
              <a:rPr lang="en-US" sz="2400" b="1" dirty="0" smtClean="0">
                <a:solidFill>
                  <a:srgbClr val="4A3B32"/>
                </a:solidFill>
                <a:latin typeface="Lora"/>
              </a:rPr>
              <a:t>COLUMNS</a:t>
            </a:r>
            <a:endParaRPr sz="2400" b="1" i="0" u="none" dirty="0">
              <a:solidFill>
                <a:srgbClr val="4A3B32"/>
              </a:solidFill>
              <a:latin typeface="Lora"/>
            </a:endParaRPr>
          </a:p>
        </p:txBody>
      </p:sp>
      <p:sp>
        <p:nvSpPr>
          <p:cNvPr id="31" name="TextBox 30"/>
          <p:cNvSpPr txBox="1"/>
          <p:nvPr/>
        </p:nvSpPr>
        <p:spPr>
          <a:xfrm>
            <a:off x="8369349" y="5076825"/>
            <a:ext cx="3444812" cy="180975"/>
          </a:xfrm>
          <a:prstGeom prst="rect">
            <a:avLst/>
          </a:prstGeom>
          <a:noFill/>
        </p:spPr>
        <p:txBody>
          <a:bodyPr wrap="none" lIns="0" tIns="0" rIns="0" bIns="0" anchor="t">
            <a:spAutoFit/>
          </a:bodyPr>
          <a:lstStyle/>
          <a:p>
            <a:pPr algn="l"/>
            <a:r>
              <a:rPr sz="1050" b="0" i="0" u="none">
                <a:solidFill>
                  <a:srgbClr val="8C5E3C"/>
                </a:solidFill>
                <a:latin typeface="Nunito"/>
              </a:rPr>
              <a:t>CATALOG</a:t>
            </a:r>
          </a:p>
        </p:txBody>
      </p:sp>
      <p:sp>
        <p:nvSpPr>
          <p:cNvPr id="32" name="TextBox 31"/>
          <p:cNvSpPr txBox="1"/>
          <p:nvPr/>
        </p:nvSpPr>
        <p:spPr>
          <a:xfrm>
            <a:off x="8369349" y="5334000"/>
            <a:ext cx="2993655" cy="781050"/>
          </a:xfrm>
          <a:prstGeom prst="rect">
            <a:avLst/>
          </a:prstGeom>
          <a:noFill/>
        </p:spPr>
        <p:txBody>
          <a:bodyPr wrap="square" lIns="0" tIns="0" rIns="0" bIns="0" anchor="t">
            <a:spAutoFit/>
          </a:bodyPr>
          <a:lstStyle/>
          <a:p>
            <a:pPr algn="l"/>
            <a:r>
              <a:rPr sz="2400" b="1" i="0" u="none">
                <a:solidFill>
                  <a:srgbClr val="4A3B32"/>
                </a:solidFill>
                <a:latin typeface="Lora"/>
              </a:rPr>
              <a:t>9 Distinct Categories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TextBox 1"/>
          <p:cNvSpPr txBox="1"/>
          <p:nvPr/>
        </p:nvSpPr>
        <p:spPr>
          <a:xfrm>
            <a:off x="762000" y="762000"/>
            <a:ext cx="11430000" cy="581025"/>
          </a:xfrm>
          <a:prstGeom prst="rect">
            <a:avLst/>
          </a:prstGeom>
          <a:noFill/>
        </p:spPr>
        <p:txBody>
          <a:bodyPr wrap="none" lIns="0" tIns="0" rIns="0" bIns="0" anchor="t">
            <a:spAutoFit/>
          </a:bodyPr>
          <a:lstStyle/>
          <a:p>
            <a:pPr algn="l"/>
            <a:r>
              <a:rPr sz="3600" b="1" i="0" u="none">
                <a:solidFill>
                  <a:srgbClr val="4A3B32"/>
                </a:solidFill>
                <a:latin typeface="Lora"/>
              </a:rPr>
              <a:t>Data Cleaning Methods</a:t>
            </a:r>
          </a:p>
        </p:txBody>
      </p:sp>
      <p:sp>
        <p:nvSpPr>
          <p:cNvPr id="3" name="TextBox 2"/>
          <p:cNvSpPr txBox="1"/>
          <p:nvPr/>
        </p:nvSpPr>
        <p:spPr>
          <a:xfrm>
            <a:off x="762000" y="1495425"/>
            <a:ext cx="11430000" cy="257175"/>
          </a:xfrm>
          <a:prstGeom prst="rect">
            <a:avLst/>
          </a:prstGeom>
          <a:noFill/>
        </p:spPr>
        <p:txBody>
          <a:bodyPr wrap="none" lIns="0" tIns="0" rIns="0" bIns="0" anchor="t">
            <a:spAutoFit/>
          </a:bodyPr>
          <a:lstStyle/>
          <a:p>
            <a:pPr algn="l"/>
            <a:r>
              <a:rPr sz="1500" b="0" i="0" u="none">
                <a:solidFill>
                  <a:srgbClr val="6B5A4E"/>
                </a:solidFill>
                <a:latin typeface="Nunito"/>
              </a:rPr>
              <a:t>Transforming raw records to analysis-ready datasets.</a:t>
            </a:r>
          </a:p>
        </p:txBody>
      </p:sp>
      <p:sp>
        <p:nvSpPr>
          <p:cNvPr id="4" name="Rectangle 3"/>
          <p:cNvSpPr/>
          <p:nvPr/>
        </p:nvSpPr>
        <p:spPr>
          <a:xfrm>
            <a:off x="1333500" y="2667000"/>
            <a:ext cx="9525000" cy="381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38400" y="2362200"/>
            <a:ext cx="609600" cy="609600"/>
          </a:xfrm>
          <a:prstGeom prst="roundRect">
            <a:avLst>
              <a:gd name="adj" fmla="val 50000"/>
            </a:avLst>
          </a:prstGeom>
          <a:solidFill>
            <a:srgbClr val="4A3B32"/>
          </a:solidFill>
          <a:ln w="57150">
            <a:solidFill>
              <a:srgbClr val="FAF8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791200" y="2362200"/>
            <a:ext cx="609600" cy="609600"/>
          </a:xfrm>
          <a:prstGeom prst="roundRect">
            <a:avLst>
              <a:gd name="adj" fmla="val 50000"/>
            </a:avLst>
          </a:prstGeom>
          <a:solidFill>
            <a:srgbClr val="8C5E3C"/>
          </a:solidFill>
          <a:ln w="57150">
            <a:solidFill>
              <a:srgbClr val="FAF8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0" y="2362200"/>
            <a:ext cx="609600" cy="609600"/>
          </a:xfrm>
          <a:prstGeom prst="roundRect">
            <a:avLst>
              <a:gd name="adj" fmla="val 50000"/>
            </a:avLst>
          </a:prstGeom>
          <a:solidFill>
            <a:srgbClr val="D4B595"/>
          </a:solidFill>
          <a:ln w="57150">
            <a:solidFill>
              <a:srgbClr val="FAF8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1295400" y="3962400"/>
            <a:ext cx="133350" cy="152400"/>
          </a:xfrm>
          <a:prstGeom prst="rect">
            <a:avLst/>
          </a:prstGeom>
        </p:spPr>
      </p:pic>
      <p:pic>
        <p:nvPicPr>
          <p:cNvPr id="9" name="Picture 8" descr="image.png"/>
          <p:cNvPicPr>
            <a:picLocks noChangeAspect="1"/>
          </p:cNvPicPr>
          <p:nvPr/>
        </p:nvPicPr>
        <p:blipFill>
          <a:blip r:embed="rId2"/>
          <a:stretch>
            <a:fillRect/>
          </a:stretch>
        </p:blipFill>
        <p:spPr>
          <a:xfrm>
            <a:off x="1295400" y="4248150"/>
            <a:ext cx="133350" cy="152400"/>
          </a:xfrm>
          <a:prstGeom prst="rect">
            <a:avLst/>
          </a:prstGeom>
        </p:spPr>
      </p:pic>
      <p:pic>
        <p:nvPicPr>
          <p:cNvPr id="10" name="Picture 9" descr="image.png"/>
          <p:cNvPicPr>
            <a:picLocks noChangeAspect="1"/>
          </p:cNvPicPr>
          <p:nvPr/>
        </p:nvPicPr>
        <p:blipFill>
          <a:blip r:embed="rId2"/>
          <a:stretch>
            <a:fillRect/>
          </a:stretch>
        </p:blipFill>
        <p:spPr>
          <a:xfrm>
            <a:off x="1295400" y="4533900"/>
            <a:ext cx="133350" cy="152400"/>
          </a:xfrm>
          <a:prstGeom prst="rect">
            <a:avLst/>
          </a:prstGeom>
        </p:spPr>
      </p:pic>
      <p:pic>
        <p:nvPicPr>
          <p:cNvPr id="11" name="Picture 10" descr="image.png"/>
          <p:cNvPicPr>
            <a:picLocks noChangeAspect="1"/>
          </p:cNvPicPr>
          <p:nvPr/>
        </p:nvPicPr>
        <p:blipFill>
          <a:blip r:embed="rId2"/>
          <a:stretch>
            <a:fillRect/>
          </a:stretch>
        </p:blipFill>
        <p:spPr>
          <a:xfrm>
            <a:off x="4648200" y="3667125"/>
            <a:ext cx="133350" cy="152400"/>
          </a:xfrm>
          <a:prstGeom prst="rect">
            <a:avLst/>
          </a:prstGeom>
        </p:spPr>
      </p:pic>
      <p:pic>
        <p:nvPicPr>
          <p:cNvPr id="12" name="Picture 11" descr="image.png"/>
          <p:cNvPicPr>
            <a:picLocks noChangeAspect="1"/>
          </p:cNvPicPr>
          <p:nvPr/>
        </p:nvPicPr>
        <p:blipFill>
          <a:blip r:embed="rId2"/>
          <a:stretch>
            <a:fillRect/>
          </a:stretch>
        </p:blipFill>
        <p:spPr>
          <a:xfrm>
            <a:off x="4648200" y="3952875"/>
            <a:ext cx="133350" cy="152400"/>
          </a:xfrm>
          <a:prstGeom prst="rect">
            <a:avLst/>
          </a:prstGeom>
        </p:spPr>
      </p:pic>
      <p:pic>
        <p:nvPicPr>
          <p:cNvPr id="13" name="Picture 12" descr="image.png"/>
          <p:cNvPicPr>
            <a:picLocks noChangeAspect="1"/>
          </p:cNvPicPr>
          <p:nvPr/>
        </p:nvPicPr>
        <p:blipFill>
          <a:blip r:embed="rId2"/>
          <a:stretch>
            <a:fillRect/>
          </a:stretch>
        </p:blipFill>
        <p:spPr>
          <a:xfrm>
            <a:off x="4648200" y="4238625"/>
            <a:ext cx="133350" cy="152400"/>
          </a:xfrm>
          <a:prstGeom prst="rect">
            <a:avLst/>
          </a:prstGeom>
        </p:spPr>
      </p:pic>
      <p:pic>
        <p:nvPicPr>
          <p:cNvPr id="14" name="Picture 13" descr="image.png"/>
          <p:cNvPicPr>
            <a:picLocks noChangeAspect="1"/>
          </p:cNvPicPr>
          <p:nvPr/>
        </p:nvPicPr>
        <p:blipFill>
          <a:blip r:embed="rId2"/>
          <a:stretch>
            <a:fillRect/>
          </a:stretch>
        </p:blipFill>
        <p:spPr>
          <a:xfrm>
            <a:off x="8001000" y="3667125"/>
            <a:ext cx="133350" cy="152400"/>
          </a:xfrm>
          <a:prstGeom prst="rect">
            <a:avLst/>
          </a:prstGeom>
        </p:spPr>
      </p:pic>
      <p:pic>
        <p:nvPicPr>
          <p:cNvPr id="15" name="Picture 14" descr="image.png"/>
          <p:cNvPicPr>
            <a:picLocks noChangeAspect="1"/>
          </p:cNvPicPr>
          <p:nvPr/>
        </p:nvPicPr>
        <p:blipFill>
          <a:blip r:embed="rId2"/>
          <a:stretch>
            <a:fillRect/>
          </a:stretch>
        </p:blipFill>
        <p:spPr>
          <a:xfrm>
            <a:off x="8001000" y="3952875"/>
            <a:ext cx="133350" cy="152400"/>
          </a:xfrm>
          <a:prstGeom prst="rect">
            <a:avLst/>
          </a:prstGeom>
        </p:spPr>
      </p:pic>
      <p:pic>
        <p:nvPicPr>
          <p:cNvPr id="16" name="Picture 15" descr="image.png"/>
          <p:cNvPicPr>
            <a:picLocks noChangeAspect="1"/>
          </p:cNvPicPr>
          <p:nvPr/>
        </p:nvPicPr>
        <p:blipFill>
          <a:blip r:embed="rId2"/>
          <a:stretch>
            <a:fillRect/>
          </a:stretch>
        </p:blipFill>
        <p:spPr>
          <a:xfrm>
            <a:off x="8001000" y="4238625"/>
            <a:ext cx="133350" cy="152400"/>
          </a:xfrm>
          <a:prstGeom prst="rect">
            <a:avLst/>
          </a:prstGeom>
        </p:spPr>
      </p:pic>
      <p:sp>
        <p:nvSpPr>
          <p:cNvPr id="17" name="TextBox 16"/>
          <p:cNvSpPr txBox="1"/>
          <p:nvPr/>
        </p:nvSpPr>
        <p:spPr>
          <a:xfrm>
            <a:off x="2295525" y="2362200"/>
            <a:ext cx="895350" cy="609600"/>
          </a:xfrm>
          <a:prstGeom prst="rect">
            <a:avLst/>
          </a:prstGeom>
          <a:noFill/>
        </p:spPr>
        <p:txBody>
          <a:bodyPr wrap="square" lIns="0" tIns="0" rIns="0" bIns="0" anchor="ctr">
            <a:spAutoFit/>
          </a:bodyPr>
          <a:lstStyle/>
          <a:p>
            <a:pPr algn="ctr"/>
            <a:r>
              <a:rPr sz="1800" b="1" i="0" u="none">
                <a:solidFill>
                  <a:srgbClr val="FAF8F5"/>
                </a:solidFill>
                <a:latin typeface="Nunito"/>
              </a:rPr>
              <a:t>1</a:t>
            </a:r>
          </a:p>
        </p:txBody>
      </p:sp>
      <p:sp>
        <p:nvSpPr>
          <p:cNvPr id="18" name="TextBox 17"/>
          <p:cNvSpPr txBox="1"/>
          <p:nvPr/>
        </p:nvSpPr>
        <p:spPr>
          <a:xfrm>
            <a:off x="842962" y="3200400"/>
            <a:ext cx="3800475" cy="590550"/>
          </a:xfrm>
          <a:prstGeom prst="rect">
            <a:avLst/>
          </a:prstGeom>
          <a:noFill/>
        </p:spPr>
        <p:txBody>
          <a:bodyPr wrap="square" lIns="0" tIns="0" rIns="0" bIns="0" anchor="t">
            <a:spAutoFit/>
          </a:bodyPr>
          <a:lstStyle/>
          <a:p>
            <a:pPr algn="ctr"/>
            <a:r>
              <a:rPr sz="1800" b="1" i="0" u="none">
                <a:solidFill>
                  <a:srgbClr val="4A3B32"/>
                </a:solidFill>
                <a:latin typeface="Lora"/>
              </a:rPr>
              <a:t>Hygiene &amp; Standardization</a:t>
            </a:r>
          </a:p>
        </p:txBody>
      </p:sp>
      <p:sp>
        <p:nvSpPr>
          <p:cNvPr id="19" name="TextBox 18"/>
          <p:cNvSpPr txBox="1"/>
          <p:nvPr/>
        </p:nvSpPr>
        <p:spPr>
          <a:xfrm>
            <a:off x="5648325" y="2362200"/>
            <a:ext cx="895350" cy="609600"/>
          </a:xfrm>
          <a:prstGeom prst="rect">
            <a:avLst/>
          </a:prstGeom>
          <a:noFill/>
        </p:spPr>
        <p:txBody>
          <a:bodyPr wrap="square" lIns="0" tIns="0" rIns="0" bIns="0" anchor="ctr">
            <a:spAutoFit/>
          </a:bodyPr>
          <a:lstStyle/>
          <a:p>
            <a:pPr algn="ctr"/>
            <a:r>
              <a:rPr sz="1800" b="1" i="0" u="none">
                <a:solidFill>
                  <a:srgbClr val="FAF8F5"/>
                </a:solidFill>
                <a:latin typeface="Nunito"/>
              </a:rPr>
              <a:t>2</a:t>
            </a:r>
          </a:p>
        </p:txBody>
      </p:sp>
      <p:sp>
        <p:nvSpPr>
          <p:cNvPr id="20" name="TextBox 19"/>
          <p:cNvSpPr txBox="1"/>
          <p:nvPr/>
        </p:nvSpPr>
        <p:spPr>
          <a:xfrm>
            <a:off x="4195762" y="3200400"/>
            <a:ext cx="3800475" cy="295275"/>
          </a:xfrm>
          <a:prstGeom prst="rect">
            <a:avLst/>
          </a:prstGeom>
          <a:noFill/>
        </p:spPr>
        <p:txBody>
          <a:bodyPr wrap="none" lIns="0" tIns="0" rIns="0" bIns="0" anchor="t">
            <a:spAutoFit/>
          </a:bodyPr>
          <a:lstStyle/>
          <a:p>
            <a:pPr algn="ctr"/>
            <a:r>
              <a:rPr sz="1800" b="1" i="0" u="none">
                <a:solidFill>
                  <a:srgbClr val="4A3B32"/>
                </a:solidFill>
                <a:latin typeface="Lora"/>
              </a:rPr>
              <a:t>Formatting &amp; Outliers</a:t>
            </a:r>
          </a:p>
        </p:txBody>
      </p:sp>
      <p:sp>
        <p:nvSpPr>
          <p:cNvPr id="21" name="TextBox 20"/>
          <p:cNvSpPr txBox="1"/>
          <p:nvPr/>
        </p:nvSpPr>
        <p:spPr>
          <a:xfrm>
            <a:off x="9001125" y="2362200"/>
            <a:ext cx="895350" cy="609600"/>
          </a:xfrm>
          <a:prstGeom prst="rect">
            <a:avLst/>
          </a:prstGeom>
          <a:noFill/>
        </p:spPr>
        <p:txBody>
          <a:bodyPr wrap="square" lIns="0" tIns="0" rIns="0" bIns="0" anchor="ctr">
            <a:spAutoFit/>
          </a:bodyPr>
          <a:lstStyle/>
          <a:p>
            <a:pPr algn="ctr"/>
            <a:r>
              <a:rPr sz="1800" b="1" i="0" u="none">
                <a:solidFill>
                  <a:srgbClr val="4A3B32"/>
                </a:solidFill>
                <a:latin typeface="Nunito"/>
              </a:rPr>
              <a:t>3</a:t>
            </a:r>
          </a:p>
        </p:txBody>
      </p:sp>
      <p:sp>
        <p:nvSpPr>
          <p:cNvPr id="22" name="TextBox 21"/>
          <p:cNvSpPr txBox="1"/>
          <p:nvPr/>
        </p:nvSpPr>
        <p:spPr>
          <a:xfrm>
            <a:off x="7548562" y="3200400"/>
            <a:ext cx="3800475" cy="295275"/>
          </a:xfrm>
          <a:prstGeom prst="rect">
            <a:avLst/>
          </a:prstGeom>
          <a:noFill/>
        </p:spPr>
        <p:txBody>
          <a:bodyPr wrap="none" lIns="0" tIns="0" rIns="0" bIns="0" anchor="t">
            <a:spAutoFit/>
          </a:bodyPr>
          <a:lstStyle/>
          <a:p>
            <a:pPr algn="ctr"/>
            <a:r>
              <a:rPr sz="1800" b="1" i="0" u="none">
                <a:solidFill>
                  <a:srgbClr val="4A3B32"/>
                </a:solidFill>
                <a:latin typeface="Lora"/>
              </a:rPr>
              <a:t>Model Loading</a:t>
            </a:r>
          </a:p>
        </p:txBody>
      </p:sp>
      <p:sp>
        <p:nvSpPr>
          <p:cNvPr id="23" name="TextBox 22"/>
          <p:cNvSpPr txBox="1"/>
          <p:nvPr/>
        </p:nvSpPr>
        <p:spPr>
          <a:xfrm>
            <a:off x="1333500" y="3943350"/>
            <a:ext cx="3619500" cy="209550"/>
          </a:xfrm>
          <a:prstGeom prst="rect">
            <a:avLst/>
          </a:prstGeom>
          <a:noFill/>
        </p:spPr>
        <p:txBody>
          <a:bodyPr wrap="none" lIns="209550" tIns="0" rIns="0" bIns="0" anchor="t">
            <a:spAutoFit/>
          </a:bodyPr>
          <a:lstStyle/>
          <a:p>
            <a:pPr algn="l"/>
            <a:r>
              <a:rPr sz="1200" b="0" i="0" u="none">
                <a:solidFill>
                  <a:srgbClr val="6B5A4E"/>
                </a:solidFill>
                <a:latin typeface="Nunito"/>
              </a:rPr>
              <a:t>Removed duplicate rows.</a:t>
            </a:r>
          </a:p>
        </p:txBody>
      </p:sp>
      <p:sp>
        <p:nvSpPr>
          <p:cNvPr id="24" name="TextBox 23"/>
          <p:cNvSpPr txBox="1"/>
          <p:nvPr/>
        </p:nvSpPr>
        <p:spPr>
          <a:xfrm>
            <a:off x="1295400" y="4229100"/>
            <a:ext cx="3619500" cy="209550"/>
          </a:xfrm>
          <a:prstGeom prst="rect">
            <a:avLst/>
          </a:prstGeom>
          <a:noFill/>
        </p:spPr>
        <p:txBody>
          <a:bodyPr wrap="none" lIns="209550" tIns="0" rIns="0" bIns="0" anchor="t">
            <a:spAutoFit/>
          </a:bodyPr>
          <a:lstStyle/>
          <a:p>
            <a:pPr algn="l"/>
            <a:r>
              <a:rPr sz="1200" b="0" i="0" u="none">
                <a:solidFill>
                  <a:srgbClr val="6B5A4E"/>
                </a:solidFill>
                <a:latin typeface="Nunito"/>
              </a:rPr>
              <a:t>Handled null values.</a:t>
            </a:r>
          </a:p>
        </p:txBody>
      </p:sp>
      <p:sp>
        <p:nvSpPr>
          <p:cNvPr id="25" name="TextBox 24"/>
          <p:cNvSpPr txBox="1"/>
          <p:nvPr/>
        </p:nvSpPr>
        <p:spPr>
          <a:xfrm>
            <a:off x="1295400" y="4514850"/>
            <a:ext cx="3619500" cy="209550"/>
          </a:xfrm>
          <a:prstGeom prst="rect">
            <a:avLst/>
          </a:prstGeom>
          <a:noFill/>
        </p:spPr>
        <p:txBody>
          <a:bodyPr wrap="none" lIns="209550" tIns="0" rIns="0" bIns="0" anchor="t">
            <a:spAutoFit/>
          </a:bodyPr>
          <a:lstStyle/>
          <a:p>
            <a:pPr algn="l"/>
            <a:r>
              <a:rPr sz="1200" b="0" i="0" u="none">
                <a:solidFill>
                  <a:srgbClr val="6B5A4E"/>
                </a:solidFill>
                <a:latin typeface="Nunito"/>
              </a:rPr>
              <a:t>Standardized text casing.</a:t>
            </a:r>
          </a:p>
        </p:txBody>
      </p:sp>
      <p:sp>
        <p:nvSpPr>
          <p:cNvPr id="26" name="TextBox 25"/>
          <p:cNvSpPr txBox="1"/>
          <p:nvPr/>
        </p:nvSpPr>
        <p:spPr>
          <a:xfrm>
            <a:off x="4648200" y="3648075"/>
            <a:ext cx="3619500" cy="209550"/>
          </a:xfrm>
          <a:prstGeom prst="rect">
            <a:avLst/>
          </a:prstGeom>
          <a:noFill/>
        </p:spPr>
        <p:txBody>
          <a:bodyPr wrap="none" lIns="209550" tIns="0" rIns="0" bIns="0" anchor="t">
            <a:spAutoFit/>
          </a:bodyPr>
          <a:lstStyle/>
          <a:p>
            <a:pPr algn="l"/>
            <a:r>
              <a:rPr sz="1200" b="0" i="0" u="none">
                <a:solidFill>
                  <a:srgbClr val="6B5A4E"/>
                </a:solidFill>
                <a:latin typeface="Nunito"/>
              </a:rPr>
              <a:t>Converted date/time types.</a:t>
            </a:r>
          </a:p>
        </p:txBody>
      </p:sp>
      <p:sp>
        <p:nvSpPr>
          <p:cNvPr id="27" name="TextBox 26"/>
          <p:cNvSpPr txBox="1"/>
          <p:nvPr/>
        </p:nvSpPr>
        <p:spPr>
          <a:xfrm>
            <a:off x="4648200" y="3933825"/>
            <a:ext cx="3619500" cy="209550"/>
          </a:xfrm>
          <a:prstGeom prst="rect">
            <a:avLst/>
          </a:prstGeom>
          <a:noFill/>
        </p:spPr>
        <p:txBody>
          <a:bodyPr wrap="none" lIns="209550" tIns="0" rIns="0" bIns="0" anchor="t">
            <a:spAutoFit/>
          </a:bodyPr>
          <a:lstStyle/>
          <a:p>
            <a:pPr algn="l"/>
            <a:r>
              <a:rPr sz="1200" b="0" i="0" u="none">
                <a:solidFill>
                  <a:srgbClr val="6B5A4E"/>
                </a:solidFill>
                <a:latin typeface="Nunito"/>
              </a:rPr>
              <a:t>Filtered pricing anomalies.</a:t>
            </a:r>
          </a:p>
        </p:txBody>
      </p:sp>
      <p:sp>
        <p:nvSpPr>
          <p:cNvPr id="28" name="TextBox 27"/>
          <p:cNvSpPr txBox="1"/>
          <p:nvPr/>
        </p:nvSpPr>
        <p:spPr>
          <a:xfrm>
            <a:off x="4648200" y="4219575"/>
            <a:ext cx="3619500" cy="209550"/>
          </a:xfrm>
          <a:prstGeom prst="rect">
            <a:avLst/>
          </a:prstGeom>
          <a:noFill/>
        </p:spPr>
        <p:txBody>
          <a:bodyPr wrap="none" lIns="209550" tIns="0" rIns="0" bIns="0" anchor="t">
            <a:spAutoFit/>
          </a:bodyPr>
          <a:lstStyle/>
          <a:p>
            <a:pPr algn="l"/>
            <a:r>
              <a:rPr sz="1200" b="0" i="0" u="none">
                <a:solidFill>
                  <a:srgbClr val="6B5A4E"/>
                </a:solidFill>
                <a:latin typeface="Nunito"/>
              </a:rPr>
              <a:t>Validated transaction quantities.</a:t>
            </a:r>
          </a:p>
        </p:txBody>
      </p:sp>
      <p:sp>
        <p:nvSpPr>
          <p:cNvPr id="29" name="TextBox 28"/>
          <p:cNvSpPr txBox="1"/>
          <p:nvPr/>
        </p:nvSpPr>
        <p:spPr>
          <a:xfrm>
            <a:off x="8001000" y="3648075"/>
            <a:ext cx="3619500" cy="209550"/>
          </a:xfrm>
          <a:prstGeom prst="rect">
            <a:avLst/>
          </a:prstGeom>
          <a:noFill/>
        </p:spPr>
        <p:txBody>
          <a:bodyPr wrap="none" lIns="209550" tIns="0" rIns="0" bIns="0" anchor="t">
            <a:spAutoFit/>
          </a:bodyPr>
          <a:lstStyle/>
          <a:p>
            <a:pPr algn="l"/>
            <a:r>
              <a:rPr sz="1200" b="0" i="0" u="none">
                <a:solidFill>
                  <a:srgbClr val="6B5A4E"/>
                </a:solidFill>
                <a:latin typeface="Nunito"/>
              </a:rPr>
              <a:t>Optimized for Pivot Tables.</a:t>
            </a:r>
          </a:p>
        </p:txBody>
      </p:sp>
      <p:sp>
        <p:nvSpPr>
          <p:cNvPr id="30" name="TextBox 29"/>
          <p:cNvSpPr txBox="1"/>
          <p:nvPr/>
        </p:nvSpPr>
        <p:spPr>
          <a:xfrm>
            <a:off x="8001000" y="3933825"/>
            <a:ext cx="3619500" cy="209550"/>
          </a:xfrm>
          <a:prstGeom prst="rect">
            <a:avLst/>
          </a:prstGeom>
          <a:noFill/>
        </p:spPr>
        <p:txBody>
          <a:bodyPr wrap="none" lIns="209550" tIns="0" rIns="0" bIns="0" anchor="t">
            <a:spAutoFit/>
          </a:bodyPr>
          <a:lstStyle/>
          <a:p>
            <a:pPr algn="l"/>
            <a:r>
              <a:rPr sz="1200" b="0" i="0" u="none">
                <a:solidFill>
                  <a:srgbClr val="6B5A4E"/>
                </a:solidFill>
                <a:latin typeface="Nunito"/>
              </a:rPr>
              <a:t>Loaded clean table to Excel.</a:t>
            </a:r>
          </a:p>
        </p:txBody>
      </p:sp>
      <p:sp>
        <p:nvSpPr>
          <p:cNvPr id="31" name="TextBox 30"/>
          <p:cNvSpPr txBox="1"/>
          <p:nvPr/>
        </p:nvSpPr>
        <p:spPr>
          <a:xfrm>
            <a:off x="8001000" y="4219575"/>
            <a:ext cx="3619500" cy="209550"/>
          </a:xfrm>
          <a:prstGeom prst="rect">
            <a:avLst/>
          </a:prstGeom>
          <a:noFill/>
        </p:spPr>
        <p:txBody>
          <a:bodyPr wrap="none" lIns="209550" tIns="0" rIns="0" bIns="0" anchor="t">
            <a:spAutoFit/>
          </a:bodyPr>
          <a:lstStyle/>
          <a:p>
            <a:pPr algn="l"/>
            <a:r>
              <a:rPr sz="1200" b="0" i="0" u="none">
                <a:solidFill>
                  <a:srgbClr val="6B5A4E"/>
                </a:solidFill>
                <a:latin typeface="Nunito"/>
              </a:rPr>
              <a:t>Verified 100% error-free.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useBgFill="1">
        <p:nvSpPr>
          <p:cNvPr id="184" name="Rectangle 183">
            <a:extLst>
              <a:ext uri="{FF2B5EF4-FFF2-40B4-BE49-F238E27FC236}">
                <a16:creationId xmlns="" xmlns:a16="http://schemas.microsoft.com/office/drawing/2014/main" id="{BC68A55F-7B32-44D8-AEE5-1AF40532656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 xmlns:a16="http://schemas.microsoft.com/office/drawing/2014/main" id="{CD1AAA2C-FBBE-42AA-B869-31D524B7653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55320" y="6112341"/>
            <a:ext cx="10835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8" name="Rectangle 187">
            <a:extLst>
              <a:ext uri="{FF2B5EF4-FFF2-40B4-BE49-F238E27FC236}">
                <a16:creationId xmlns="" xmlns:a16="http://schemas.microsoft.com/office/drawing/2014/main" id="{5F937BBF-9326-4230-AB1B-F1795E35055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2045208" y="4686084"/>
            <a:ext cx="54864" cy="2834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79" name="TextBox 1">
            <a:extLst>
              <a:ext uri="{FF2B5EF4-FFF2-40B4-BE49-F238E27FC236}">
                <a16:creationId xmlns="" xmlns:a16="http://schemas.microsoft.com/office/drawing/2014/main" id="{7AFF095A-7C4B-AF35-D808-3DA49FB5BB7C}"/>
              </a:ext>
            </a:extLst>
          </p:cNvPr>
          <p:cNvGraphicFramePr/>
          <p:nvPr>
            <p:extLst>
              <p:ext uri="{D42A27DB-BD31-4B8C-83A1-F6EECF244321}">
                <p14:modId xmlns:p14="http://schemas.microsoft.com/office/powerpoint/2010/main" val="3244984083"/>
              </p:ext>
            </p:extLst>
          </p:nvPr>
        </p:nvGraphicFramePr>
        <p:xfrm>
          <a:off x="4041648" y="176645"/>
          <a:ext cx="7452360" cy="5712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 xmlns:a16="http://schemas.microsoft.com/office/drawing/2014/main" id="{8CBAED6F-8E51-3A4A-6B77-73C6F7B8DE4A}"/>
              </a:ext>
            </a:extLst>
          </p:cNvPr>
          <p:cNvSpPr txBox="1"/>
          <p:nvPr/>
        </p:nvSpPr>
        <p:spPr>
          <a:xfrm>
            <a:off x="4041648" y="176645"/>
            <a:ext cx="5974773" cy="369332"/>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Business insights</a:t>
            </a:r>
          </a:p>
        </p:txBody>
      </p:sp>
    </p:spTree>
    <p:extLst>
      <p:ext uri="{BB962C8B-B14F-4D97-AF65-F5344CB8AC3E}">
        <p14:creationId xmlns:p14="http://schemas.microsoft.com/office/powerpoint/2010/main" val="1153972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Rounded Rectangle 1"/>
          <p:cNvSpPr/>
          <p:nvPr/>
        </p:nvSpPr>
        <p:spPr>
          <a:xfrm>
            <a:off x="762000" y="2209800"/>
            <a:ext cx="10668000" cy="2609850"/>
          </a:xfrm>
          <a:prstGeom prst="roundRect">
            <a:avLst>
              <a:gd name="adj" fmla="val 437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62000" y="3233737"/>
            <a:ext cx="2039838"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801838" y="3233737"/>
            <a:ext cx="3435548"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237386" y="3233737"/>
            <a:ext cx="5192613"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62000" y="3757612"/>
            <a:ext cx="2039838"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801838" y="3757612"/>
            <a:ext cx="3435548"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37386" y="3757612"/>
            <a:ext cx="5192613"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2000" y="4281487"/>
            <a:ext cx="2039838"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801838" y="4281487"/>
            <a:ext cx="3435548"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37386" y="4281487"/>
            <a:ext cx="5192613"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62000" y="4805362"/>
            <a:ext cx="2039838"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801838" y="4805362"/>
            <a:ext cx="3435548"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37386" y="4805362"/>
            <a:ext cx="5192613" cy="9525"/>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extLst>
              <p:ext uri="{D42A27DB-BD31-4B8C-83A1-F6EECF244321}">
                <p14:modId xmlns:p14="http://schemas.microsoft.com/office/powerpoint/2010/main" val="706555430"/>
              </p:ext>
            </p:extLst>
          </p:nvPr>
        </p:nvGraphicFramePr>
        <p:xfrm>
          <a:off x="766916" y="2209800"/>
          <a:ext cx="10663083" cy="4175760"/>
        </p:xfrm>
        <a:graphic>
          <a:graphicData uri="http://schemas.openxmlformats.org/drawingml/2006/table">
            <a:tbl>
              <a:tblPr/>
              <a:tblGrid>
                <a:gridCol w="2034922">
                  <a:extLst>
                    <a:ext uri="{9D8B030D-6E8A-4147-A177-3AD203B41FA5}">
                      <a16:colId xmlns="" xmlns:a16="http://schemas.microsoft.com/office/drawing/2014/main" val="20000"/>
                    </a:ext>
                  </a:extLst>
                </a:gridCol>
                <a:gridCol w="3435548">
                  <a:extLst>
                    <a:ext uri="{9D8B030D-6E8A-4147-A177-3AD203B41FA5}">
                      <a16:colId xmlns="" xmlns:a16="http://schemas.microsoft.com/office/drawing/2014/main" val="20001"/>
                    </a:ext>
                  </a:extLst>
                </a:gridCol>
                <a:gridCol w="5192613">
                  <a:extLst>
                    <a:ext uri="{9D8B030D-6E8A-4147-A177-3AD203B41FA5}">
                      <a16:colId xmlns="" xmlns:a16="http://schemas.microsoft.com/office/drawing/2014/main" val="20002"/>
                    </a:ext>
                  </a:extLst>
                </a:gridCol>
              </a:tblGrid>
              <a:tr h="521970">
                <a:tc>
                  <a:txBody>
                    <a:bodyPr/>
                    <a:lstStyle/>
                    <a:p>
                      <a:pPr algn="l"/>
                      <a:r>
                        <a:rPr sz="1200" b="1" i="0" u="none" dirty="0">
                          <a:solidFill>
                            <a:srgbClr val="FAF8F5"/>
                          </a:solidFill>
                          <a:latin typeface="Nunito"/>
                        </a:rPr>
                        <a:t>Generated Column</a:t>
                      </a:r>
                    </a:p>
                  </a:txBody>
                  <a:tcPr marL="63500" marR="63500" marT="25400" marB="25400" anchor="ctr">
                    <a:lnL>
                      <a:noFill/>
                    </a:lnL>
                    <a:lnR>
                      <a:noFill/>
                    </a:lnR>
                    <a:lnT>
                      <a:noFill/>
                    </a:lnT>
                    <a:lnB>
                      <a:noFill/>
                    </a:lnB>
                    <a:solidFill>
                      <a:srgbClr val="4A3B32"/>
                    </a:solidFill>
                  </a:tcPr>
                </a:tc>
                <a:tc>
                  <a:txBody>
                    <a:bodyPr/>
                    <a:lstStyle/>
                    <a:p>
                      <a:pPr algn="l"/>
                      <a:r>
                        <a:rPr sz="1200" b="1" i="0" u="none">
                          <a:solidFill>
                            <a:srgbClr val="FAF8F5"/>
                          </a:solidFill>
                          <a:latin typeface="Nunito"/>
                        </a:rPr>
                        <a:t>Purpose / Dimension</a:t>
                      </a:r>
                    </a:p>
                  </a:txBody>
                  <a:tcPr marL="63500" marR="63500" marT="25400" marB="25400" anchor="ctr">
                    <a:lnL>
                      <a:noFill/>
                    </a:lnL>
                    <a:lnR>
                      <a:noFill/>
                    </a:lnR>
                    <a:lnT>
                      <a:noFill/>
                    </a:lnT>
                    <a:lnB>
                      <a:noFill/>
                    </a:lnB>
                    <a:solidFill>
                      <a:srgbClr val="4A3B32"/>
                    </a:solidFill>
                  </a:tcPr>
                </a:tc>
                <a:tc>
                  <a:txBody>
                    <a:bodyPr/>
                    <a:lstStyle/>
                    <a:p>
                      <a:pPr algn="l"/>
                      <a:r>
                        <a:rPr sz="1200" b="1" i="0" u="none">
                          <a:solidFill>
                            <a:srgbClr val="FAF8F5"/>
                          </a:solidFill>
                          <a:latin typeface="Nunito"/>
                        </a:rPr>
                        <a:t>Logic Structure</a:t>
                      </a:r>
                    </a:p>
                  </a:txBody>
                  <a:tcPr marL="63500" marR="63500" marT="25400" marB="25400" anchor="ctr">
                    <a:lnL>
                      <a:noFill/>
                    </a:lnL>
                    <a:lnR>
                      <a:noFill/>
                    </a:lnR>
                    <a:lnT>
                      <a:noFill/>
                    </a:lnT>
                    <a:lnB>
                      <a:noFill/>
                    </a:lnB>
                    <a:solidFill>
                      <a:srgbClr val="4A3B32"/>
                    </a:solidFill>
                  </a:tcPr>
                </a:tc>
                <a:extLst>
                  <a:ext uri="{0D108BD9-81ED-4DB2-BD59-A6C34878D82A}">
                    <a16:rowId xmlns="" xmlns:a16="http://schemas.microsoft.com/office/drawing/2014/main" val="10000"/>
                  </a:ext>
                </a:extLst>
              </a:tr>
              <a:tr h="521970">
                <a:tc>
                  <a:txBody>
                    <a:bodyPr/>
                    <a:lstStyle/>
                    <a:p>
                      <a:pPr algn="l"/>
                      <a:r>
                        <a:rPr sz="1200" b="1" i="0" u="none" dirty="0">
                          <a:solidFill>
                            <a:srgbClr val="2C241B"/>
                          </a:solidFill>
                          <a:latin typeface="Nunito"/>
                        </a:rPr>
                        <a:t>Total Sales</a:t>
                      </a:r>
                    </a:p>
                  </a:txBody>
                  <a:tcPr marL="63500" marR="63500" marT="25400" marB="25400" anchor="ctr">
                    <a:lnL>
                      <a:noFill/>
                    </a:lnL>
                    <a:lnR>
                      <a:noFill/>
                    </a:lnR>
                    <a:lnT>
                      <a:noFill/>
                    </a:lnT>
                    <a:lnB>
                      <a:noFill/>
                    </a:lnB>
                    <a:solidFill>
                      <a:srgbClr val="FFFFFF"/>
                    </a:solidFill>
                  </a:tcPr>
                </a:tc>
                <a:tc>
                  <a:txBody>
                    <a:bodyPr/>
                    <a:lstStyle/>
                    <a:p>
                      <a:pPr algn="l"/>
                      <a:r>
                        <a:rPr sz="1200" b="0" i="0" u="none">
                          <a:solidFill>
                            <a:srgbClr val="2C241B"/>
                          </a:solidFill>
                          <a:latin typeface="Nunito"/>
                        </a:rPr>
                        <a:t>Calculate revenue per order row.</a:t>
                      </a:r>
                    </a:p>
                  </a:txBody>
                  <a:tcPr marL="63500" marR="63500" marT="25400" marB="25400" anchor="ctr">
                    <a:lnL>
                      <a:noFill/>
                    </a:lnL>
                    <a:lnR>
                      <a:noFill/>
                    </a:lnR>
                    <a:lnT>
                      <a:noFill/>
                    </a:lnT>
                    <a:lnB>
                      <a:noFill/>
                    </a:lnB>
                    <a:solidFill>
                      <a:srgbClr val="FFFFFF"/>
                    </a:solidFill>
                  </a:tcPr>
                </a:tc>
                <a:tc>
                  <a:txBody>
                    <a:bodyPr/>
                    <a:lstStyle/>
                    <a:p>
                      <a:pPr algn="l"/>
                      <a:r>
                        <a:rPr sz="1200" b="0" i="0" u="none">
                          <a:solidFill>
                            <a:srgbClr val="8C5E3C"/>
                          </a:solidFill>
                          <a:latin typeface="monospace"/>
                        </a:rPr>
                        <a:t>=[@transaction_qty] * [@unit_price]</a:t>
                      </a:r>
                    </a:p>
                  </a:txBody>
                  <a:tcPr marL="63500" marR="63500" marT="25400" marB="25400" anchor="ctr">
                    <a:lnL>
                      <a:noFill/>
                    </a:lnL>
                    <a:lnR>
                      <a:noFill/>
                    </a:lnR>
                    <a:lnT>
                      <a:noFill/>
                    </a:lnT>
                    <a:lnB>
                      <a:noFill/>
                    </a:lnB>
                    <a:solidFill>
                      <a:srgbClr val="FFFFFF"/>
                    </a:solidFill>
                  </a:tcPr>
                </a:tc>
                <a:extLst>
                  <a:ext uri="{0D108BD9-81ED-4DB2-BD59-A6C34878D82A}">
                    <a16:rowId xmlns="" xmlns:a16="http://schemas.microsoft.com/office/drawing/2014/main" val="10001"/>
                  </a:ext>
                </a:extLst>
              </a:tr>
              <a:tr h="521970">
                <a:tc>
                  <a:txBody>
                    <a:bodyPr/>
                    <a:lstStyle/>
                    <a:p>
                      <a:pPr algn="l"/>
                      <a:r>
                        <a:rPr sz="1200" b="1" i="0" u="none" dirty="0">
                          <a:solidFill>
                            <a:srgbClr val="2C241B"/>
                          </a:solidFill>
                          <a:latin typeface="Nunito"/>
                        </a:rPr>
                        <a:t>Time Period</a:t>
                      </a:r>
                    </a:p>
                  </a:txBody>
                  <a:tcPr marL="63500" marR="63500" marT="25400" marB="25400" anchor="ctr">
                    <a:lnL>
                      <a:noFill/>
                    </a:lnL>
                    <a:lnR>
                      <a:noFill/>
                    </a:lnR>
                    <a:lnT>
                      <a:noFill/>
                    </a:lnT>
                    <a:lnB>
                      <a:noFill/>
                    </a:lnB>
                    <a:solidFill>
                      <a:srgbClr val="F5F0E6"/>
                    </a:solidFill>
                  </a:tcPr>
                </a:tc>
                <a:tc>
                  <a:txBody>
                    <a:bodyPr/>
                    <a:lstStyle/>
                    <a:p>
                      <a:pPr algn="l"/>
                      <a:r>
                        <a:rPr sz="1200" b="0" i="0" u="none" dirty="0">
                          <a:solidFill>
                            <a:srgbClr val="2C241B"/>
                          </a:solidFill>
                          <a:latin typeface="Nunito"/>
                        </a:rPr>
                        <a:t>Group hours into operational shifts.</a:t>
                      </a:r>
                    </a:p>
                  </a:txBody>
                  <a:tcPr marL="63500" marR="63500" marT="25400" marB="25400" anchor="ctr">
                    <a:lnL>
                      <a:noFill/>
                    </a:lnL>
                    <a:lnR>
                      <a:noFill/>
                    </a:lnR>
                    <a:lnT>
                      <a:noFill/>
                    </a:lnT>
                    <a:lnB>
                      <a:noFill/>
                    </a:lnB>
                    <a:solidFill>
                      <a:srgbClr val="F5F0E6"/>
                    </a:solidFill>
                  </a:tcPr>
                </a:tc>
                <a:tc>
                  <a:txBody>
                    <a:bodyPr/>
                    <a:lstStyle/>
                    <a:p>
                      <a:pPr algn="l"/>
                      <a:r>
                        <a:rPr sz="1200" b="0" i="0" u="none">
                          <a:solidFill>
                            <a:srgbClr val="8C5E3C"/>
                          </a:solidFill>
                          <a:latin typeface="monospace"/>
                        </a:rPr>
                        <a:t>=IF([@hour]&lt;11, "Morning", "Afternoon"...)</a:t>
                      </a:r>
                    </a:p>
                  </a:txBody>
                  <a:tcPr marL="63500" marR="63500" marT="25400" marB="25400" anchor="ctr">
                    <a:lnL>
                      <a:noFill/>
                    </a:lnL>
                    <a:lnR>
                      <a:noFill/>
                    </a:lnR>
                    <a:lnT>
                      <a:noFill/>
                    </a:lnT>
                    <a:lnB>
                      <a:noFill/>
                    </a:lnB>
                    <a:solidFill>
                      <a:srgbClr val="F5F0E6"/>
                    </a:solidFill>
                  </a:tcPr>
                </a:tc>
                <a:extLst>
                  <a:ext uri="{0D108BD9-81ED-4DB2-BD59-A6C34878D82A}">
                    <a16:rowId xmlns="" xmlns:a16="http://schemas.microsoft.com/office/drawing/2014/main" val="10002"/>
                  </a:ext>
                </a:extLst>
              </a:tr>
              <a:tr h="521970">
                <a:tc>
                  <a:txBody>
                    <a:bodyPr/>
                    <a:lstStyle/>
                    <a:p>
                      <a:pPr algn="l"/>
                      <a:r>
                        <a:rPr sz="1200" b="1" i="0" u="none" dirty="0">
                          <a:solidFill>
                            <a:srgbClr val="2C241B"/>
                          </a:solidFill>
                          <a:latin typeface="Nunito"/>
                        </a:rPr>
                        <a:t>Price Category</a:t>
                      </a:r>
                    </a:p>
                  </a:txBody>
                  <a:tcPr marL="63500" marR="63500" marT="25400" marB="25400" anchor="ctr">
                    <a:lnL>
                      <a:noFill/>
                    </a:lnL>
                    <a:lnR>
                      <a:noFill/>
                    </a:lnR>
                    <a:lnT>
                      <a:noFill/>
                    </a:lnT>
                    <a:lnB>
                      <a:noFill/>
                    </a:lnB>
                    <a:solidFill>
                      <a:srgbClr val="FFFFFF"/>
                    </a:solidFill>
                  </a:tcPr>
                </a:tc>
                <a:tc>
                  <a:txBody>
                    <a:bodyPr/>
                    <a:lstStyle/>
                    <a:p>
                      <a:pPr algn="l"/>
                      <a:r>
                        <a:rPr sz="1200" b="0" i="0" u="none" dirty="0">
                          <a:solidFill>
                            <a:srgbClr val="2C241B"/>
                          </a:solidFill>
                          <a:latin typeface="Nunito"/>
                        </a:rPr>
                        <a:t>Segment products by value tier.</a:t>
                      </a:r>
                    </a:p>
                  </a:txBody>
                  <a:tcPr marL="63500" marR="63500" marT="25400" marB="25400" anchor="ctr">
                    <a:lnL>
                      <a:noFill/>
                    </a:lnL>
                    <a:lnR>
                      <a:noFill/>
                    </a:lnR>
                    <a:lnT>
                      <a:noFill/>
                    </a:lnT>
                    <a:lnB>
                      <a:noFill/>
                    </a:lnB>
                    <a:solidFill>
                      <a:srgbClr val="FFFFFF"/>
                    </a:solidFill>
                  </a:tcPr>
                </a:tc>
                <a:tc>
                  <a:txBody>
                    <a:bodyPr/>
                    <a:lstStyle/>
                    <a:p>
                      <a:pPr algn="l"/>
                      <a:r>
                        <a:rPr sz="1200" b="0" i="0" u="none" dirty="0">
                          <a:solidFill>
                            <a:srgbClr val="8C5E3C"/>
                          </a:solidFill>
                          <a:latin typeface="monospace"/>
                        </a:rPr>
                        <a:t>=IF([@</a:t>
                      </a:r>
                      <a:r>
                        <a:rPr sz="1200" b="0" i="0" u="none" dirty="0" err="1">
                          <a:solidFill>
                            <a:srgbClr val="8C5E3C"/>
                          </a:solidFill>
                          <a:latin typeface="monospace"/>
                        </a:rPr>
                        <a:t>unit_price</a:t>
                      </a:r>
                      <a:r>
                        <a:rPr sz="1200" b="0" i="0" u="none" dirty="0">
                          <a:solidFill>
                            <a:srgbClr val="8C5E3C"/>
                          </a:solidFill>
                          <a:latin typeface="monospace"/>
                        </a:rPr>
                        <a:t>]&lt;3, "Low", "High")</a:t>
                      </a:r>
                    </a:p>
                  </a:txBody>
                  <a:tcPr marL="63500" marR="63500" marT="25400" marB="25400" anchor="ctr">
                    <a:lnL>
                      <a:noFill/>
                    </a:lnL>
                    <a:lnR>
                      <a:noFill/>
                    </a:lnR>
                    <a:lnT>
                      <a:noFill/>
                    </a:lnT>
                    <a:lnB>
                      <a:noFill/>
                    </a:lnB>
                    <a:solidFill>
                      <a:srgbClr val="FFFFFF"/>
                    </a:solidFill>
                  </a:tcPr>
                </a:tc>
                <a:extLst>
                  <a:ext uri="{0D108BD9-81ED-4DB2-BD59-A6C34878D82A}">
                    <a16:rowId xmlns="" xmlns:a16="http://schemas.microsoft.com/office/drawing/2014/main" val="10003"/>
                  </a:ext>
                </a:extLst>
              </a:tr>
              <a:tr h="521970">
                <a:tc>
                  <a:txBody>
                    <a:bodyPr/>
                    <a:lstStyle/>
                    <a:p>
                      <a:pPr algn="l"/>
                      <a:r>
                        <a:rPr sz="1200" b="1" i="0" u="none" dirty="0">
                          <a:solidFill>
                            <a:srgbClr val="2C241B"/>
                          </a:solidFill>
                          <a:latin typeface="Nunito"/>
                        </a:rPr>
                        <a:t>Month Name</a:t>
                      </a:r>
                    </a:p>
                  </a:txBody>
                  <a:tcPr marL="63500" marR="63500" marT="25400" marB="25400" anchor="ctr">
                    <a:lnL>
                      <a:noFill/>
                    </a:lnL>
                    <a:lnR>
                      <a:noFill/>
                    </a:lnR>
                    <a:lnT>
                      <a:noFill/>
                    </a:lnT>
                    <a:lnB>
                      <a:noFill/>
                    </a:lnB>
                    <a:solidFill>
                      <a:srgbClr val="F5F0E6"/>
                    </a:solidFill>
                  </a:tcPr>
                </a:tc>
                <a:tc>
                  <a:txBody>
                    <a:bodyPr/>
                    <a:lstStyle/>
                    <a:p>
                      <a:pPr algn="l"/>
                      <a:r>
                        <a:rPr sz="1200" b="0" i="0" u="none" dirty="0">
                          <a:solidFill>
                            <a:srgbClr val="2C241B"/>
                          </a:solidFill>
                          <a:latin typeface="Nunito"/>
                        </a:rPr>
                        <a:t>Enable seasonal trend analysis.</a:t>
                      </a:r>
                    </a:p>
                  </a:txBody>
                  <a:tcPr marL="63500" marR="63500" marT="25400" marB="25400" anchor="ctr">
                    <a:lnL>
                      <a:noFill/>
                    </a:lnL>
                    <a:lnR>
                      <a:noFill/>
                    </a:lnR>
                    <a:lnT>
                      <a:noFill/>
                    </a:lnT>
                    <a:lnB>
                      <a:noFill/>
                    </a:lnB>
                    <a:solidFill>
                      <a:srgbClr val="F5F0E6"/>
                    </a:solidFill>
                  </a:tcPr>
                </a:tc>
                <a:tc>
                  <a:txBody>
                    <a:bodyPr/>
                    <a:lstStyle/>
                    <a:p>
                      <a:pPr algn="l"/>
                      <a:r>
                        <a:rPr sz="1200" b="0" i="0" u="none" dirty="0">
                          <a:solidFill>
                            <a:srgbClr val="8C5E3C"/>
                          </a:solidFill>
                          <a:latin typeface="monospace"/>
                        </a:rPr>
                        <a:t>=TEXT([@</a:t>
                      </a:r>
                      <a:r>
                        <a:rPr sz="1200" b="0" i="0" u="none" dirty="0" err="1">
                          <a:solidFill>
                            <a:srgbClr val="8C5E3C"/>
                          </a:solidFill>
                          <a:latin typeface="monospace"/>
                        </a:rPr>
                        <a:t>transaction_date</a:t>
                      </a:r>
                      <a:r>
                        <a:rPr sz="1200" b="0" i="0" u="none" dirty="0">
                          <a:solidFill>
                            <a:srgbClr val="8C5E3C"/>
                          </a:solidFill>
                          <a:latin typeface="monospace"/>
                        </a:rPr>
                        <a:t>], "</a:t>
                      </a:r>
                      <a:r>
                        <a:rPr sz="1200" b="0" i="0" u="none" dirty="0" err="1">
                          <a:solidFill>
                            <a:srgbClr val="8C5E3C"/>
                          </a:solidFill>
                          <a:latin typeface="monospace"/>
                        </a:rPr>
                        <a:t>mmmm</a:t>
                      </a:r>
                      <a:r>
                        <a:rPr sz="1200" b="0" i="0" u="none" dirty="0">
                          <a:solidFill>
                            <a:srgbClr val="8C5E3C"/>
                          </a:solidFill>
                          <a:latin typeface="monospace"/>
                        </a:rPr>
                        <a:t>")</a:t>
                      </a:r>
                    </a:p>
                  </a:txBody>
                  <a:tcPr marL="63500" marR="63500" marT="25400" marB="25400" anchor="ctr">
                    <a:lnL>
                      <a:noFill/>
                    </a:lnL>
                    <a:lnR>
                      <a:noFill/>
                    </a:lnR>
                    <a:lnT>
                      <a:noFill/>
                    </a:lnT>
                    <a:lnB>
                      <a:noFill/>
                    </a:lnB>
                    <a:solidFill>
                      <a:srgbClr val="F5F0E6"/>
                    </a:solidFill>
                  </a:tcPr>
                </a:tc>
                <a:extLst>
                  <a:ext uri="{0D108BD9-81ED-4DB2-BD59-A6C34878D82A}">
                    <a16:rowId xmlns="" xmlns:a16="http://schemas.microsoft.com/office/drawing/2014/main" val="10004"/>
                  </a:ext>
                </a:extLst>
              </a:tr>
              <a:tr h="521970">
                <a:tc>
                  <a:txBody>
                    <a:bodyPr/>
                    <a:lstStyle/>
                    <a:p>
                      <a:pPr algn="l"/>
                      <a:r>
                        <a:rPr lang="en-US" sz="1200" b="1" i="0" u="none" dirty="0">
                          <a:solidFill>
                            <a:srgbClr val="2C241B"/>
                          </a:solidFill>
                          <a:latin typeface="Nunito"/>
                        </a:rPr>
                        <a:t>Year Name</a:t>
                      </a:r>
                      <a:endParaRPr sz="1200" b="1" i="0" u="none" dirty="0">
                        <a:solidFill>
                          <a:srgbClr val="2C241B"/>
                        </a:solidFill>
                        <a:latin typeface="Nunito"/>
                      </a:endParaRPr>
                    </a:p>
                  </a:txBody>
                  <a:tcPr marL="63500" marR="63500" marT="25400" marB="25400" anchor="ctr">
                    <a:lnL>
                      <a:noFill/>
                    </a:lnL>
                    <a:lnR>
                      <a:noFill/>
                    </a:lnR>
                    <a:lnT>
                      <a:noFill/>
                    </a:lnT>
                    <a:lnB>
                      <a:noFill/>
                    </a:lnB>
                    <a:solidFill>
                      <a:schemeClr val="bg1"/>
                    </a:solidFill>
                  </a:tcPr>
                </a:tc>
                <a:tc>
                  <a:txBody>
                    <a:bodyPr/>
                    <a:lstStyle/>
                    <a:p>
                      <a:pPr algn="l"/>
                      <a:r>
                        <a:rPr lang="en-US" sz="1200" b="0" i="0" u="none" dirty="0">
                          <a:solidFill>
                            <a:srgbClr val="2C241B"/>
                          </a:solidFill>
                          <a:latin typeface="Nunito"/>
                        </a:rPr>
                        <a:t>Enable seasonal trend analysis</a:t>
                      </a:r>
                      <a:endParaRPr sz="1200" b="0" i="0" u="none" dirty="0">
                        <a:solidFill>
                          <a:srgbClr val="2C241B"/>
                        </a:solidFill>
                        <a:latin typeface="Nunito"/>
                      </a:endParaRPr>
                    </a:p>
                  </a:txBody>
                  <a:tcPr marL="63500" marR="63500" marT="25400" marB="25400" anchor="ctr">
                    <a:lnL>
                      <a:noFill/>
                    </a:lnL>
                    <a:lnR>
                      <a:noFill/>
                    </a:lnR>
                    <a:lnT>
                      <a:noFill/>
                    </a:lnT>
                    <a:lnB>
                      <a:noFill/>
                    </a:lnB>
                    <a:solidFill>
                      <a:schemeClr val="bg1"/>
                    </a:solidFill>
                  </a:tcPr>
                </a:tc>
                <a:tc>
                  <a:txBody>
                    <a:bodyPr/>
                    <a:lstStyle/>
                    <a:p>
                      <a:pPr algn="l"/>
                      <a:r>
                        <a:rPr lang="en-US" sz="1200" b="0" i="0" u="none" dirty="0">
                          <a:solidFill>
                            <a:srgbClr val="8C5E3C"/>
                          </a:solidFill>
                          <a:latin typeface="monospace"/>
                        </a:rPr>
                        <a:t>=TEXT([@transaction date,] “</a:t>
                      </a:r>
                      <a:r>
                        <a:rPr lang="en-US" sz="1200" b="0" i="0" u="none" dirty="0" err="1">
                          <a:solidFill>
                            <a:srgbClr val="8C5E3C"/>
                          </a:solidFill>
                          <a:latin typeface="monospace"/>
                        </a:rPr>
                        <a:t>yyyyy</a:t>
                      </a:r>
                      <a:r>
                        <a:rPr lang="en-US" sz="1200" b="0" i="0" u="none" dirty="0">
                          <a:solidFill>
                            <a:srgbClr val="8C5E3C"/>
                          </a:solidFill>
                          <a:latin typeface="monospace"/>
                        </a:rPr>
                        <a:t>”)</a:t>
                      </a:r>
                      <a:endParaRPr sz="1200" b="0" i="0" u="none" dirty="0">
                        <a:solidFill>
                          <a:srgbClr val="8C5E3C"/>
                        </a:solidFill>
                        <a:latin typeface="monospace"/>
                      </a:endParaRPr>
                    </a:p>
                  </a:txBody>
                  <a:tcPr marL="63500" marR="63500" marT="25400" marB="25400" anchor="ctr">
                    <a:lnL>
                      <a:noFill/>
                    </a:lnL>
                    <a:lnR>
                      <a:noFill/>
                    </a:lnR>
                    <a:lnT>
                      <a:noFill/>
                    </a:lnT>
                    <a:lnB>
                      <a:noFill/>
                    </a:lnB>
                    <a:solidFill>
                      <a:schemeClr val="bg1"/>
                    </a:solidFill>
                  </a:tcPr>
                </a:tc>
                <a:extLst>
                  <a:ext uri="{0D108BD9-81ED-4DB2-BD59-A6C34878D82A}">
                    <a16:rowId xmlns="" xmlns:a16="http://schemas.microsoft.com/office/drawing/2014/main" val="10005"/>
                  </a:ext>
                </a:extLst>
              </a:tr>
              <a:tr h="52197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i="0" u="none" dirty="0">
                          <a:solidFill>
                            <a:srgbClr val="2C241B"/>
                          </a:solidFill>
                          <a:latin typeface="Nunito"/>
                        </a:rPr>
                        <a:t>Quantity Category</a:t>
                      </a:r>
                    </a:p>
                    <a:p>
                      <a:pPr algn="l"/>
                      <a:endParaRPr sz="1200" b="1" i="0" u="none" dirty="0">
                        <a:solidFill>
                          <a:srgbClr val="2C241B"/>
                        </a:solidFill>
                        <a:latin typeface="Nunito"/>
                      </a:endParaRPr>
                    </a:p>
                  </a:txBody>
                  <a:tcPr marL="63500" marR="63500" marT="25400" marB="25400" anchor="ctr">
                    <a:lnL>
                      <a:noFill/>
                    </a:lnL>
                    <a:lnR>
                      <a:noFill/>
                    </a:lnR>
                    <a:lnT>
                      <a:noFill/>
                    </a:lnT>
                    <a:lnB>
                      <a:noFill/>
                    </a:lnB>
                    <a:solidFill>
                      <a:srgbClr val="F5F0E6"/>
                    </a:solidFill>
                  </a:tcPr>
                </a:tc>
                <a:tc>
                  <a:txBody>
                    <a:bodyPr/>
                    <a:lstStyle/>
                    <a:p>
                      <a:pPr algn="l"/>
                      <a:r>
                        <a:rPr lang="en-US" sz="1200" b="0" i="0" u="none" dirty="0">
                          <a:solidFill>
                            <a:srgbClr val="2C241B"/>
                          </a:solidFill>
                          <a:latin typeface="Nunito"/>
                        </a:rPr>
                        <a:t>Categorized transactions based on quantity sold</a:t>
                      </a:r>
                      <a:endParaRPr sz="1200" b="0" i="0" u="none" dirty="0">
                        <a:solidFill>
                          <a:srgbClr val="2C241B"/>
                        </a:solidFill>
                        <a:latin typeface="Nunito"/>
                      </a:endParaRPr>
                    </a:p>
                  </a:txBody>
                  <a:tcPr marL="63500" marR="63500" marT="25400" marB="25400" anchor="ctr">
                    <a:lnL>
                      <a:noFill/>
                    </a:lnL>
                    <a:lnR>
                      <a:noFill/>
                    </a:lnR>
                    <a:lnT>
                      <a:noFill/>
                    </a:lnT>
                    <a:lnB>
                      <a:noFill/>
                    </a:lnB>
                    <a:solidFill>
                      <a:srgbClr val="F5F0E6"/>
                    </a:solidFill>
                  </a:tcPr>
                </a:tc>
                <a:tc>
                  <a:txBody>
                    <a:bodyPr/>
                    <a:lstStyle/>
                    <a:p>
                      <a:pPr algn="l"/>
                      <a:r>
                        <a:rPr lang="en-US" sz="1200" b="0" i="0" u="none" dirty="0">
                          <a:solidFill>
                            <a:srgbClr val="8C5E3C"/>
                          </a:solidFill>
                          <a:latin typeface="monospace"/>
                        </a:rPr>
                        <a:t>=IF([@transaction_qty]&lt;=2,"Low",IF([@transaction_qty]&lt;=5,"Medium","High"))</a:t>
                      </a:r>
                      <a:endParaRPr sz="1200" b="0" i="0" u="none" dirty="0">
                        <a:solidFill>
                          <a:srgbClr val="8C5E3C"/>
                        </a:solidFill>
                        <a:latin typeface="monospace"/>
                      </a:endParaRPr>
                    </a:p>
                  </a:txBody>
                  <a:tcPr marL="63500" marR="63500" marT="25400" marB="25400" anchor="ctr">
                    <a:lnL>
                      <a:noFill/>
                    </a:lnL>
                    <a:lnR>
                      <a:noFill/>
                    </a:lnR>
                    <a:lnT>
                      <a:noFill/>
                    </a:lnT>
                    <a:lnB>
                      <a:noFill/>
                    </a:lnB>
                    <a:solidFill>
                      <a:srgbClr val="F5F0E6"/>
                    </a:solidFill>
                  </a:tcPr>
                </a:tc>
                <a:extLst>
                  <a:ext uri="{0D108BD9-81ED-4DB2-BD59-A6C34878D82A}">
                    <a16:rowId xmlns="" xmlns:a16="http://schemas.microsoft.com/office/drawing/2014/main" val="10006"/>
                  </a:ext>
                </a:extLst>
              </a:tr>
              <a:tr h="52197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i="0" u="none" dirty="0">
                          <a:solidFill>
                            <a:srgbClr val="2C241B"/>
                          </a:solidFill>
                          <a:latin typeface="Nunito"/>
                        </a:rPr>
                        <a:t>Average item value</a:t>
                      </a:r>
                    </a:p>
                    <a:p>
                      <a:pPr algn="l"/>
                      <a:endParaRPr sz="1200" b="1" i="0" u="none" dirty="0">
                        <a:solidFill>
                          <a:srgbClr val="2C241B"/>
                        </a:solidFill>
                        <a:latin typeface="Nunito"/>
                      </a:endParaRPr>
                    </a:p>
                  </a:txBody>
                  <a:tcPr marL="63500" marR="63500" marT="25400" marB="25400" anchor="ctr">
                    <a:lnL>
                      <a:noFill/>
                    </a:lnL>
                    <a:lnR>
                      <a:noFill/>
                    </a:lnR>
                    <a:lnT>
                      <a:noFill/>
                    </a:lnT>
                    <a:lnB>
                      <a:noFill/>
                    </a:lnB>
                    <a:solidFill>
                      <a:schemeClr val="bg1"/>
                    </a:solidFill>
                  </a:tcPr>
                </a:tc>
                <a:tc>
                  <a:txBody>
                    <a:bodyPr/>
                    <a:lstStyle/>
                    <a:p>
                      <a:pPr algn="l"/>
                      <a:r>
                        <a:rPr lang="en-US" sz="1200" b="0" i="0" u="none" dirty="0">
                          <a:solidFill>
                            <a:srgbClr val="2C241B"/>
                          </a:solidFill>
                          <a:latin typeface="Nunito"/>
                        </a:rPr>
                        <a:t>Calculated the average value per item</a:t>
                      </a:r>
                      <a:endParaRPr sz="1200" b="0" i="0" u="none" dirty="0">
                        <a:solidFill>
                          <a:srgbClr val="2C241B"/>
                        </a:solidFill>
                        <a:latin typeface="Nunito"/>
                      </a:endParaRPr>
                    </a:p>
                  </a:txBody>
                  <a:tcPr marL="63500" marR="63500" marT="25400" marB="25400" anchor="ctr">
                    <a:lnL>
                      <a:noFill/>
                    </a:lnL>
                    <a:lnR>
                      <a:noFill/>
                    </a:lnR>
                    <a:lnT>
                      <a:noFill/>
                    </a:lnT>
                    <a:lnB>
                      <a:noFill/>
                    </a:lnB>
                    <a:solidFill>
                      <a:schemeClr val="bg1"/>
                    </a:solidFill>
                  </a:tcPr>
                </a:tc>
                <a:tc>
                  <a:txBody>
                    <a:bodyPr/>
                    <a:lstStyle/>
                    <a:p>
                      <a:pPr algn="l"/>
                      <a:r>
                        <a:rPr lang="en-US" sz="1200" b="0" i="0" u="none" dirty="0">
                          <a:solidFill>
                            <a:srgbClr val="8C5E3C"/>
                          </a:solidFill>
                          <a:latin typeface="monospace"/>
                        </a:rPr>
                        <a:t>=[@unit_price]</a:t>
                      </a:r>
                      <a:endParaRPr sz="1200" b="0" i="0" u="none" dirty="0">
                        <a:solidFill>
                          <a:srgbClr val="8C5E3C"/>
                        </a:solidFill>
                        <a:latin typeface="monospace"/>
                      </a:endParaRPr>
                    </a:p>
                  </a:txBody>
                  <a:tcPr marL="63500" marR="63500" marT="25400" marB="25400" anchor="ctr">
                    <a:lnL>
                      <a:noFill/>
                    </a:lnL>
                    <a:lnR>
                      <a:noFill/>
                    </a:lnR>
                    <a:lnT>
                      <a:noFill/>
                    </a:lnT>
                    <a:lnB>
                      <a:noFill/>
                    </a:lnB>
                    <a:solidFill>
                      <a:schemeClr val="bg1"/>
                    </a:solidFill>
                  </a:tcPr>
                </a:tc>
                <a:extLst>
                  <a:ext uri="{0D108BD9-81ED-4DB2-BD59-A6C34878D82A}">
                    <a16:rowId xmlns="" xmlns:a16="http://schemas.microsoft.com/office/drawing/2014/main" val="10007"/>
                  </a:ext>
                </a:extLst>
              </a:tr>
            </a:tbl>
          </a:graphicData>
        </a:graphic>
      </p:graphicFrame>
      <p:sp>
        <p:nvSpPr>
          <p:cNvPr id="16" name="TextBox 15"/>
          <p:cNvSpPr txBox="1"/>
          <p:nvPr/>
        </p:nvSpPr>
        <p:spPr>
          <a:xfrm>
            <a:off x="762000" y="762000"/>
            <a:ext cx="11430000" cy="581025"/>
          </a:xfrm>
          <a:prstGeom prst="rect">
            <a:avLst/>
          </a:prstGeom>
          <a:noFill/>
        </p:spPr>
        <p:txBody>
          <a:bodyPr wrap="none" lIns="0" tIns="0" rIns="0" bIns="0" anchor="t">
            <a:spAutoFit/>
          </a:bodyPr>
          <a:lstStyle/>
          <a:p>
            <a:pPr algn="l"/>
            <a:r>
              <a:rPr sz="3600" b="1" i="0" u="none">
                <a:solidFill>
                  <a:srgbClr val="4A3B32"/>
                </a:solidFill>
                <a:latin typeface="Lora"/>
              </a:rPr>
              <a:t>Calculated Columns</a:t>
            </a:r>
          </a:p>
        </p:txBody>
      </p:sp>
      <p:sp>
        <p:nvSpPr>
          <p:cNvPr id="17" name="TextBox 16"/>
          <p:cNvSpPr txBox="1"/>
          <p:nvPr/>
        </p:nvSpPr>
        <p:spPr>
          <a:xfrm>
            <a:off x="762000" y="1495425"/>
            <a:ext cx="11430000" cy="257175"/>
          </a:xfrm>
          <a:prstGeom prst="rect">
            <a:avLst/>
          </a:prstGeom>
          <a:noFill/>
        </p:spPr>
        <p:txBody>
          <a:bodyPr wrap="none" lIns="0" tIns="0" rIns="0" bIns="0" anchor="t">
            <a:spAutoFit/>
          </a:bodyPr>
          <a:lstStyle/>
          <a:p>
            <a:pPr algn="l"/>
            <a:r>
              <a:rPr sz="1500" b="0" i="0" u="none">
                <a:solidFill>
                  <a:srgbClr val="6B5A4E"/>
                </a:solidFill>
                <a:latin typeface="Nunito"/>
              </a:rPr>
              <a:t>Creating analytical dimensions for deeper slicing.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Rounded Rectangle 1"/>
          <p:cNvSpPr/>
          <p:nvPr/>
        </p:nvSpPr>
        <p:spPr>
          <a:xfrm>
            <a:off x="762000" y="1800225"/>
            <a:ext cx="5181600" cy="1995487"/>
          </a:xfrm>
          <a:prstGeom prst="roundRect">
            <a:avLst>
              <a:gd name="adj" fmla="val 5727"/>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1800225"/>
            <a:ext cx="5181600" cy="1995487"/>
          </a:xfrm>
          <a:prstGeom prst="roundRect">
            <a:avLst>
              <a:gd name="adj" fmla="val 5727"/>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62000" y="4100512"/>
            <a:ext cx="5181600" cy="1995487"/>
          </a:xfrm>
          <a:prstGeom prst="roundRect">
            <a:avLst>
              <a:gd name="adj" fmla="val 5727"/>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48400" y="4100512"/>
            <a:ext cx="5181600" cy="1995487"/>
          </a:xfrm>
          <a:prstGeom prst="roundRect">
            <a:avLst>
              <a:gd name="adj" fmla="val 5727"/>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1066800" y="2569368"/>
            <a:ext cx="457200" cy="457200"/>
          </a:xfrm>
          <a:prstGeom prst="rect">
            <a:avLst/>
          </a:prstGeom>
        </p:spPr>
      </p:pic>
      <p:pic>
        <p:nvPicPr>
          <p:cNvPr id="7" name="Picture 6" descr="image.png"/>
          <p:cNvPicPr>
            <a:picLocks noChangeAspect="1"/>
          </p:cNvPicPr>
          <p:nvPr/>
        </p:nvPicPr>
        <p:blipFill>
          <a:blip r:embed="rId3"/>
          <a:stretch>
            <a:fillRect/>
          </a:stretch>
        </p:blipFill>
        <p:spPr>
          <a:xfrm>
            <a:off x="6553200" y="2569368"/>
            <a:ext cx="457200" cy="457200"/>
          </a:xfrm>
          <a:prstGeom prst="rect">
            <a:avLst/>
          </a:prstGeom>
        </p:spPr>
      </p:pic>
      <p:pic>
        <p:nvPicPr>
          <p:cNvPr id="8" name="Picture 7" descr="image.png"/>
          <p:cNvPicPr>
            <a:picLocks noChangeAspect="1"/>
          </p:cNvPicPr>
          <p:nvPr/>
        </p:nvPicPr>
        <p:blipFill>
          <a:blip r:embed="rId4"/>
          <a:stretch>
            <a:fillRect/>
          </a:stretch>
        </p:blipFill>
        <p:spPr>
          <a:xfrm>
            <a:off x="1066800" y="4869656"/>
            <a:ext cx="457200" cy="457200"/>
          </a:xfrm>
          <a:prstGeom prst="rect">
            <a:avLst/>
          </a:prstGeom>
        </p:spPr>
      </p:pic>
      <p:pic>
        <p:nvPicPr>
          <p:cNvPr id="9" name="Picture 8" descr="image.png"/>
          <p:cNvPicPr>
            <a:picLocks noChangeAspect="1"/>
          </p:cNvPicPr>
          <p:nvPr/>
        </p:nvPicPr>
        <p:blipFill>
          <a:blip r:embed="rId5"/>
          <a:stretch>
            <a:fillRect/>
          </a:stretch>
        </p:blipFill>
        <p:spPr>
          <a:xfrm>
            <a:off x="6553200" y="4869656"/>
            <a:ext cx="457200" cy="457200"/>
          </a:xfrm>
          <a:prstGeom prst="rect">
            <a:avLst/>
          </a:prstGeom>
        </p:spPr>
      </p:pic>
      <p:sp>
        <p:nvSpPr>
          <p:cNvPr id="10" name="TextBox 9"/>
          <p:cNvSpPr txBox="1"/>
          <p:nvPr/>
        </p:nvSpPr>
        <p:spPr>
          <a:xfrm>
            <a:off x="762000" y="762000"/>
            <a:ext cx="11430000" cy="581025"/>
          </a:xfrm>
          <a:prstGeom prst="rect">
            <a:avLst/>
          </a:prstGeom>
          <a:noFill/>
        </p:spPr>
        <p:txBody>
          <a:bodyPr wrap="none" lIns="0" tIns="0" rIns="0" bIns="0" anchor="t">
            <a:spAutoFit/>
          </a:bodyPr>
          <a:lstStyle/>
          <a:p>
            <a:pPr algn="l"/>
            <a:r>
              <a:rPr sz="3600" b="1" i="0" u="none">
                <a:solidFill>
                  <a:srgbClr val="4A3B32"/>
                </a:solidFill>
                <a:latin typeface="Lora"/>
              </a:rPr>
              <a:t>Chart Specifications</a:t>
            </a:r>
          </a:p>
        </p:txBody>
      </p:sp>
      <p:sp>
        <p:nvSpPr>
          <p:cNvPr id="11" name="TextBox 10"/>
          <p:cNvSpPr txBox="1"/>
          <p:nvPr/>
        </p:nvSpPr>
        <p:spPr>
          <a:xfrm>
            <a:off x="1828800" y="2402681"/>
            <a:ext cx="3162895" cy="295275"/>
          </a:xfrm>
          <a:prstGeom prst="rect">
            <a:avLst/>
          </a:prstGeom>
          <a:noFill/>
        </p:spPr>
        <p:txBody>
          <a:bodyPr wrap="none" lIns="0" tIns="0" rIns="0" bIns="0" anchor="t">
            <a:spAutoFit/>
          </a:bodyPr>
          <a:lstStyle/>
          <a:p>
            <a:pPr algn="l"/>
            <a:r>
              <a:rPr sz="1800" b="1" i="0" u="none">
                <a:solidFill>
                  <a:srgbClr val="4A3B32"/>
                </a:solidFill>
                <a:latin typeface="Lora"/>
              </a:rPr>
              <a:t>Total by Store</a:t>
            </a:r>
          </a:p>
        </p:txBody>
      </p:sp>
      <p:sp>
        <p:nvSpPr>
          <p:cNvPr id="12" name="TextBox 11"/>
          <p:cNvSpPr txBox="1"/>
          <p:nvPr/>
        </p:nvSpPr>
        <p:spPr>
          <a:xfrm>
            <a:off x="1828800" y="2774156"/>
            <a:ext cx="2505075" cy="419100"/>
          </a:xfrm>
          <a:prstGeom prst="rect">
            <a:avLst/>
          </a:prstGeom>
          <a:noFill/>
        </p:spPr>
        <p:txBody>
          <a:bodyPr wrap="square" lIns="0" tIns="0" rIns="0" bIns="0" anchor="t">
            <a:spAutoFit/>
          </a:bodyPr>
          <a:lstStyle/>
          <a:p>
            <a:pPr algn="l"/>
            <a:r>
              <a:rPr sz="1200" b="1" i="0" u="none">
                <a:solidFill>
                  <a:srgbClr val="6B5A4E"/>
                </a:solidFill>
                <a:latin typeface="Nunito"/>
              </a:rPr>
              <a:t>Type:</a:t>
            </a:r>
            <a:r>
              <a:rPr sz="1200" b="0" i="0" u="none">
                <a:solidFill>
                  <a:srgbClr val="6B5A4E"/>
                </a:solidFill>
                <a:latin typeface="Nunito"/>
              </a:rPr>
              <a:t> Column Bar</a:t>
            </a:r>
            <a:r>
              <a:t>
</a:t>
            </a:r>
            <a:r>
              <a:rPr sz="1200" b="1" i="0" u="none">
                <a:solidFill>
                  <a:srgbClr val="6B5A4E"/>
                </a:solidFill>
                <a:latin typeface="Nunito"/>
              </a:rPr>
              <a:t>Purpose:</a:t>
            </a:r>
            <a:r>
              <a:rPr sz="1200" b="0" i="0" u="none">
                <a:solidFill>
                  <a:srgbClr val="6B5A4E"/>
                </a:solidFill>
                <a:latin typeface="Nunito"/>
              </a:rPr>
              <a:t> Compare branch revenue.</a:t>
            </a:r>
          </a:p>
        </p:txBody>
      </p:sp>
      <p:sp>
        <p:nvSpPr>
          <p:cNvPr id="13" name="TextBox 12"/>
          <p:cNvSpPr txBox="1"/>
          <p:nvPr/>
        </p:nvSpPr>
        <p:spPr>
          <a:xfrm>
            <a:off x="7315200" y="2402681"/>
            <a:ext cx="3737967" cy="295275"/>
          </a:xfrm>
          <a:prstGeom prst="rect">
            <a:avLst/>
          </a:prstGeom>
          <a:noFill/>
        </p:spPr>
        <p:txBody>
          <a:bodyPr wrap="none" lIns="0" tIns="0" rIns="0" bIns="0" anchor="t">
            <a:spAutoFit/>
          </a:bodyPr>
          <a:lstStyle/>
          <a:p>
            <a:pPr algn="l"/>
            <a:r>
              <a:rPr sz="1800" b="1" i="0" u="none">
                <a:solidFill>
                  <a:srgbClr val="4A3B32"/>
                </a:solidFill>
                <a:latin typeface="Lora"/>
              </a:rPr>
              <a:t>Sales by Month</a:t>
            </a:r>
          </a:p>
        </p:txBody>
      </p:sp>
      <p:sp>
        <p:nvSpPr>
          <p:cNvPr id="14" name="TextBox 13"/>
          <p:cNvSpPr txBox="1"/>
          <p:nvPr/>
        </p:nvSpPr>
        <p:spPr>
          <a:xfrm>
            <a:off x="7315200" y="2774156"/>
            <a:ext cx="2943225" cy="419100"/>
          </a:xfrm>
          <a:prstGeom prst="rect">
            <a:avLst/>
          </a:prstGeom>
          <a:noFill/>
        </p:spPr>
        <p:txBody>
          <a:bodyPr wrap="square" lIns="0" tIns="0" rIns="0" bIns="0" anchor="t">
            <a:spAutoFit/>
          </a:bodyPr>
          <a:lstStyle/>
          <a:p>
            <a:pPr algn="l"/>
            <a:r>
              <a:rPr sz="1200" b="1" i="0" u="none">
                <a:solidFill>
                  <a:srgbClr val="6B5A4E"/>
                </a:solidFill>
                <a:latin typeface="Nunito"/>
              </a:rPr>
              <a:t>Type:</a:t>
            </a:r>
            <a:r>
              <a:rPr sz="1200" b="0" i="0" u="none">
                <a:solidFill>
                  <a:srgbClr val="6B5A4E"/>
                </a:solidFill>
                <a:latin typeface="Nunito"/>
              </a:rPr>
              <a:t> Line Chart</a:t>
            </a:r>
            <a:r>
              <a:t>
</a:t>
            </a:r>
            <a:r>
              <a:rPr sz="1200" b="1" i="0" u="none">
                <a:solidFill>
                  <a:srgbClr val="6B5A4E"/>
                </a:solidFill>
                <a:latin typeface="Nunito"/>
              </a:rPr>
              <a:t>Purpose:</a:t>
            </a:r>
            <a:r>
              <a:rPr sz="1200" b="0" i="0" u="none">
                <a:solidFill>
                  <a:srgbClr val="6B5A4E"/>
                </a:solidFill>
                <a:latin typeface="Nunito"/>
              </a:rPr>
              <a:t> Track monthly trajectory trends.</a:t>
            </a:r>
          </a:p>
        </p:txBody>
      </p:sp>
      <p:sp>
        <p:nvSpPr>
          <p:cNvPr id="15" name="TextBox 14"/>
          <p:cNvSpPr txBox="1"/>
          <p:nvPr/>
        </p:nvSpPr>
        <p:spPr>
          <a:xfrm>
            <a:off x="1828800" y="4702968"/>
            <a:ext cx="3187898" cy="295275"/>
          </a:xfrm>
          <a:prstGeom prst="rect">
            <a:avLst/>
          </a:prstGeom>
          <a:noFill/>
        </p:spPr>
        <p:txBody>
          <a:bodyPr wrap="none" lIns="0" tIns="0" rIns="0" bIns="0" anchor="t">
            <a:spAutoFit/>
          </a:bodyPr>
          <a:lstStyle/>
          <a:p>
            <a:pPr algn="l"/>
            <a:r>
              <a:rPr sz="1800" b="1" i="0" u="none">
                <a:solidFill>
                  <a:srgbClr val="4A3B32"/>
                </a:solidFill>
                <a:latin typeface="Lora"/>
              </a:rPr>
              <a:t>Category Volume</a:t>
            </a:r>
          </a:p>
        </p:txBody>
      </p:sp>
      <p:sp>
        <p:nvSpPr>
          <p:cNvPr id="16" name="TextBox 15"/>
          <p:cNvSpPr txBox="1"/>
          <p:nvPr/>
        </p:nvSpPr>
        <p:spPr>
          <a:xfrm>
            <a:off x="1828800" y="5074443"/>
            <a:ext cx="2524125" cy="419100"/>
          </a:xfrm>
          <a:prstGeom prst="rect">
            <a:avLst/>
          </a:prstGeom>
          <a:noFill/>
        </p:spPr>
        <p:txBody>
          <a:bodyPr wrap="square" lIns="0" tIns="0" rIns="0" bIns="0" anchor="t">
            <a:spAutoFit/>
          </a:bodyPr>
          <a:lstStyle/>
          <a:p>
            <a:pPr algn="l"/>
            <a:r>
              <a:rPr sz="1200" b="1" i="0" u="none">
                <a:solidFill>
                  <a:srgbClr val="6B5A4E"/>
                </a:solidFill>
                <a:latin typeface="Nunito"/>
              </a:rPr>
              <a:t>Type:</a:t>
            </a:r>
            <a:r>
              <a:rPr sz="1200" b="0" i="0" u="none">
                <a:solidFill>
                  <a:srgbClr val="6B5A4E"/>
                </a:solidFill>
                <a:latin typeface="Nunito"/>
              </a:rPr>
              <a:t> Doughnut</a:t>
            </a:r>
            <a:r>
              <a:t>
</a:t>
            </a:r>
            <a:r>
              <a:rPr sz="1200" b="1" i="0" u="none">
                <a:solidFill>
                  <a:srgbClr val="6B5A4E"/>
                </a:solidFill>
                <a:latin typeface="Nunito"/>
              </a:rPr>
              <a:t>Purpose:</a:t>
            </a:r>
            <a:r>
              <a:rPr sz="1200" b="0" i="0" u="none">
                <a:solidFill>
                  <a:srgbClr val="6B5A4E"/>
                </a:solidFill>
                <a:latin typeface="Nunito"/>
              </a:rPr>
              <a:t> Evaluate share of volume.</a:t>
            </a:r>
          </a:p>
        </p:txBody>
      </p:sp>
      <p:sp>
        <p:nvSpPr>
          <p:cNvPr id="17" name="TextBox 16"/>
          <p:cNvSpPr txBox="1"/>
          <p:nvPr/>
        </p:nvSpPr>
        <p:spPr>
          <a:xfrm>
            <a:off x="7315200" y="4702968"/>
            <a:ext cx="3987998" cy="295275"/>
          </a:xfrm>
          <a:prstGeom prst="rect">
            <a:avLst/>
          </a:prstGeom>
          <a:noFill/>
        </p:spPr>
        <p:txBody>
          <a:bodyPr wrap="none" lIns="0" tIns="0" rIns="0" bIns="0" anchor="t">
            <a:spAutoFit/>
          </a:bodyPr>
          <a:lstStyle/>
          <a:p>
            <a:pPr algn="l"/>
            <a:r>
              <a:rPr sz="1800" b="1" i="0" u="none">
                <a:solidFill>
                  <a:srgbClr val="4A3B32"/>
                </a:solidFill>
                <a:latin typeface="Lora"/>
              </a:rPr>
              <a:t>Average Item Value</a:t>
            </a:r>
          </a:p>
        </p:txBody>
      </p:sp>
      <p:sp>
        <p:nvSpPr>
          <p:cNvPr id="18" name="TextBox 17"/>
          <p:cNvSpPr txBox="1"/>
          <p:nvPr/>
        </p:nvSpPr>
        <p:spPr>
          <a:xfrm>
            <a:off x="7315200" y="5074443"/>
            <a:ext cx="3133725" cy="419100"/>
          </a:xfrm>
          <a:prstGeom prst="rect">
            <a:avLst/>
          </a:prstGeom>
          <a:noFill/>
        </p:spPr>
        <p:txBody>
          <a:bodyPr wrap="square" lIns="0" tIns="0" rIns="0" bIns="0" anchor="t">
            <a:spAutoFit/>
          </a:bodyPr>
          <a:lstStyle/>
          <a:p>
            <a:pPr algn="l"/>
            <a:r>
              <a:rPr sz="1200" b="1" i="0" u="none">
                <a:solidFill>
                  <a:srgbClr val="6B5A4E"/>
                </a:solidFill>
                <a:latin typeface="Nunito"/>
              </a:rPr>
              <a:t>Type:</a:t>
            </a:r>
            <a:r>
              <a:rPr sz="1200" b="0" i="0" u="none">
                <a:solidFill>
                  <a:srgbClr val="6B5A4E"/>
                </a:solidFill>
                <a:latin typeface="Nunito"/>
              </a:rPr>
              <a:t> Horizontal Bar</a:t>
            </a:r>
            <a:r>
              <a:t>
</a:t>
            </a:r>
            <a:r>
              <a:rPr sz="1200" b="1" i="0" u="none">
                <a:solidFill>
                  <a:srgbClr val="6B5A4E"/>
                </a:solidFill>
                <a:latin typeface="Nunito"/>
              </a:rPr>
              <a:t>Purpose:</a:t>
            </a:r>
            <a:r>
              <a:rPr sz="1200" b="0" i="0" u="none">
                <a:solidFill>
                  <a:srgbClr val="6B5A4E"/>
                </a:solidFill>
                <a:latin typeface="Nunito"/>
              </a:rPr>
              <a:t> Evaluate category pricing strength.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8" name="TextBox 7"/>
          <p:cNvSpPr txBox="1"/>
          <p:nvPr/>
        </p:nvSpPr>
        <p:spPr>
          <a:xfrm>
            <a:off x="381000" y="180975"/>
            <a:ext cx="11430000" cy="581025"/>
          </a:xfrm>
          <a:prstGeom prst="rect">
            <a:avLst/>
          </a:prstGeom>
          <a:noFill/>
        </p:spPr>
        <p:txBody>
          <a:bodyPr wrap="none" lIns="0" tIns="0" rIns="0" bIns="0" anchor="t">
            <a:spAutoFit/>
          </a:bodyPr>
          <a:lstStyle/>
          <a:p>
            <a:pPr algn="l"/>
            <a:r>
              <a:rPr sz="3600" b="1" i="0" u="none" dirty="0">
                <a:solidFill>
                  <a:srgbClr val="4A3B32"/>
                </a:solidFill>
                <a:latin typeface="Lora"/>
              </a:rPr>
              <a:t>Dashboard Architecture &amp; Layout</a:t>
            </a:r>
          </a:p>
        </p:txBody>
      </p:sp>
      <p:graphicFrame>
        <p:nvGraphicFramePr>
          <p:cNvPr id="17" name="Table 16"/>
          <p:cNvGraphicFramePr>
            <a:graphicFrameLocks noGrp="1"/>
          </p:cNvGraphicFramePr>
          <p:nvPr>
            <p:extLst>
              <p:ext uri="{D42A27DB-BD31-4B8C-83A1-F6EECF244321}">
                <p14:modId xmlns:p14="http://schemas.microsoft.com/office/powerpoint/2010/main" val="1306544423"/>
              </p:ext>
            </p:extLst>
          </p:nvPr>
        </p:nvGraphicFramePr>
        <p:xfrm>
          <a:off x="201561" y="920238"/>
          <a:ext cx="9582726" cy="5157559"/>
        </p:xfrm>
        <a:graphic>
          <a:graphicData uri="http://schemas.openxmlformats.org/drawingml/2006/table">
            <a:tbl>
              <a:tblPr/>
              <a:tblGrid>
                <a:gridCol w="1832322">
                  <a:extLst>
                    <a:ext uri="{9D8B030D-6E8A-4147-A177-3AD203B41FA5}">
                      <a16:colId xmlns="" xmlns:a16="http://schemas.microsoft.com/office/drawing/2014/main" val="20000"/>
                    </a:ext>
                  </a:extLst>
                </a:gridCol>
                <a:gridCol w="3086044">
                  <a:extLst>
                    <a:ext uri="{9D8B030D-6E8A-4147-A177-3AD203B41FA5}">
                      <a16:colId xmlns="" xmlns:a16="http://schemas.microsoft.com/office/drawing/2014/main" val="20001"/>
                    </a:ext>
                  </a:extLst>
                </a:gridCol>
                <a:gridCol w="4664360">
                  <a:extLst>
                    <a:ext uri="{9D8B030D-6E8A-4147-A177-3AD203B41FA5}">
                      <a16:colId xmlns="" xmlns:a16="http://schemas.microsoft.com/office/drawing/2014/main" val="20002"/>
                    </a:ext>
                  </a:extLst>
                </a:gridCol>
              </a:tblGrid>
              <a:tr h="468869">
                <a:tc>
                  <a:txBody>
                    <a:bodyPr/>
                    <a:lstStyle/>
                    <a:p>
                      <a:pPr algn="l"/>
                      <a:r>
                        <a:rPr lang="en-US" sz="1100" b="1" i="0" u="none" dirty="0">
                          <a:solidFill>
                            <a:srgbClr val="FAF8F5"/>
                          </a:solidFill>
                          <a:latin typeface="Nunito"/>
                        </a:rPr>
                        <a:t>NUMBER</a:t>
                      </a:r>
                      <a:endParaRPr sz="1100" b="1" i="0" u="none" dirty="0">
                        <a:solidFill>
                          <a:srgbClr val="FAF8F5"/>
                        </a:solidFill>
                        <a:latin typeface="Nunito"/>
                      </a:endParaRPr>
                    </a:p>
                  </a:txBody>
                  <a:tcPr marL="57040" marR="57040" marT="22816" marB="22816" anchor="ctr">
                    <a:lnL>
                      <a:noFill/>
                    </a:lnL>
                    <a:lnR>
                      <a:noFill/>
                    </a:lnR>
                    <a:lnT>
                      <a:noFill/>
                    </a:lnT>
                    <a:lnB>
                      <a:noFill/>
                    </a:lnB>
                    <a:solidFill>
                      <a:srgbClr val="4A3B32"/>
                    </a:solidFill>
                  </a:tcPr>
                </a:tc>
                <a:tc>
                  <a:txBody>
                    <a:bodyPr/>
                    <a:lstStyle/>
                    <a:p>
                      <a:pPr algn="l"/>
                      <a:r>
                        <a:rPr lang="en-US" sz="1100" b="1" i="0" u="none" dirty="0">
                          <a:solidFill>
                            <a:srgbClr val="FAF8F5"/>
                          </a:solidFill>
                          <a:latin typeface="Nunito"/>
                        </a:rPr>
                        <a:t>CHART TITLE</a:t>
                      </a:r>
                      <a:endParaRPr sz="1100" b="1" i="0" u="none" dirty="0">
                        <a:solidFill>
                          <a:srgbClr val="FAF8F5"/>
                        </a:solidFill>
                        <a:latin typeface="Nunito"/>
                      </a:endParaRPr>
                    </a:p>
                  </a:txBody>
                  <a:tcPr marL="57040" marR="57040" marT="22816" marB="22816" anchor="ctr">
                    <a:lnL>
                      <a:noFill/>
                    </a:lnL>
                    <a:lnR>
                      <a:noFill/>
                    </a:lnR>
                    <a:lnT>
                      <a:noFill/>
                    </a:lnT>
                    <a:lnB>
                      <a:noFill/>
                    </a:lnB>
                    <a:solidFill>
                      <a:srgbClr val="4A3B32"/>
                    </a:solidFill>
                  </a:tcPr>
                </a:tc>
                <a:tc>
                  <a:txBody>
                    <a:bodyPr/>
                    <a:lstStyle/>
                    <a:p>
                      <a:pPr algn="l"/>
                      <a:r>
                        <a:rPr lang="en-US" sz="1100" b="1" i="0" u="none" dirty="0">
                          <a:solidFill>
                            <a:srgbClr val="FAF8F5"/>
                          </a:solidFill>
                          <a:latin typeface="Nunito"/>
                        </a:rPr>
                        <a:t>CHART TYPE</a:t>
                      </a:r>
                      <a:endParaRPr sz="1100" b="1" i="0" u="none" dirty="0">
                        <a:solidFill>
                          <a:srgbClr val="FAF8F5"/>
                        </a:solidFill>
                        <a:latin typeface="Nunito"/>
                      </a:endParaRPr>
                    </a:p>
                  </a:txBody>
                  <a:tcPr marL="57040" marR="57040" marT="22816" marB="22816" anchor="ctr">
                    <a:lnL>
                      <a:noFill/>
                    </a:lnL>
                    <a:lnR>
                      <a:noFill/>
                    </a:lnR>
                    <a:lnT>
                      <a:noFill/>
                    </a:lnT>
                    <a:lnB>
                      <a:noFill/>
                    </a:lnB>
                    <a:solidFill>
                      <a:srgbClr val="4A3B32"/>
                    </a:solidFill>
                  </a:tcPr>
                </a:tc>
                <a:extLst>
                  <a:ext uri="{0D108BD9-81ED-4DB2-BD59-A6C34878D82A}">
                    <a16:rowId xmlns="" xmlns:a16="http://schemas.microsoft.com/office/drawing/2014/main" val="10000"/>
                  </a:ext>
                </a:extLst>
              </a:tr>
              <a:tr h="468869">
                <a:tc>
                  <a:txBody>
                    <a:bodyPr/>
                    <a:lstStyle/>
                    <a:p>
                      <a:pPr algn="l"/>
                      <a:r>
                        <a:rPr lang="en-US" sz="1100" b="1" i="0" u="none" dirty="0">
                          <a:solidFill>
                            <a:srgbClr val="2C241B"/>
                          </a:solidFill>
                          <a:latin typeface="Nunito"/>
                        </a:rPr>
                        <a:t>1</a:t>
                      </a:r>
                      <a:endParaRPr sz="1100" b="1" i="0" u="none" dirty="0">
                        <a:solidFill>
                          <a:srgbClr val="2C241B"/>
                        </a:solidFill>
                        <a:latin typeface="Nunito"/>
                      </a:endParaRPr>
                    </a:p>
                  </a:txBody>
                  <a:tcPr marL="57040" marR="57040" marT="22816" marB="22816" anchor="ctr">
                    <a:lnL>
                      <a:noFill/>
                    </a:lnL>
                    <a:lnR>
                      <a:noFill/>
                    </a:lnR>
                    <a:lnT>
                      <a:noFill/>
                    </a:lnT>
                    <a:lnB>
                      <a:noFill/>
                    </a:lnB>
                    <a:solidFill>
                      <a:srgbClr val="FFFFFF"/>
                    </a:solidFill>
                  </a:tcPr>
                </a:tc>
                <a:tc>
                  <a:txBody>
                    <a:bodyPr/>
                    <a:lstStyle/>
                    <a:p>
                      <a:pPr algn="l"/>
                      <a:r>
                        <a:rPr lang="en-US" sz="1100" b="0" i="0" u="none" dirty="0">
                          <a:solidFill>
                            <a:srgbClr val="2C241B"/>
                          </a:solidFill>
                          <a:latin typeface="Nunito"/>
                        </a:rPr>
                        <a:t>STORE LOCATION</a:t>
                      </a:r>
                      <a:endParaRPr sz="1100" b="0" i="0" u="none" dirty="0">
                        <a:solidFill>
                          <a:srgbClr val="2C241B"/>
                        </a:solidFill>
                        <a:latin typeface="Nunito"/>
                      </a:endParaRPr>
                    </a:p>
                  </a:txBody>
                  <a:tcPr marL="57040" marR="57040" marT="22816" marB="22816" anchor="ctr">
                    <a:lnL>
                      <a:noFill/>
                    </a:lnL>
                    <a:lnR>
                      <a:noFill/>
                    </a:lnR>
                    <a:lnT>
                      <a:noFill/>
                    </a:lnT>
                    <a:lnB>
                      <a:noFill/>
                    </a:lnB>
                    <a:solidFill>
                      <a:srgbClr val="FFFFFF"/>
                    </a:solidFill>
                  </a:tcPr>
                </a:tc>
                <a:tc>
                  <a:txBody>
                    <a:bodyPr/>
                    <a:lstStyle/>
                    <a:p>
                      <a:pPr algn="l"/>
                      <a:r>
                        <a:rPr lang="en-US" sz="1100" b="0" i="0" u="none" dirty="0">
                          <a:solidFill>
                            <a:srgbClr val="8C5E3C"/>
                          </a:solidFill>
                          <a:latin typeface="monospace"/>
                        </a:rPr>
                        <a:t>BAR</a:t>
                      </a:r>
                    </a:p>
                    <a:p>
                      <a:pPr algn="l"/>
                      <a:endParaRPr sz="1100" b="0" i="0" u="none" dirty="0">
                        <a:solidFill>
                          <a:srgbClr val="8C5E3C"/>
                        </a:solidFill>
                        <a:latin typeface="monospace"/>
                      </a:endParaRPr>
                    </a:p>
                  </a:txBody>
                  <a:tcPr marL="57040" marR="57040" marT="22816" marB="22816" anchor="ctr">
                    <a:lnL>
                      <a:noFill/>
                    </a:lnL>
                    <a:lnR>
                      <a:noFill/>
                    </a:lnR>
                    <a:lnT>
                      <a:noFill/>
                    </a:lnT>
                    <a:lnB>
                      <a:noFill/>
                    </a:lnB>
                    <a:solidFill>
                      <a:srgbClr val="FFFFFF"/>
                    </a:solidFill>
                  </a:tcPr>
                </a:tc>
                <a:extLst>
                  <a:ext uri="{0D108BD9-81ED-4DB2-BD59-A6C34878D82A}">
                    <a16:rowId xmlns="" xmlns:a16="http://schemas.microsoft.com/office/drawing/2014/main" val="10001"/>
                  </a:ext>
                </a:extLst>
              </a:tr>
              <a:tr h="468869">
                <a:tc>
                  <a:txBody>
                    <a:bodyPr/>
                    <a:lstStyle/>
                    <a:p>
                      <a:pPr algn="l"/>
                      <a:r>
                        <a:rPr lang="en-US" sz="1100" b="1" i="0" u="none" dirty="0">
                          <a:solidFill>
                            <a:srgbClr val="2C241B"/>
                          </a:solidFill>
                          <a:latin typeface="Nunito"/>
                        </a:rPr>
                        <a:t>2</a:t>
                      </a:r>
                      <a:endParaRPr sz="1100" b="1" i="0" u="none" dirty="0">
                        <a:solidFill>
                          <a:srgbClr val="2C241B"/>
                        </a:solidFill>
                        <a:latin typeface="Nunito"/>
                      </a:endParaRPr>
                    </a:p>
                  </a:txBody>
                  <a:tcPr marL="57040" marR="57040" marT="22816" marB="22816" anchor="ctr">
                    <a:lnL>
                      <a:noFill/>
                    </a:lnL>
                    <a:lnR>
                      <a:noFill/>
                    </a:lnR>
                    <a:lnT>
                      <a:noFill/>
                    </a:lnT>
                    <a:lnB>
                      <a:noFill/>
                    </a:lnB>
                    <a:solidFill>
                      <a:srgbClr val="F5F0E6"/>
                    </a:solidFill>
                  </a:tcPr>
                </a:tc>
                <a:tc>
                  <a:txBody>
                    <a:bodyPr/>
                    <a:lstStyle/>
                    <a:p>
                      <a:pPr algn="l"/>
                      <a:r>
                        <a:rPr lang="en-US" sz="1100" b="0" i="0" u="none" dirty="0">
                          <a:solidFill>
                            <a:srgbClr val="2C241B"/>
                          </a:solidFill>
                          <a:latin typeface="Nunito"/>
                        </a:rPr>
                        <a:t>PRODUCT CATEGORY</a:t>
                      </a:r>
                      <a:endParaRPr sz="1100" b="0" i="0" u="none" dirty="0">
                        <a:solidFill>
                          <a:srgbClr val="2C241B"/>
                        </a:solidFill>
                        <a:latin typeface="Nunito"/>
                      </a:endParaRPr>
                    </a:p>
                  </a:txBody>
                  <a:tcPr marL="57040" marR="57040" marT="22816" marB="22816" anchor="ctr">
                    <a:lnL>
                      <a:noFill/>
                    </a:lnL>
                    <a:lnR>
                      <a:noFill/>
                    </a:lnR>
                    <a:lnT>
                      <a:noFill/>
                    </a:lnT>
                    <a:lnB>
                      <a:noFill/>
                    </a:lnB>
                    <a:solidFill>
                      <a:srgbClr val="F5F0E6"/>
                    </a:solidFill>
                  </a:tcPr>
                </a:tc>
                <a:tc>
                  <a:txBody>
                    <a:bodyPr/>
                    <a:lstStyle/>
                    <a:p>
                      <a:pPr algn="l"/>
                      <a:r>
                        <a:rPr lang="en-US" sz="1100" b="0" i="0" u="none" dirty="0">
                          <a:solidFill>
                            <a:srgbClr val="8C5E3C"/>
                          </a:solidFill>
                          <a:latin typeface="monospace"/>
                        </a:rPr>
                        <a:t>LINE</a:t>
                      </a:r>
                      <a:endParaRPr sz="1100" b="0" i="0" u="none" dirty="0">
                        <a:solidFill>
                          <a:srgbClr val="8C5E3C"/>
                        </a:solidFill>
                        <a:latin typeface="monospace"/>
                      </a:endParaRPr>
                    </a:p>
                  </a:txBody>
                  <a:tcPr marL="57040" marR="57040" marT="22816" marB="22816" anchor="ctr">
                    <a:lnL>
                      <a:noFill/>
                    </a:lnL>
                    <a:lnR>
                      <a:noFill/>
                    </a:lnR>
                    <a:lnT>
                      <a:noFill/>
                    </a:lnT>
                    <a:lnB>
                      <a:noFill/>
                    </a:lnB>
                    <a:solidFill>
                      <a:srgbClr val="F5F0E6"/>
                    </a:solidFill>
                  </a:tcPr>
                </a:tc>
                <a:extLst>
                  <a:ext uri="{0D108BD9-81ED-4DB2-BD59-A6C34878D82A}">
                    <a16:rowId xmlns="" xmlns:a16="http://schemas.microsoft.com/office/drawing/2014/main" val="10002"/>
                  </a:ext>
                </a:extLst>
              </a:tr>
              <a:tr h="468869">
                <a:tc>
                  <a:txBody>
                    <a:bodyPr/>
                    <a:lstStyle/>
                    <a:p>
                      <a:pPr algn="l"/>
                      <a:r>
                        <a:rPr lang="en-US" sz="1100" b="1" i="0" u="none" dirty="0">
                          <a:solidFill>
                            <a:srgbClr val="2C241B"/>
                          </a:solidFill>
                          <a:latin typeface="Nunito"/>
                        </a:rPr>
                        <a:t>3</a:t>
                      </a:r>
                      <a:endParaRPr sz="1100" b="1" i="0" u="none" dirty="0">
                        <a:solidFill>
                          <a:srgbClr val="2C241B"/>
                        </a:solidFill>
                        <a:latin typeface="Nunito"/>
                      </a:endParaRPr>
                    </a:p>
                  </a:txBody>
                  <a:tcPr marL="57040" marR="57040" marT="22816" marB="22816" anchor="ctr">
                    <a:lnL>
                      <a:noFill/>
                    </a:lnL>
                    <a:lnR>
                      <a:noFill/>
                    </a:lnR>
                    <a:lnT>
                      <a:noFill/>
                    </a:lnT>
                    <a:lnB>
                      <a:noFill/>
                    </a:lnB>
                    <a:solidFill>
                      <a:srgbClr val="FFFFFF"/>
                    </a:solidFill>
                  </a:tcPr>
                </a:tc>
                <a:tc>
                  <a:txBody>
                    <a:bodyPr/>
                    <a:lstStyle/>
                    <a:p>
                      <a:pPr algn="l"/>
                      <a:r>
                        <a:rPr lang="en-US" sz="1100" b="0" i="0" u="none" dirty="0">
                          <a:solidFill>
                            <a:srgbClr val="2C241B"/>
                          </a:solidFill>
                          <a:latin typeface="Nunito"/>
                        </a:rPr>
                        <a:t>PRODUCT TYPE</a:t>
                      </a:r>
                      <a:endParaRPr sz="1100" b="0" i="0" u="none" dirty="0">
                        <a:solidFill>
                          <a:srgbClr val="2C241B"/>
                        </a:solidFill>
                        <a:latin typeface="Nunito"/>
                      </a:endParaRPr>
                    </a:p>
                  </a:txBody>
                  <a:tcPr marL="57040" marR="57040" marT="22816" marB="22816" anchor="ctr">
                    <a:lnL>
                      <a:noFill/>
                    </a:lnL>
                    <a:lnR>
                      <a:noFill/>
                    </a:lnR>
                    <a:lnT>
                      <a:noFill/>
                    </a:lnT>
                    <a:lnB>
                      <a:noFill/>
                    </a:lnB>
                    <a:solidFill>
                      <a:srgbClr val="FFFFFF"/>
                    </a:solidFill>
                  </a:tcPr>
                </a:tc>
                <a:tc>
                  <a:txBody>
                    <a:bodyPr/>
                    <a:lstStyle/>
                    <a:p>
                      <a:pPr algn="l"/>
                      <a:r>
                        <a:rPr lang="en-US" sz="1100" b="0" i="0" u="none" dirty="0">
                          <a:solidFill>
                            <a:srgbClr val="8C5E3C"/>
                          </a:solidFill>
                          <a:latin typeface="monospace"/>
                        </a:rPr>
                        <a:t>CLUSTERD COLUMN</a:t>
                      </a:r>
                      <a:endParaRPr sz="1100" b="0" i="0" u="none" dirty="0">
                        <a:solidFill>
                          <a:srgbClr val="8C5E3C"/>
                        </a:solidFill>
                        <a:latin typeface="monospace"/>
                      </a:endParaRPr>
                    </a:p>
                  </a:txBody>
                  <a:tcPr marL="57040" marR="57040" marT="22816" marB="22816" anchor="ctr">
                    <a:lnL>
                      <a:noFill/>
                    </a:lnL>
                    <a:lnR>
                      <a:noFill/>
                    </a:lnR>
                    <a:lnT>
                      <a:noFill/>
                    </a:lnT>
                    <a:lnB>
                      <a:noFill/>
                    </a:lnB>
                    <a:solidFill>
                      <a:srgbClr val="FFFFFF"/>
                    </a:solidFill>
                  </a:tcPr>
                </a:tc>
                <a:extLst>
                  <a:ext uri="{0D108BD9-81ED-4DB2-BD59-A6C34878D82A}">
                    <a16:rowId xmlns="" xmlns:a16="http://schemas.microsoft.com/office/drawing/2014/main" val="10003"/>
                  </a:ext>
                </a:extLst>
              </a:tr>
              <a:tr h="468869">
                <a:tc>
                  <a:txBody>
                    <a:bodyPr/>
                    <a:lstStyle/>
                    <a:p>
                      <a:pPr algn="l"/>
                      <a:r>
                        <a:rPr lang="en-US" sz="1100" b="1" i="0" u="none" dirty="0">
                          <a:solidFill>
                            <a:srgbClr val="2C241B"/>
                          </a:solidFill>
                          <a:latin typeface="Nunito"/>
                        </a:rPr>
                        <a:t>4</a:t>
                      </a:r>
                      <a:endParaRPr sz="1100" b="1" i="0" u="none" dirty="0">
                        <a:solidFill>
                          <a:srgbClr val="2C241B"/>
                        </a:solidFill>
                        <a:latin typeface="Nunito"/>
                      </a:endParaRPr>
                    </a:p>
                  </a:txBody>
                  <a:tcPr marL="57040" marR="57040" marT="22816" marB="22816" anchor="ctr">
                    <a:lnL>
                      <a:noFill/>
                    </a:lnL>
                    <a:lnR>
                      <a:noFill/>
                    </a:lnR>
                    <a:lnT>
                      <a:noFill/>
                    </a:lnT>
                    <a:lnB>
                      <a:noFill/>
                    </a:lnB>
                    <a:solidFill>
                      <a:srgbClr val="F5F0E6"/>
                    </a:solidFill>
                  </a:tcPr>
                </a:tc>
                <a:tc>
                  <a:txBody>
                    <a:bodyPr/>
                    <a:lstStyle/>
                    <a:p>
                      <a:pPr algn="l"/>
                      <a:r>
                        <a:rPr lang="en-US" sz="1100" b="0" i="0" u="none" dirty="0">
                          <a:solidFill>
                            <a:srgbClr val="2C241B"/>
                          </a:solidFill>
                          <a:latin typeface="Nunito"/>
                        </a:rPr>
                        <a:t>AVERAGE ITEM VALUE</a:t>
                      </a:r>
                      <a:endParaRPr sz="1100" b="0" i="0" u="none" dirty="0">
                        <a:solidFill>
                          <a:srgbClr val="2C241B"/>
                        </a:solidFill>
                        <a:latin typeface="Nunito"/>
                      </a:endParaRPr>
                    </a:p>
                  </a:txBody>
                  <a:tcPr marL="57040" marR="57040" marT="22816" marB="22816" anchor="ctr">
                    <a:lnL>
                      <a:noFill/>
                    </a:lnL>
                    <a:lnR>
                      <a:noFill/>
                    </a:lnR>
                    <a:lnT>
                      <a:noFill/>
                    </a:lnT>
                    <a:lnB>
                      <a:noFill/>
                    </a:lnB>
                    <a:solidFill>
                      <a:srgbClr val="F5F0E6"/>
                    </a:solidFill>
                  </a:tcPr>
                </a:tc>
                <a:tc>
                  <a:txBody>
                    <a:bodyPr/>
                    <a:lstStyle/>
                    <a:p>
                      <a:pPr algn="l"/>
                      <a:r>
                        <a:rPr lang="en-US" sz="1100" b="0" i="0" u="none" dirty="0">
                          <a:solidFill>
                            <a:srgbClr val="8C5E3C"/>
                          </a:solidFill>
                          <a:latin typeface="monospace"/>
                        </a:rPr>
                        <a:t>LINE</a:t>
                      </a:r>
                      <a:endParaRPr sz="1100" b="0" i="0" u="none" dirty="0">
                        <a:solidFill>
                          <a:srgbClr val="8C5E3C"/>
                        </a:solidFill>
                        <a:latin typeface="monospace"/>
                      </a:endParaRPr>
                    </a:p>
                  </a:txBody>
                  <a:tcPr marL="57040" marR="57040" marT="22816" marB="22816" anchor="ctr">
                    <a:lnL>
                      <a:noFill/>
                    </a:lnL>
                    <a:lnR>
                      <a:noFill/>
                    </a:lnR>
                    <a:lnT>
                      <a:noFill/>
                    </a:lnT>
                    <a:lnB>
                      <a:noFill/>
                    </a:lnB>
                    <a:solidFill>
                      <a:srgbClr val="F5F0E6"/>
                    </a:solidFill>
                  </a:tcPr>
                </a:tc>
                <a:extLst>
                  <a:ext uri="{0D108BD9-81ED-4DB2-BD59-A6C34878D82A}">
                    <a16:rowId xmlns="" xmlns:a16="http://schemas.microsoft.com/office/drawing/2014/main" val="10004"/>
                  </a:ext>
                </a:extLst>
              </a:tr>
              <a:tr h="468869">
                <a:tc>
                  <a:txBody>
                    <a:bodyPr/>
                    <a:lstStyle/>
                    <a:p>
                      <a:pPr algn="l"/>
                      <a:r>
                        <a:rPr lang="en-US" sz="1100" b="1" i="0" u="none" dirty="0">
                          <a:solidFill>
                            <a:srgbClr val="2C241B"/>
                          </a:solidFill>
                          <a:latin typeface="Nunito"/>
                        </a:rPr>
                        <a:t>5</a:t>
                      </a:r>
                      <a:endParaRPr sz="1100" b="1" i="0" u="none" dirty="0">
                        <a:solidFill>
                          <a:srgbClr val="2C241B"/>
                        </a:solidFill>
                        <a:latin typeface="Nunito"/>
                      </a:endParaRPr>
                    </a:p>
                  </a:txBody>
                  <a:tcPr marL="57040" marR="57040" marT="22816" marB="22816" anchor="ctr">
                    <a:lnL>
                      <a:noFill/>
                    </a:lnL>
                    <a:lnR>
                      <a:noFill/>
                    </a:lnR>
                    <a:lnT>
                      <a:noFill/>
                    </a:lnT>
                    <a:lnB>
                      <a:noFill/>
                    </a:lnB>
                    <a:solidFill>
                      <a:schemeClr val="bg1"/>
                    </a:solidFill>
                  </a:tcPr>
                </a:tc>
                <a:tc>
                  <a:txBody>
                    <a:bodyPr/>
                    <a:lstStyle/>
                    <a:p>
                      <a:pPr algn="l"/>
                      <a:r>
                        <a:rPr lang="en-US" sz="1100" b="0" i="0" u="none" dirty="0">
                          <a:solidFill>
                            <a:srgbClr val="2C241B"/>
                          </a:solidFill>
                          <a:latin typeface="Nunito"/>
                        </a:rPr>
                        <a:t>STORE LOCATION</a:t>
                      </a:r>
                      <a:endParaRPr sz="1100" b="0" i="0" u="none" dirty="0">
                        <a:solidFill>
                          <a:srgbClr val="2C241B"/>
                        </a:solidFill>
                        <a:latin typeface="Nunito"/>
                      </a:endParaRPr>
                    </a:p>
                  </a:txBody>
                  <a:tcPr marL="57040" marR="57040" marT="22816" marB="22816" anchor="ctr">
                    <a:lnL>
                      <a:noFill/>
                    </a:lnL>
                    <a:lnR>
                      <a:noFill/>
                    </a:lnR>
                    <a:lnT>
                      <a:noFill/>
                    </a:lnT>
                    <a:lnB>
                      <a:noFill/>
                    </a:lnB>
                    <a:solidFill>
                      <a:schemeClr val="bg1"/>
                    </a:solidFill>
                  </a:tcPr>
                </a:tc>
                <a:tc>
                  <a:txBody>
                    <a:bodyPr/>
                    <a:lstStyle/>
                    <a:p>
                      <a:pPr algn="l"/>
                      <a:r>
                        <a:rPr lang="en-US" sz="1100" b="0" i="0" u="none" dirty="0">
                          <a:solidFill>
                            <a:srgbClr val="8C5E3C"/>
                          </a:solidFill>
                          <a:latin typeface="monospace"/>
                        </a:rPr>
                        <a:t>CLUSTERD COLUMN</a:t>
                      </a:r>
                      <a:endParaRPr sz="1100" b="0" i="0" u="none" dirty="0">
                        <a:solidFill>
                          <a:srgbClr val="8C5E3C"/>
                        </a:solidFill>
                        <a:latin typeface="monospace"/>
                      </a:endParaRPr>
                    </a:p>
                  </a:txBody>
                  <a:tcPr marL="57040" marR="57040" marT="22816" marB="22816" anchor="ctr">
                    <a:lnL>
                      <a:noFill/>
                    </a:lnL>
                    <a:lnR>
                      <a:noFill/>
                    </a:lnR>
                    <a:lnT>
                      <a:noFill/>
                    </a:lnT>
                    <a:lnB>
                      <a:noFill/>
                    </a:lnB>
                    <a:solidFill>
                      <a:schemeClr val="bg1"/>
                    </a:solidFill>
                  </a:tcPr>
                </a:tc>
                <a:extLst>
                  <a:ext uri="{0D108BD9-81ED-4DB2-BD59-A6C34878D82A}">
                    <a16:rowId xmlns="" xmlns:a16="http://schemas.microsoft.com/office/drawing/2014/main" val="10005"/>
                  </a:ext>
                </a:extLst>
              </a:tr>
              <a:tr h="468869">
                <a:tc>
                  <a:txBody>
                    <a:bodyPr/>
                    <a:lstStyle/>
                    <a:p>
                      <a:pPr algn="l"/>
                      <a:r>
                        <a:rPr lang="en-US" sz="1100" b="1" i="0" u="none" dirty="0">
                          <a:solidFill>
                            <a:srgbClr val="2C241B"/>
                          </a:solidFill>
                          <a:latin typeface="Nunito"/>
                        </a:rPr>
                        <a:t>6</a:t>
                      </a:r>
                      <a:endParaRPr sz="1100" b="1" i="0" u="none" dirty="0">
                        <a:solidFill>
                          <a:srgbClr val="2C241B"/>
                        </a:solidFill>
                        <a:latin typeface="Nunito"/>
                      </a:endParaRPr>
                    </a:p>
                  </a:txBody>
                  <a:tcPr marL="57040" marR="57040" marT="22816" marB="22816" anchor="ctr">
                    <a:lnL>
                      <a:noFill/>
                    </a:lnL>
                    <a:lnR>
                      <a:noFill/>
                    </a:lnR>
                    <a:lnT>
                      <a:noFill/>
                    </a:lnT>
                    <a:lnB>
                      <a:noFill/>
                    </a:lnB>
                    <a:solidFill>
                      <a:srgbClr val="F5F0E6"/>
                    </a:solidFill>
                  </a:tcPr>
                </a:tc>
                <a:tc>
                  <a:txBody>
                    <a:bodyPr/>
                    <a:lstStyle/>
                    <a:p>
                      <a:pPr algn="l"/>
                      <a:r>
                        <a:rPr lang="en-US" sz="1100" b="0" i="0" u="none" dirty="0">
                          <a:solidFill>
                            <a:srgbClr val="2C241B"/>
                          </a:solidFill>
                          <a:latin typeface="Nunito"/>
                        </a:rPr>
                        <a:t>QUANTITY CATEGORY</a:t>
                      </a:r>
                      <a:endParaRPr sz="1100" b="0" i="0" u="none" dirty="0">
                        <a:solidFill>
                          <a:srgbClr val="2C241B"/>
                        </a:solidFill>
                        <a:latin typeface="Nunito"/>
                      </a:endParaRPr>
                    </a:p>
                  </a:txBody>
                  <a:tcPr marL="57040" marR="57040" marT="22816" marB="22816" anchor="ctr">
                    <a:lnL>
                      <a:noFill/>
                    </a:lnL>
                    <a:lnR>
                      <a:noFill/>
                    </a:lnR>
                    <a:lnT>
                      <a:noFill/>
                    </a:lnT>
                    <a:lnB>
                      <a:noFill/>
                    </a:lnB>
                    <a:solidFill>
                      <a:srgbClr val="F5F0E6"/>
                    </a:solidFill>
                  </a:tcPr>
                </a:tc>
                <a:tc>
                  <a:txBody>
                    <a:bodyPr/>
                    <a:lstStyle/>
                    <a:p>
                      <a:pPr algn="l"/>
                      <a:r>
                        <a:rPr lang="en-US" sz="1100" b="0" i="0" u="none" dirty="0">
                          <a:solidFill>
                            <a:srgbClr val="8C5E3C"/>
                          </a:solidFill>
                          <a:latin typeface="monospace"/>
                        </a:rPr>
                        <a:t>BAR</a:t>
                      </a:r>
                      <a:endParaRPr sz="1100" b="0" i="0" u="none" dirty="0">
                        <a:solidFill>
                          <a:srgbClr val="8C5E3C"/>
                        </a:solidFill>
                        <a:latin typeface="monospace"/>
                      </a:endParaRPr>
                    </a:p>
                  </a:txBody>
                  <a:tcPr marL="57040" marR="57040" marT="22816" marB="22816" anchor="ctr">
                    <a:lnL>
                      <a:noFill/>
                    </a:lnL>
                    <a:lnR>
                      <a:noFill/>
                    </a:lnR>
                    <a:lnT>
                      <a:noFill/>
                    </a:lnT>
                    <a:lnB>
                      <a:noFill/>
                    </a:lnB>
                    <a:solidFill>
                      <a:srgbClr val="F5F0E6"/>
                    </a:solidFill>
                  </a:tcPr>
                </a:tc>
                <a:extLst>
                  <a:ext uri="{0D108BD9-81ED-4DB2-BD59-A6C34878D82A}">
                    <a16:rowId xmlns="" xmlns:a16="http://schemas.microsoft.com/office/drawing/2014/main" val="10006"/>
                  </a:ext>
                </a:extLst>
              </a:tr>
              <a:tr h="468869">
                <a:tc>
                  <a:txBody>
                    <a:bodyPr/>
                    <a:lstStyle/>
                    <a:p>
                      <a:pPr algn="l"/>
                      <a:r>
                        <a:rPr lang="en-US" sz="1100" b="1" i="0" u="none" dirty="0">
                          <a:solidFill>
                            <a:srgbClr val="2C241B"/>
                          </a:solidFill>
                          <a:latin typeface="Nunito"/>
                        </a:rPr>
                        <a:t>7</a:t>
                      </a:r>
                      <a:endParaRPr sz="1100" b="1" i="0" u="none" dirty="0">
                        <a:solidFill>
                          <a:srgbClr val="2C241B"/>
                        </a:solidFill>
                        <a:latin typeface="Nunito"/>
                      </a:endParaRPr>
                    </a:p>
                  </a:txBody>
                  <a:tcPr marL="57040" marR="57040" marT="22816" marB="22816" anchor="ctr">
                    <a:lnL>
                      <a:noFill/>
                    </a:lnL>
                    <a:lnR>
                      <a:noFill/>
                    </a:lnR>
                    <a:lnT>
                      <a:noFill/>
                    </a:lnT>
                    <a:lnB>
                      <a:noFill/>
                    </a:lnB>
                    <a:solidFill>
                      <a:schemeClr val="bg1"/>
                    </a:solidFill>
                  </a:tcPr>
                </a:tc>
                <a:tc>
                  <a:txBody>
                    <a:bodyPr/>
                    <a:lstStyle/>
                    <a:p>
                      <a:pPr algn="l"/>
                      <a:r>
                        <a:rPr lang="en-US" sz="1100" b="0" i="0" u="none" dirty="0">
                          <a:solidFill>
                            <a:srgbClr val="2C241B"/>
                          </a:solidFill>
                          <a:latin typeface="Nunito"/>
                        </a:rPr>
                        <a:t>TRANSACTION BY PRODUCT CATEGORY</a:t>
                      </a:r>
                      <a:endParaRPr sz="1100" b="0" i="0" u="none" dirty="0">
                        <a:solidFill>
                          <a:srgbClr val="2C241B"/>
                        </a:solidFill>
                        <a:latin typeface="Nunito"/>
                      </a:endParaRPr>
                    </a:p>
                  </a:txBody>
                  <a:tcPr marL="57040" marR="57040" marT="22816" marB="22816" anchor="ctr">
                    <a:lnL>
                      <a:noFill/>
                    </a:lnL>
                    <a:lnR>
                      <a:noFill/>
                    </a:lnR>
                    <a:lnT>
                      <a:noFill/>
                    </a:lnT>
                    <a:lnB>
                      <a:noFill/>
                    </a:lnB>
                    <a:solidFill>
                      <a:schemeClr val="bg1"/>
                    </a:solidFill>
                  </a:tcPr>
                </a:tc>
                <a:tc>
                  <a:txBody>
                    <a:bodyPr/>
                    <a:lstStyle/>
                    <a:p>
                      <a:pPr algn="l"/>
                      <a:r>
                        <a:rPr lang="en-US" sz="1100" b="0" i="0" u="none" dirty="0">
                          <a:solidFill>
                            <a:srgbClr val="8C5E3C"/>
                          </a:solidFill>
                          <a:latin typeface="monospace"/>
                        </a:rPr>
                        <a:t>DONUT</a:t>
                      </a:r>
                      <a:endParaRPr sz="1100" b="0" i="0" u="none" dirty="0">
                        <a:solidFill>
                          <a:srgbClr val="8C5E3C"/>
                        </a:solidFill>
                        <a:latin typeface="monospace"/>
                      </a:endParaRPr>
                    </a:p>
                  </a:txBody>
                  <a:tcPr marL="57040" marR="57040" marT="22816" marB="22816" anchor="ctr">
                    <a:lnL>
                      <a:noFill/>
                    </a:lnL>
                    <a:lnR>
                      <a:noFill/>
                    </a:lnR>
                    <a:lnT>
                      <a:noFill/>
                    </a:lnT>
                    <a:lnB>
                      <a:noFill/>
                    </a:lnB>
                    <a:solidFill>
                      <a:schemeClr val="bg1"/>
                    </a:solidFill>
                  </a:tcPr>
                </a:tc>
                <a:extLst>
                  <a:ext uri="{0D108BD9-81ED-4DB2-BD59-A6C34878D82A}">
                    <a16:rowId xmlns="" xmlns:a16="http://schemas.microsoft.com/office/drawing/2014/main" val="10007"/>
                  </a:ext>
                </a:extLst>
              </a:tr>
              <a:tr h="468869">
                <a:tc>
                  <a:txBody>
                    <a:bodyPr/>
                    <a:lstStyle/>
                    <a:p>
                      <a:pPr algn="l"/>
                      <a:r>
                        <a:rPr lang="en-US" sz="1100" b="1" i="0" u="none" dirty="0">
                          <a:solidFill>
                            <a:srgbClr val="2C241B"/>
                          </a:solidFill>
                          <a:latin typeface="Nunito"/>
                        </a:rPr>
                        <a:t>8</a:t>
                      </a:r>
                      <a:endParaRPr sz="1100" b="1" i="0" u="none" dirty="0">
                        <a:solidFill>
                          <a:srgbClr val="2C241B"/>
                        </a:solidFill>
                        <a:latin typeface="Nunito"/>
                      </a:endParaRPr>
                    </a:p>
                  </a:txBody>
                  <a:tcPr marL="57040" marR="57040" marT="22816" marB="22816" anchor="ctr">
                    <a:lnL>
                      <a:noFill/>
                    </a:lnL>
                    <a:lnR>
                      <a:noFill/>
                    </a:lnR>
                    <a:lnT>
                      <a:noFill/>
                    </a:lnT>
                    <a:lnB>
                      <a:noFill/>
                    </a:lnB>
                    <a:solidFill>
                      <a:srgbClr val="F5F0E6"/>
                    </a:solidFill>
                  </a:tcPr>
                </a:tc>
                <a:tc>
                  <a:txBody>
                    <a:bodyPr/>
                    <a:lstStyle/>
                    <a:p>
                      <a:pPr algn="l"/>
                      <a:r>
                        <a:rPr lang="en-US" sz="1100" b="0" i="0" u="none" dirty="0">
                          <a:solidFill>
                            <a:srgbClr val="2C241B"/>
                          </a:solidFill>
                          <a:latin typeface="Nunito"/>
                        </a:rPr>
                        <a:t>SALES BY MONTH</a:t>
                      </a:r>
                      <a:endParaRPr sz="1100" b="0" i="0" u="none" dirty="0">
                        <a:solidFill>
                          <a:srgbClr val="2C241B"/>
                        </a:solidFill>
                        <a:latin typeface="Nunito"/>
                      </a:endParaRPr>
                    </a:p>
                  </a:txBody>
                  <a:tcPr marL="57040" marR="57040" marT="22816" marB="22816" anchor="ctr">
                    <a:lnL>
                      <a:noFill/>
                    </a:lnL>
                    <a:lnR>
                      <a:noFill/>
                    </a:lnR>
                    <a:lnT>
                      <a:noFill/>
                    </a:lnT>
                    <a:lnB>
                      <a:noFill/>
                    </a:lnB>
                    <a:solidFill>
                      <a:srgbClr val="F5F0E6"/>
                    </a:solidFill>
                  </a:tcPr>
                </a:tc>
                <a:tc>
                  <a:txBody>
                    <a:bodyPr/>
                    <a:lstStyle/>
                    <a:p>
                      <a:pPr algn="l"/>
                      <a:r>
                        <a:rPr lang="en-US" sz="1100" b="0" i="0" u="none" dirty="0">
                          <a:solidFill>
                            <a:srgbClr val="8C5E3C"/>
                          </a:solidFill>
                          <a:latin typeface="monospace"/>
                        </a:rPr>
                        <a:t>LINE</a:t>
                      </a:r>
                      <a:endParaRPr sz="1100" b="0" i="0" u="none" dirty="0">
                        <a:solidFill>
                          <a:srgbClr val="8C5E3C"/>
                        </a:solidFill>
                        <a:latin typeface="monospace"/>
                      </a:endParaRPr>
                    </a:p>
                  </a:txBody>
                  <a:tcPr marL="57040" marR="57040" marT="22816" marB="22816" anchor="ctr">
                    <a:lnL>
                      <a:noFill/>
                    </a:lnL>
                    <a:lnR>
                      <a:noFill/>
                    </a:lnR>
                    <a:lnT>
                      <a:noFill/>
                    </a:lnT>
                    <a:lnB>
                      <a:noFill/>
                    </a:lnB>
                    <a:solidFill>
                      <a:srgbClr val="F5F0E6"/>
                    </a:solidFill>
                  </a:tcPr>
                </a:tc>
                <a:extLst>
                  <a:ext uri="{0D108BD9-81ED-4DB2-BD59-A6C34878D82A}">
                    <a16:rowId xmlns="" xmlns:a16="http://schemas.microsoft.com/office/drawing/2014/main" val="10008"/>
                  </a:ext>
                </a:extLst>
              </a:tr>
              <a:tr h="468869">
                <a:tc>
                  <a:txBody>
                    <a:bodyPr/>
                    <a:lstStyle/>
                    <a:p>
                      <a:pPr algn="l"/>
                      <a:r>
                        <a:rPr lang="en-US" sz="1100" b="1" i="0" u="none" dirty="0">
                          <a:solidFill>
                            <a:srgbClr val="2C241B"/>
                          </a:solidFill>
                          <a:latin typeface="Nunito"/>
                        </a:rPr>
                        <a:t>9</a:t>
                      </a:r>
                      <a:endParaRPr sz="1100" b="1" i="0" u="none" dirty="0">
                        <a:solidFill>
                          <a:srgbClr val="2C241B"/>
                        </a:solidFill>
                        <a:latin typeface="Nunito"/>
                      </a:endParaRPr>
                    </a:p>
                  </a:txBody>
                  <a:tcPr marL="57040" marR="57040" marT="22816" marB="22816" anchor="ctr">
                    <a:lnL>
                      <a:noFill/>
                    </a:lnL>
                    <a:lnR>
                      <a:noFill/>
                    </a:lnR>
                    <a:lnT>
                      <a:noFill/>
                    </a:lnT>
                    <a:lnB>
                      <a:noFill/>
                    </a:lnB>
                    <a:solidFill>
                      <a:schemeClr val="bg1"/>
                    </a:solidFill>
                  </a:tcPr>
                </a:tc>
                <a:tc>
                  <a:txBody>
                    <a:bodyPr/>
                    <a:lstStyle/>
                    <a:p>
                      <a:pPr algn="l"/>
                      <a:r>
                        <a:rPr lang="en-US" sz="1100" b="0" i="0" u="none" dirty="0">
                          <a:solidFill>
                            <a:srgbClr val="2C241B"/>
                          </a:solidFill>
                          <a:latin typeface="Nunito"/>
                        </a:rPr>
                        <a:t>PRODUCT DETAIL</a:t>
                      </a:r>
                      <a:endParaRPr sz="1100" b="0" i="0" u="none" dirty="0">
                        <a:solidFill>
                          <a:srgbClr val="2C241B"/>
                        </a:solidFill>
                        <a:latin typeface="Nunito"/>
                      </a:endParaRPr>
                    </a:p>
                  </a:txBody>
                  <a:tcPr marL="57040" marR="57040" marT="22816" marB="22816" anchor="ctr">
                    <a:lnL>
                      <a:noFill/>
                    </a:lnL>
                    <a:lnR>
                      <a:noFill/>
                    </a:lnR>
                    <a:lnT>
                      <a:noFill/>
                    </a:lnT>
                    <a:lnB>
                      <a:noFill/>
                    </a:lnB>
                    <a:solidFill>
                      <a:schemeClr val="bg1"/>
                    </a:solidFill>
                  </a:tcPr>
                </a:tc>
                <a:tc>
                  <a:txBody>
                    <a:bodyPr/>
                    <a:lstStyle/>
                    <a:p>
                      <a:pPr algn="l"/>
                      <a:r>
                        <a:rPr lang="en-US" sz="1100" b="0" i="0" u="none" dirty="0">
                          <a:solidFill>
                            <a:srgbClr val="8C5E3C"/>
                          </a:solidFill>
                          <a:latin typeface="monospace"/>
                        </a:rPr>
                        <a:t>BAR</a:t>
                      </a:r>
                      <a:endParaRPr sz="1100" b="0" i="0" u="none" dirty="0">
                        <a:solidFill>
                          <a:srgbClr val="8C5E3C"/>
                        </a:solidFill>
                        <a:latin typeface="monospace"/>
                      </a:endParaRPr>
                    </a:p>
                  </a:txBody>
                  <a:tcPr marL="57040" marR="57040" marT="22816" marB="22816" anchor="ctr">
                    <a:lnL>
                      <a:noFill/>
                    </a:lnL>
                    <a:lnR>
                      <a:noFill/>
                    </a:lnR>
                    <a:lnT>
                      <a:noFill/>
                    </a:lnT>
                    <a:lnB>
                      <a:noFill/>
                    </a:lnB>
                    <a:solidFill>
                      <a:schemeClr val="bg1"/>
                    </a:solidFill>
                  </a:tcPr>
                </a:tc>
                <a:extLst>
                  <a:ext uri="{0D108BD9-81ED-4DB2-BD59-A6C34878D82A}">
                    <a16:rowId xmlns="" xmlns:a16="http://schemas.microsoft.com/office/drawing/2014/main" val="10009"/>
                  </a:ext>
                </a:extLst>
              </a:tr>
              <a:tr h="468869">
                <a:tc>
                  <a:txBody>
                    <a:bodyPr/>
                    <a:lstStyle/>
                    <a:p>
                      <a:pPr algn="l"/>
                      <a:r>
                        <a:rPr lang="en-US" sz="1100" b="1" i="0" u="none" dirty="0">
                          <a:solidFill>
                            <a:srgbClr val="2C241B"/>
                          </a:solidFill>
                          <a:latin typeface="Nunito"/>
                        </a:rPr>
                        <a:t>10</a:t>
                      </a:r>
                      <a:endParaRPr sz="1100" b="1" i="0" u="none" dirty="0">
                        <a:solidFill>
                          <a:srgbClr val="2C241B"/>
                        </a:solidFill>
                        <a:latin typeface="Nunito"/>
                      </a:endParaRPr>
                    </a:p>
                  </a:txBody>
                  <a:tcPr marL="57040" marR="57040" marT="22816" marB="22816" anchor="ctr">
                    <a:lnL>
                      <a:noFill/>
                    </a:lnL>
                    <a:lnR>
                      <a:noFill/>
                    </a:lnR>
                    <a:lnT>
                      <a:noFill/>
                    </a:lnT>
                    <a:lnB>
                      <a:noFill/>
                    </a:lnB>
                    <a:solidFill>
                      <a:srgbClr val="F5F0E6"/>
                    </a:solidFill>
                  </a:tcPr>
                </a:tc>
                <a:tc>
                  <a:txBody>
                    <a:bodyPr/>
                    <a:lstStyle/>
                    <a:p>
                      <a:pPr algn="l"/>
                      <a:r>
                        <a:rPr lang="en-US" sz="1100" b="0" i="0" u="none" dirty="0">
                          <a:solidFill>
                            <a:srgbClr val="2C241B"/>
                          </a:solidFill>
                          <a:latin typeface="Nunito"/>
                        </a:rPr>
                        <a:t>SALES CATEGORY</a:t>
                      </a:r>
                      <a:endParaRPr sz="1100" b="0" i="0" u="none" dirty="0">
                        <a:solidFill>
                          <a:srgbClr val="2C241B"/>
                        </a:solidFill>
                        <a:latin typeface="Nunito"/>
                      </a:endParaRPr>
                    </a:p>
                  </a:txBody>
                  <a:tcPr marL="57040" marR="57040" marT="22816" marB="22816" anchor="ctr">
                    <a:lnL>
                      <a:noFill/>
                    </a:lnL>
                    <a:lnR>
                      <a:noFill/>
                    </a:lnR>
                    <a:lnT>
                      <a:noFill/>
                    </a:lnT>
                    <a:lnB>
                      <a:noFill/>
                    </a:lnB>
                    <a:solidFill>
                      <a:srgbClr val="F5F0E6"/>
                    </a:solidFill>
                  </a:tcPr>
                </a:tc>
                <a:tc>
                  <a:txBody>
                    <a:bodyPr/>
                    <a:lstStyle/>
                    <a:p>
                      <a:pPr algn="l"/>
                      <a:r>
                        <a:rPr lang="en-US" sz="1100" b="0" i="0" u="none" dirty="0">
                          <a:solidFill>
                            <a:srgbClr val="8C5E3C"/>
                          </a:solidFill>
                          <a:latin typeface="monospace"/>
                        </a:rPr>
                        <a:t>CLUSTERD COLUMN</a:t>
                      </a:r>
                      <a:endParaRPr sz="1100" b="0" i="0" u="none" dirty="0">
                        <a:solidFill>
                          <a:srgbClr val="8C5E3C"/>
                        </a:solidFill>
                        <a:latin typeface="monospace"/>
                      </a:endParaRPr>
                    </a:p>
                  </a:txBody>
                  <a:tcPr marL="57040" marR="57040" marT="22816" marB="22816" anchor="ctr">
                    <a:lnL>
                      <a:noFill/>
                    </a:lnL>
                    <a:lnR>
                      <a:noFill/>
                    </a:lnR>
                    <a:lnT>
                      <a:noFill/>
                    </a:lnT>
                    <a:lnB>
                      <a:noFill/>
                    </a:lnB>
                    <a:solidFill>
                      <a:srgbClr val="F5F0E6"/>
                    </a:solidFill>
                  </a:tcPr>
                </a:tc>
                <a:extLst>
                  <a:ext uri="{0D108BD9-81ED-4DB2-BD59-A6C34878D82A}">
                    <a16:rowId xmlns="" xmlns:a16="http://schemas.microsoft.com/office/drawing/2014/main" val="1001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A3B32"/>
        </a:solidFill>
        <a:effectLst/>
      </p:bgPr>
    </p:bg>
    <p:spTree>
      <p:nvGrpSpPr>
        <p:cNvPr id="1" name=""/>
        <p:cNvGrpSpPr/>
        <p:nvPr/>
      </p:nvGrpSpPr>
      <p:grpSpPr>
        <a:xfrm>
          <a:off x="0" y="0"/>
          <a:ext cx="0" cy="0"/>
          <a:chOff x="0" y="0"/>
          <a:chExt cx="0" cy="0"/>
        </a:xfrm>
      </p:grpSpPr>
      <p:sp>
        <p:nvSpPr>
          <p:cNvPr id="2" name="Rounded Rectangle 1"/>
          <p:cNvSpPr/>
          <p:nvPr/>
        </p:nvSpPr>
        <p:spPr>
          <a:xfrm>
            <a:off x="602848" y="1619988"/>
            <a:ext cx="9311874" cy="4974764"/>
          </a:xfrm>
          <a:prstGeom prst="roundRect">
            <a:avLst>
              <a:gd name="adj" fmla="val 2133"/>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901125"/>
            <a:ext cx="1884218" cy="855107"/>
          </a:xfrm>
          <a:prstGeom prst="roundRect">
            <a:avLst>
              <a:gd name="adj" fmla="val 6779"/>
            </a:avLst>
          </a:prstGeom>
          <a:solidFill>
            <a:srgbClr val="2C2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115550" y="485775"/>
            <a:ext cx="1466850" cy="333375"/>
          </a:xfrm>
          <a:prstGeom prst="roundRect">
            <a:avLst>
              <a:gd name="adj" fmla="val 50000"/>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9599" y="901125"/>
            <a:ext cx="45719" cy="855107"/>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9600" y="457200"/>
            <a:ext cx="4409862" cy="369332"/>
          </a:xfrm>
          <a:prstGeom prst="rect">
            <a:avLst/>
          </a:prstGeom>
          <a:noFill/>
        </p:spPr>
        <p:txBody>
          <a:bodyPr wrap="none" lIns="0" tIns="0" rIns="0" bIns="0" anchor="t">
            <a:spAutoFit/>
          </a:bodyPr>
          <a:lstStyle/>
          <a:p>
            <a:pPr algn="l"/>
            <a:r>
              <a:rPr lang="en-US" sz="2400" b="1" dirty="0">
                <a:solidFill>
                  <a:srgbClr val="FAF8F5"/>
                </a:solidFill>
                <a:latin typeface="Lora"/>
              </a:rPr>
              <a:t>1. Coffee shop sales dashboard</a:t>
            </a:r>
            <a:endParaRPr sz="2400" b="1" i="0" u="none" dirty="0">
              <a:solidFill>
                <a:srgbClr val="FAF8F5"/>
              </a:solidFill>
              <a:latin typeface="Lora"/>
            </a:endParaRPr>
          </a:p>
        </p:txBody>
      </p:sp>
      <p:sp>
        <p:nvSpPr>
          <p:cNvPr id="15" name="TextBox 14"/>
          <p:cNvSpPr txBox="1"/>
          <p:nvPr/>
        </p:nvSpPr>
        <p:spPr>
          <a:xfrm>
            <a:off x="10267950" y="561975"/>
            <a:ext cx="1257300" cy="180975"/>
          </a:xfrm>
          <a:prstGeom prst="rect">
            <a:avLst/>
          </a:prstGeom>
          <a:noFill/>
        </p:spPr>
        <p:txBody>
          <a:bodyPr wrap="square" lIns="0" tIns="0" rIns="0" bIns="0" anchor="t">
            <a:spAutoFit/>
          </a:bodyPr>
          <a:lstStyle/>
          <a:p>
            <a:pPr algn="l"/>
            <a:r>
              <a:rPr sz="1050" b="1" i="0" u="none">
                <a:solidFill>
                  <a:srgbClr val="FFFFFF"/>
                </a:solidFill>
                <a:latin typeface="Nunito"/>
              </a:rPr>
              <a:t>Dashboard View 1</a:t>
            </a:r>
          </a:p>
        </p:txBody>
      </p:sp>
      <p:sp>
        <p:nvSpPr>
          <p:cNvPr id="16" name="TextBox 15"/>
          <p:cNvSpPr txBox="1"/>
          <p:nvPr/>
        </p:nvSpPr>
        <p:spPr>
          <a:xfrm>
            <a:off x="876300" y="1028129"/>
            <a:ext cx="1183252" cy="138499"/>
          </a:xfrm>
          <a:prstGeom prst="rect">
            <a:avLst/>
          </a:prstGeom>
          <a:noFill/>
        </p:spPr>
        <p:txBody>
          <a:bodyPr wrap="square" lIns="0" tIns="0" rIns="0" bIns="0" anchor="t">
            <a:spAutoFit/>
          </a:bodyPr>
          <a:lstStyle/>
          <a:p>
            <a:pPr algn="l"/>
            <a:r>
              <a:rPr lang="en-US" sz="900" dirty="0">
                <a:solidFill>
                  <a:srgbClr val="D4B595"/>
                </a:solidFill>
                <a:latin typeface="Nunito"/>
              </a:rPr>
              <a:t>TOTAL SALES</a:t>
            </a:r>
          </a:p>
        </p:txBody>
      </p:sp>
      <p:sp>
        <p:nvSpPr>
          <p:cNvPr id="17" name="TextBox 16"/>
          <p:cNvSpPr txBox="1"/>
          <p:nvPr/>
        </p:nvSpPr>
        <p:spPr>
          <a:xfrm>
            <a:off x="876300" y="1248400"/>
            <a:ext cx="1183252" cy="276999"/>
          </a:xfrm>
          <a:prstGeom prst="rect">
            <a:avLst/>
          </a:prstGeom>
          <a:noFill/>
        </p:spPr>
        <p:txBody>
          <a:bodyPr wrap="square" lIns="0" tIns="0" rIns="0" bIns="0" anchor="t">
            <a:spAutoFit/>
          </a:bodyPr>
          <a:lstStyle/>
          <a:p>
            <a:pPr algn="l"/>
            <a:r>
              <a:rPr lang="en-US" b="1" i="0" u="none" dirty="0">
                <a:solidFill>
                  <a:srgbClr val="FAF8F5"/>
                </a:solidFill>
                <a:latin typeface="Nunito"/>
              </a:rPr>
              <a:t>698812.33</a:t>
            </a:r>
            <a:endParaRPr b="1" i="0" u="none" dirty="0">
              <a:solidFill>
                <a:srgbClr val="FAF8F5"/>
              </a:solidFill>
              <a:latin typeface="Nunito"/>
            </a:endParaRPr>
          </a:p>
        </p:txBody>
      </p:sp>
      <p:sp>
        <p:nvSpPr>
          <p:cNvPr id="26" name="Rounded Rectangle 25"/>
          <p:cNvSpPr/>
          <p:nvPr/>
        </p:nvSpPr>
        <p:spPr>
          <a:xfrm>
            <a:off x="3135743" y="901125"/>
            <a:ext cx="1771414" cy="855107"/>
          </a:xfrm>
          <a:prstGeom prst="roundRect">
            <a:avLst>
              <a:gd name="adj" fmla="val 6779"/>
            </a:avLst>
          </a:prstGeom>
          <a:solidFill>
            <a:srgbClr val="2C2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135742" y="901125"/>
            <a:ext cx="45719" cy="855107"/>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02443" y="1058173"/>
            <a:ext cx="1414207" cy="138499"/>
          </a:xfrm>
          <a:prstGeom prst="rect">
            <a:avLst/>
          </a:prstGeom>
          <a:noFill/>
        </p:spPr>
        <p:txBody>
          <a:bodyPr wrap="square" lIns="0" tIns="0" rIns="0" bIns="0" anchor="t">
            <a:spAutoFit/>
          </a:bodyPr>
          <a:lstStyle/>
          <a:p>
            <a:pPr algn="l"/>
            <a:r>
              <a:rPr lang="en-US" sz="900" dirty="0">
                <a:solidFill>
                  <a:srgbClr val="D4B595"/>
                </a:solidFill>
                <a:latin typeface="Nunito"/>
              </a:rPr>
              <a:t>TOTAL TRANSACTIONS</a:t>
            </a:r>
          </a:p>
        </p:txBody>
      </p:sp>
      <p:sp>
        <p:nvSpPr>
          <p:cNvPr id="29" name="TextBox 28"/>
          <p:cNvSpPr txBox="1"/>
          <p:nvPr/>
        </p:nvSpPr>
        <p:spPr>
          <a:xfrm>
            <a:off x="3395324" y="1248399"/>
            <a:ext cx="1326110" cy="276999"/>
          </a:xfrm>
          <a:prstGeom prst="rect">
            <a:avLst/>
          </a:prstGeom>
          <a:noFill/>
        </p:spPr>
        <p:txBody>
          <a:bodyPr wrap="square" lIns="0" tIns="0" rIns="0" bIns="0" anchor="t">
            <a:spAutoFit/>
          </a:bodyPr>
          <a:lstStyle/>
          <a:p>
            <a:pPr algn="l"/>
            <a:r>
              <a:rPr lang="en-US" b="1" i="0" u="none" dirty="0">
                <a:solidFill>
                  <a:srgbClr val="FAF8F5"/>
                </a:solidFill>
                <a:latin typeface="Nunito"/>
              </a:rPr>
              <a:t>149116</a:t>
            </a:r>
            <a:endParaRPr b="1" i="0" u="none" dirty="0">
              <a:solidFill>
                <a:srgbClr val="FAF8F5"/>
              </a:solidFill>
              <a:latin typeface="Nunito"/>
            </a:endParaRPr>
          </a:p>
        </p:txBody>
      </p:sp>
      <p:sp>
        <p:nvSpPr>
          <p:cNvPr id="30" name="Rounded Rectangle 29"/>
          <p:cNvSpPr/>
          <p:nvPr/>
        </p:nvSpPr>
        <p:spPr>
          <a:xfrm>
            <a:off x="5526231" y="901125"/>
            <a:ext cx="1771414" cy="855107"/>
          </a:xfrm>
          <a:prstGeom prst="roundRect">
            <a:avLst>
              <a:gd name="adj" fmla="val 6779"/>
            </a:avLst>
          </a:prstGeom>
          <a:solidFill>
            <a:srgbClr val="2C2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526230" y="901125"/>
            <a:ext cx="45719" cy="855107"/>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792931" y="1058172"/>
            <a:ext cx="1388610" cy="138499"/>
          </a:xfrm>
          <a:prstGeom prst="rect">
            <a:avLst/>
          </a:prstGeom>
          <a:noFill/>
        </p:spPr>
        <p:txBody>
          <a:bodyPr wrap="square" lIns="0" tIns="0" rIns="0" bIns="0" anchor="t">
            <a:spAutoFit/>
          </a:bodyPr>
          <a:lstStyle/>
          <a:p>
            <a:pPr algn="l"/>
            <a:r>
              <a:rPr lang="en-US" sz="900" dirty="0">
                <a:solidFill>
                  <a:srgbClr val="D4B595"/>
                </a:solidFill>
                <a:latin typeface="Nunito"/>
              </a:rPr>
              <a:t>TOTAL QTY SOLD</a:t>
            </a:r>
          </a:p>
        </p:txBody>
      </p:sp>
      <p:sp>
        <p:nvSpPr>
          <p:cNvPr id="33" name="TextBox 32"/>
          <p:cNvSpPr txBox="1"/>
          <p:nvPr/>
        </p:nvSpPr>
        <p:spPr>
          <a:xfrm>
            <a:off x="5792931" y="1264232"/>
            <a:ext cx="871404" cy="276999"/>
          </a:xfrm>
          <a:prstGeom prst="rect">
            <a:avLst/>
          </a:prstGeom>
          <a:noFill/>
        </p:spPr>
        <p:txBody>
          <a:bodyPr wrap="square" lIns="0" tIns="0" rIns="0" bIns="0" anchor="t">
            <a:spAutoFit/>
          </a:bodyPr>
          <a:lstStyle/>
          <a:p>
            <a:pPr algn="l"/>
            <a:r>
              <a:rPr lang="en-US" b="1" i="0" u="none" dirty="0">
                <a:solidFill>
                  <a:srgbClr val="FAF8F5"/>
                </a:solidFill>
                <a:latin typeface="Nunito"/>
              </a:rPr>
              <a:t>214470</a:t>
            </a:r>
            <a:endParaRPr b="1" i="0" u="none" dirty="0">
              <a:solidFill>
                <a:srgbClr val="FAF8F5"/>
              </a:solidFill>
              <a:latin typeface="Nunito"/>
            </a:endParaRPr>
          </a:p>
        </p:txBody>
      </p:sp>
      <p:sp>
        <p:nvSpPr>
          <p:cNvPr id="34" name="Rounded Rectangle 33"/>
          <p:cNvSpPr/>
          <p:nvPr/>
        </p:nvSpPr>
        <p:spPr>
          <a:xfrm>
            <a:off x="8007226" y="901125"/>
            <a:ext cx="1914248" cy="855107"/>
          </a:xfrm>
          <a:prstGeom prst="roundRect">
            <a:avLst>
              <a:gd name="adj" fmla="val 6779"/>
            </a:avLst>
          </a:prstGeom>
          <a:solidFill>
            <a:srgbClr val="2C2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07225" y="901125"/>
            <a:ext cx="45719" cy="855107"/>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73926" y="1058171"/>
            <a:ext cx="1745263" cy="138499"/>
          </a:xfrm>
          <a:prstGeom prst="rect">
            <a:avLst/>
          </a:prstGeom>
          <a:noFill/>
        </p:spPr>
        <p:txBody>
          <a:bodyPr wrap="square" lIns="0" tIns="0" rIns="0" bIns="0" anchor="t">
            <a:spAutoFit/>
          </a:bodyPr>
          <a:lstStyle/>
          <a:p>
            <a:pPr algn="l"/>
            <a:r>
              <a:rPr lang="en-US" sz="900" dirty="0">
                <a:solidFill>
                  <a:srgbClr val="D4B595"/>
                </a:solidFill>
                <a:latin typeface="Nunito"/>
              </a:rPr>
              <a:t>AVG TRANSACTION VALUE</a:t>
            </a:r>
          </a:p>
        </p:txBody>
      </p:sp>
      <p:sp>
        <p:nvSpPr>
          <p:cNvPr id="37" name="TextBox 36"/>
          <p:cNvSpPr txBox="1"/>
          <p:nvPr/>
        </p:nvSpPr>
        <p:spPr>
          <a:xfrm>
            <a:off x="8273926" y="1230627"/>
            <a:ext cx="1524280" cy="276999"/>
          </a:xfrm>
          <a:prstGeom prst="rect">
            <a:avLst/>
          </a:prstGeom>
          <a:noFill/>
        </p:spPr>
        <p:txBody>
          <a:bodyPr wrap="square" lIns="0" tIns="0" rIns="0" bIns="0" anchor="t">
            <a:spAutoFit/>
          </a:bodyPr>
          <a:lstStyle/>
          <a:p>
            <a:pPr algn="l"/>
            <a:r>
              <a:rPr lang="en-US" b="1" dirty="0" smtClean="0">
                <a:solidFill>
                  <a:srgbClr val="FAF8F5"/>
                </a:solidFill>
                <a:latin typeface="Nunito"/>
              </a:rPr>
              <a:t>3.382219413</a:t>
            </a:r>
            <a:endParaRPr b="1" i="0" u="none" dirty="0">
              <a:solidFill>
                <a:srgbClr val="FAF8F5"/>
              </a:solidFill>
              <a:latin typeface="Nunito"/>
            </a:endParaRPr>
          </a:p>
        </p:txBody>
      </p:sp>
      <p:graphicFrame>
        <p:nvGraphicFramePr>
          <p:cNvPr id="42" name="Chart 41">
            <a:extLst>
              <a:ext uri="{FF2B5EF4-FFF2-40B4-BE49-F238E27FC236}">
                <a16:creationId xmlns:a16="http://schemas.microsoft.com/office/drawing/2014/main" xmlns:lc="http://schemas.openxmlformats.org/drawingml/2006/lockedCanvas" xmlns="" id="{9C77FF68-7525-4E01-BA89-D7523D157CCC}"/>
              </a:ext>
            </a:extLst>
          </p:cNvPr>
          <p:cNvGraphicFramePr>
            <a:graphicFrameLocks/>
          </p:cNvGraphicFramePr>
          <p:nvPr>
            <p:extLst>
              <p:ext uri="{D42A27DB-BD31-4B8C-83A1-F6EECF244321}">
                <p14:modId xmlns:p14="http://schemas.microsoft.com/office/powerpoint/2010/main" val="384767227"/>
              </p:ext>
            </p:extLst>
          </p:nvPr>
        </p:nvGraphicFramePr>
        <p:xfrm>
          <a:off x="706987" y="1872672"/>
          <a:ext cx="4380579" cy="217234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3" name="Chart 42">
            <a:extLst>
              <a:ext uri="{FF2B5EF4-FFF2-40B4-BE49-F238E27FC236}">
                <a16:creationId xmlns:a16="http://schemas.microsoft.com/office/drawing/2014/main" xmlns:lc="http://schemas.openxmlformats.org/drawingml/2006/lockedCanvas" xmlns="" id="{755AACDC-0212-4AE4-87CE-B445204F8E4E}"/>
              </a:ext>
            </a:extLst>
          </p:cNvPr>
          <p:cNvGraphicFramePr>
            <a:graphicFrameLocks/>
          </p:cNvGraphicFramePr>
          <p:nvPr>
            <p:extLst>
              <p:ext uri="{D42A27DB-BD31-4B8C-83A1-F6EECF244321}">
                <p14:modId xmlns:p14="http://schemas.microsoft.com/office/powerpoint/2010/main" val="1848319765"/>
              </p:ext>
            </p:extLst>
          </p:nvPr>
        </p:nvGraphicFramePr>
        <p:xfrm>
          <a:off x="5191704" y="1872672"/>
          <a:ext cx="4723017" cy="223469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4" name="Chart 43">
            <a:extLst>
              <a:ext uri="{FF2B5EF4-FFF2-40B4-BE49-F238E27FC236}">
                <a16:creationId xmlns:a16="http://schemas.microsoft.com/office/drawing/2014/main" xmlns:lc="http://schemas.openxmlformats.org/drawingml/2006/lockedCanvas" xmlns="" id="{07C9CEA1-880C-4F5E-899C-6B883267FA6D}"/>
              </a:ext>
            </a:extLst>
          </p:cNvPr>
          <p:cNvGraphicFramePr>
            <a:graphicFrameLocks/>
          </p:cNvGraphicFramePr>
          <p:nvPr>
            <p:extLst>
              <p:ext uri="{D42A27DB-BD31-4B8C-83A1-F6EECF244321}">
                <p14:modId xmlns:p14="http://schemas.microsoft.com/office/powerpoint/2010/main" val="4267992655"/>
              </p:ext>
            </p:extLst>
          </p:nvPr>
        </p:nvGraphicFramePr>
        <p:xfrm>
          <a:off x="706987" y="4107370"/>
          <a:ext cx="4373827" cy="259727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5" name="Chart 44">
            <a:extLst>
              <a:ext uri="{FF2B5EF4-FFF2-40B4-BE49-F238E27FC236}">
                <a16:creationId xmlns:a16="http://schemas.microsoft.com/office/drawing/2014/main" xmlns:lc="http://schemas.openxmlformats.org/drawingml/2006/lockedCanvas" xmlns="" id="{BAD860FE-B21A-4939-AFF1-4B84CE329864}"/>
              </a:ext>
            </a:extLst>
          </p:cNvPr>
          <p:cNvGraphicFramePr>
            <a:graphicFrameLocks/>
          </p:cNvGraphicFramePr>
          <p:nvPr>
            <p:extLst>
              <p:ext uri="{D42A27DB-BD31-4B8C-83A1-F6EECF244321}">
                <p14:modId xmlns:p14="http://schemas.microsoft.com/office/powerpoint/2010/main" val="2840372660"/>
              </p:ext>
            </p:extLst>
          </p:nvPr>
        </p:nvGraphicFramePr>
        <p:xfrm>
          <a:off x="5176838" y="4141327"/>
          <a:ext cx="4621368" cy="2623626"/>
        </p:xfrm>
        <a:graphic>
          <a:graphicData uri="http://schemas.openxmlformats.org/drawingml/2006/chart">
            <c:chart xmlns:c="http://schemas.openxmlformats.org/drawingml/2006/chart" xmlns:r="http://schemas.openxmlformats.org/officeDocument/2006/relationships" r:id="rId6"/>
          </a:graphicData>
        </a:graphic>
      </p:graphicFrame>
      <p:pic>
        <p:nvPicPr>
          <p:cNvPr id="5" name="Picture 4"/>
          <p:cNvPicPr>
            <a:picLocks noChangeAspect="1"/>
          </p:cNvPicPr>
          <p:nvPr/>
        </p:nvPicPr>
        <p:blipFill>
          <a:blip r:embed="rId7"/>
          <a:stretch>
            <a:fillRect/>
          </a:stretch>
        </p:blipFill>
        <p:spPr>
          <a:xfrm>
            <a:off x="10115550" y="4529541"/>
            <a:ext cx="1828959" cy="2328459"/>
          </a:xfrm>
          <a:prstGeom prst="rect">
            <a:avLst/>
          </a:prstGeom>
        </p:spPr>
      </p:pic>
      <p:pic>
        <p:nvPicPr>
          <p:cNvPr id="9" name="Picture 8"/>
          <p:cNvPicPr>
            <a:picLocks noChangeAspect="1"/>
          </p:cNvPicPr>
          <p:nvPr/>
        </p:nvPicPr>
        <p:blipFill>
          <a:blip r:embed="rId8"/>
          <a:stretch>
            <a:fillRect/>
          </a:stretch>
        </p:blipFill>
        <p:spPr>
          <a:xfrm>
            <a:off x="10115550" y="1756232"/>
            <a:ext cx="1828959" cy="25849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A3B32"/>
        </a:solidFill>
        <a:effectLst/>
      </p:bgPr>
    </p:bg>
    <p:spTree>
      <p:nvGrpSpPr>
        <p:cNvPr id="1" name=""/>
        <p:cNvGrpSpPr/>
        <p:nvPr/>
      </p:nvGrpSpPr>
      <p:grpSpPr>
        <a:xfrm>
          <a:off x="0" y="0"/>
          <a:ext cx="0" cy="0"/>
          <a:chOff x="0" y="0"/>
          <a:chExt cx="0" cy="0"/>
        </a:xfrm>
      </p:grpSpPr>
      <p:sp>
        <p:nvSpPr>
          <p:cNvPr id="2" name="Rounded Rectangle 1"/>
          <p:cNvSpPr/>
          <p:nvPr/>
        </p:nvSpPr>
        <p:spPr>
          <a:xfrm>
            <a:off x="609600" y="1390650"/>
            <a:ext cx="2286000" cy="5010150"/>
          </a:xfrm>
          <a:prstGeom prst="roundRect">
            <a:avLst>
              <a:gd name="adj" fmla="val 3333"/>
            </a:avLst>
          </a:prstGeom>
          <a:solidFill>
            <a:srgbClr val="2C2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0115550" y="485775"/>
            <a:ext cx="1466850" cy="333375"/>
          </a:xfrm>
          <a:prstGeom prst="roundRect">
            <a:avLst>
              <a:gd name="adj" fmla="val 50000"/>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136" y="184169"/>
            <a:ext cx="4448334" cy="369332"/>
          </a:xfrm>
          <a:prstGeom prst="rect">
            <a:avLst/>
          </a:prstGeom>
          <a:noFill/>
        </p:spPr>
        <p:txBody>
          <a:bodyPr wrap="none" lIns="0" tIns="0" rIns="0" bIns="0" anchor="t">
            <a:spAutoFit/>
          </a:bodyPr>
          <a:lstStyle/>
          <a:p>
            <a:pPr algn="l"/>
            <a:r>
              <a:rPr lang="en-US" sz="2400" b="1" dirty="0">
                <a:solidFill>
                  <a:srgbClr val="FAF8F5"/>
                </a:solidFill>
                <a:latin typeface="Lora"/>
              </a:rPr>
              <a:t>2. Coffee shop sales dashboard</a:t>
            </a:r>
            <a:endParaRPr sz="2400" b="1" i="0" u="none" dirty="0">
              <a:solidFill>
                <a:srgbClr val="FAF8F5"/>
              </a:solidFill>
              <a:latin typeface="Lora"/>
            </a:endParaRPr>
          </a:p>
        </p:txBody>
      </p:sp>
      <p:sp>
        <p:nvSpPr>
          <p:cNvPr id="15" name="TextBox 14"/>
          <p:cNvSpPr txBox="1"/>
          <p:nvPr/>
        </p:nvSpPr>
        <p:spPr>
          <a:xfrm>
            <a:off x="10267950" y="561975"/>
            <a:ext cx="1257300" cy="180975"/>
          </a:xfrm>
          <a:prstGeom prst="rect">
            <a:avLst/>
          </a:prstGeom>
          <a:noFill/>
        </p:spPr>
        <p:txBody>
          <a:bodyPr wrap="square" lIns="0" tIns="0" rIns="0" bIns="0" anchor="t">
            <a:spAutoFit/>
          </a:bodyPr>
          <a:lstStyle/>
          <a:p>
            <a:pPr algn="l"/>
            <a:r>
              <a:rPr sz="1050" b="1" i="0" u="none">
                <a:solidFill>
                  <a:srgbClr val="FFFFFF"/>
                </a:solidFill>
                <a:latin typeface="Nunito"/>
              </a:rPr>
              <a:t>Dashboard View 2</a:t>
            </a:r>
          </a:p>
        </p:txBody>
      </p:sp>
      <p:sp>
        <p:nvSpPr>
          <p:cNvPr id="26" name="Rectangle: Rounded Corners 25">
            <a:extLst>
              <a:ext uri="{FF2B5EF4-FFF2-40B4-BE49-F238E27FC236}">
                <a16:creationId xmlns="" xmlns:a16="http://schemas.microsoft.com/office/drawing/2014/main" id="{119BB95C-CFD2-D580-0329-72B95938E7EE}"/>
              </a:ext>
            </a:extLst>
          </p:cNvPr>
          <p:cNvSpPr/>
          <p:nvPr/>
        </p:nvSpPr>
        <p:spPr>
          <a:xfrm>
            <a:off x="760264" y="1097806"/>
            <a:ext cx="1714500" cy="784860"/>
          </a:xfrm>
          <a:prstGeom prst="round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sz="1100"/>
              <a:t>AVERAGE  UNIT PRICE</a:t>
            </a:r>
          </a:p>
        </p:txBody>
      </p:sp>
      <p:sp>
        <p:nvSpPr>
          <p:cNvPr id="27" name="Rectangle: Rounded Corners 26">
            <a:extLst>
              <a:ext uri="{FF2B5EF4-FFF2-40B4-BE49-F238E27FC236}">
                <a16:creationId xmlns="" xmlns:a16="http://schemas.microsoft.com/office/drawing/2014/main" id="{F10D3B7F-B1AC-906D-F89E-EC8151C0EDAD}"/>
              </a:ext>
            </a:extLst>
          </p:cNvPr>
          <p:cNvSpPr/>
          <p:nvPr/>
        </p:nvSpPr>
        <p:spPr>
          <a:xfrm>
            <a:off x="854792" y="1452566"/>
            <a:ext cx="1303020" cy="342900"/>
          </a:xfrm>
          <a:prstGeom prst="round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sz="1100" dirty="0" smtClean="0"/>
              <a:t>3.3822</a:t>
            </a:r>
            <a:endParaRPr lang="en-US" sz="1100" dirty="0"/>
          </a:p>
        </p:txBody>
      </p:sp>
      <p:sp>
        <p:nvSpPr>
          <p:cNvPr id="28" name="Rectangle: Rounded Corners 27">
            <a:extLst>
              <a:ext uri="{FF2B5EF4-FFF2-40B4-BE49-F238E27FC236}">
                <a16:creationId xmlns="" xmlns:a16="http://schemas.microsoft.com/office/drawing/2014/main" id="{95C93DD4-8994-9B83-FAFC-0D0EEC87FF4B}"/>
              </a:ext>
            </a:extLst>
          </p:cNvPr>
          <p:cNvSpPr/>
          <p:nvPr/>
        </p:nvSpPr>
        <p:spPr>
          <a:xfrm>
            <a:off x="3022195" y="1086365"/>
            <a:ext cx="1638300" cy="792480"/>
          </a:xfrm>
          <a:prstGeom prst="round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sz="1100"/>
              <a:t>UNIQUE</a:t>
            </a:r>
            <a:r>
              <a:rPr lang="en-US" sz="1100" baseline="0"/>
              <a:t> STORES</a:t>
            </a:r>
            <a:endParaRPr lang="en-US" sz="1100"/>
          </a:p>
        </p:txBody>
      </p:sp>
      <p:sp>
        <p:nvSpPr>
          <p:cNvPr id="29" name="Rectangle: Rounded Corners 28">
            <a:extLst>
              <a:ext uri="{FF2B5EF4-FFF2-40B4-BE49-F238E27FC236}">
                <a16:creationId xmlns="" xmlns:a16="http://schemas.microsoft.com/office/drawing/2014/main" id="{7C410F69-6DBA-BC78-70E4-029EBFE98AC2}"/>
              </a:ext>
            </a:extLst>
          </p:cNvPr>
          <p:cNvSpPr/>
          <p:nvPr/>
        </p:nvSpPr>
        <p:spPr>
          <a:xfrm>
            <a:off x="3317469" y="1492924"/>
            <a:ext cx="1287780" cy="320040"/>
          </a:xfrm>
          <a:prstGeom prst="round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fld id="{3DEBF7E6-0799-4C6E-A2FE-E3246E510ACC}" type="TxLink">
              <a:rPr lang="en-US" sz="1100" b="0" i="0" u="none" strike="noStrike">
                <a:solidFill>
                  <a:srgbClr val="000000"/>
                </a:solidFill>
                <a:latin typeface="Aptos Narrow"/>
              </a:rPr>
              <a:pPr algn="l"/>
              <a:t>149116</a:t>
            </a:fld>
            <a:endParaRPr lang="en-US" sz="1100"/>
          </a:p>
        </p:txBody>
      </p:sp>
      <p:sp>
        <p:nvSpPr>
          <p:cNvPr id="30" name="Rectangle: Rounded Corners 29">
            <a:extLst>
              <a:ext uri="{FF2B5EF4-FFF2-40B4-BE49-F238E27FC236}">
                <a16:creationId xmlns="" xmlns:a16="http://schemas.microsoft.com/office/drawing/2014/main" id="{50776B1F-B719-016F-AB4D-5FDF0643143F}"/>
              </a:ext>
            </a:extLst>
          </p:cNvPr>
          <p:cNvSpPr/>
          <p:nvPr/>
        </p:nvSpPr>
        <p:spPr>
          <a:xfrm>
            <a:off x="5384060" y="1063505"/>
            <a:ext cx="1592580" cy="815340"/>
          </a:xfrm>
          <a:prstGeom prst="round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sz="1100"/>
              <a:t>TOTAL SALES BY STORE</a:t>
            </a:r>
          </a:p>
        </p:txBody>
      </p:sp>
      <p:sp>
        <p:nvSpPr>
          <p:cNvPr id="31" name="Rectangle: Rounded Corners 30">
            <a:extLst>
              <a:ext uri="{FF2B5EF4-FFF2-40B4-BE49-F238E27FC236}">
                <a16:creationId xmlns="" xmlns:a16="http://schemas.microsoft.com/office/drawing/2014/main" id="{67649F44-37C4-AEC8-B46A-E515EB6F6AAB}"/>
              </a:ext>
            </a:extLst>
          </p:cNvPr>
          <p:cNvSpPr/>
          <p:nvPr/>
        </p:nvSpPr>
        <p:spPr>
          <a:xfrm>
            <a:off x="5551085" y="1471175"/>
            <a:ext cx="1386840" cy="320040"/>
          </a:xfrm>
          <a:prstGeom prst="round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dirty="0" smtClean="0"/>
              <a:t>698812.33</a:t>
            </a:r>
            <a:endParaRPr lang="en-US" sz="1100" dirty="0"/>
          </a:p>
        </p:txBody>
      </p:sp>
      <p:graphicFrame>
        <p:nvGraphicFramePr>
          <p:cNvPr id="17" name="Chart 16">
            <a:extLst>
              <a:ext uri="{FF2B5EF4-FFF2-40B4-BE49-F238E27FC236}">
                <a16:creationId xmlns:a16="http://schemas.microsoft.com/office/drawing/2014/main" xmlns:lc="http://schemas.openxmlformats.org/drawingml/2006/lockedCanvas" xmlns="" id="{D1CAAFA5-1645-4C83-ADB8-229A1FB0C0DA}"/>
              </a:ext>
            </a:extLst>
          </p:cNvPr>
          <p:cNvGraphicFramePr>
            <a:graphicFrameLocks/>
          </p:cNvGraphicFramePr>
          <p:nvPr>
            <p:extLst>
              <p:ext uri="{D42A27DB-BD31-4B8C-83A1-F6EECF244321}">
                <p14:modId xmlns:p14="http://schemas.microsoft.com/office/powerpoint/2010/main" val="424783124"/>
              </p:ext>
            </p:extLst>
          </p:nvPr>
        </p:nvGraphicFramePr>
        <p:xfrm>
          <a:off x="281118" y="4816280"/>
          <a:ext cx="9144000" cy="191799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Chart 17">
            <a:extLst>
              <a:ext uri="{FF2B5EF4-FFF2-40B4-BE49-F238E27FC236}">
                <a16:creationId xmlns:a16="http://schemas.microsoft.com/office/drawing/2014/main" xmlns:lc="http://schemas.openxmlformats.org/drawingml/2006/lockedCanvas" xmlns="" id="{2F849DC4-513A-4E95-B356-71F7AFBAE47E}"/>
              </a:ext>
            </a:extLst>
          </p:cNvPr>
          <p:cNvGraphicFramePr>
            <a:graphicFrameLocks/>
          </p:cNvGraphicFramePr>
          <p:nvPr>
            <p:extLst>
              <p:ext uri="{D42A27DB-BD31-4B8C-83A1-F6EECF244321}">
                <p14:modId xmlns:p14="http://schemas.microsoft.com/office/powerpoint/2010/main" val="192924759"/>
              </p:ext>
            </p:extLst>
          </p:nvPr>
        </p:nvGraphicFramePr>
        <p:xfrm>
          <a:off x="281118" y="2084070"/>
          <a:ext cx="4811352" cy="26898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18">
            <a:extLst>
              <a:ext uri="{FF2B5EF4-FFF2-40B4-BE49-F238E27FC236}">
                <a16:creationId xmlns:a16="http://schemas.microsoft.com/office/drawing/2014/main" xmlns:lc="http://schemas.openxmlformats.org/drawingml/2006/lockedCanvas" xmlns="" id="{000886BD-0804-450F-AAC0-AA01A7996BA1}"/>
              </a:ext>
            </a:extLst>
          </p:cNvPr>
          <p:cNvGraphicFramePr>
            <a:graphicFrameLocks/>
          </p:cNvGraphicFramePr>
          <p:nvPr>
            <p:extLst>
              <p:ext uri="{D42A27DB-BD31-4B8C-83A1-F6EECF244321}">
                <p14:modId xmlns:p14="http://schemas.microsoft.com/office/powerpoint/2010/main" val="4162125726"/>
              </p:ext>
            </p:extLst>
          </p:nvPr>
        </p:nvGraphicFramePr>
        <p:xfrm>
          <a:off x="5092470" y="2090224"/>
          <a:ext cx="4332647" cy="2677551"/>
        </p:xfrm>
        <a:graphic>
          <a:graphicData uri="http://schemas.openxmlformats.org/drawingml/2006/chart">
            <c:chart xmlns:c="http://schemas.openxmlformats.org/drawingml/2006/chart" xmlns:r="http://schemas.openxmlformats.org/officeDocument/2006/relationships" r:id="rId4"/>
          </a:graphicData>
        </a:graphic>
      </p:graphicFrame>
      <p:pic>
        <p:nvPicPr>
          <p:cNvPr id="6" name="Picture 5"/>
          <p:cNvPicPr>
            <a:picLocks noChangeAspect="1"/>
          </p:cNvPicPr>
          <p:nvPr/>
        </p:nvPicPr>
        <p:blipFill>
          <a:blip r:embed="rId5"/>
          <a:stretch>
            <a:fillRect/>
          </a:stretch>
        </p:blipFill>
        <p:spPr>
          <a:xfrm>
            <a:off x="9690195" y="4672484"/>
            <a:ext cx="1828959" cy="2185516"/>
          </a:xfrm>
          <a:prstGeom prst="rect">
            <a:avLst/>
          </a:prstGeom>
        </p:spPr>
      </p:pic>
      <p:pic>
        <p:nvPicPr>
          <p:cNvPr id="7" name="Picture 6"/>
          <p:cNvPicPr>
            <a:picLocks noChangeAspect="1"/>
          </p:cNvPicPr>
          <p:nvPr/>
        </p:nvPicPr>
        <p:blipFill>
          <a:blip r:embed="rId6"/>
          <a:stretch>
            <a:fillRect/>
          </a:stretch>
        </p:blipFill>
        <p:spPr>
          <a:xfrm>
            <a:off x="9690195" y="1979507"/>
            <a:ext cx="1828959" cy="25849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A3B32"/>
        </a:solidFill>
        <a:effectLst/>
      </p:bgPr>
    </p:bg>
    <p:spTree>
      <p:nvGrpSpPr>
        <p:cNvPr id="1" name=""/>
        <p:cNvGrpSpPr/>
        <p:nvPr/>
      </p:nvGrpSpPr>
      <p:grpSpPr>
        <a:xfrm>
          <a:off x="0" y="0"/>
          <a:ext cx="0" cy="0"/>
          <a:chOff x="0" y="0"/>
          <a:chExt cx="0" cy="0"/>
        </a:xfrm>
      </p:grpSpPr>
      <p:sp>
        <p:nvSpPr>
          <p:cNvPr id="4" name="Rounded Rectangle 3"/>
          <p:cNvSpPr/>
          <p:nvPr/>
        </p:nvSpPr>
        <p:spPr>
          <a:xfrm>
            <a:off x="10115550" y="485775"/>
            <a:ext cx="1466850" cy="333375"/>
          </a:xfrm>
          <a:prstGeom prst="roundRect">
            <a:avLst>
              <a:gd name="adj" fmla="val 50000"/>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3048000" y="2757487"/>
            <a:ext cx="457200" cy="457200"/>
          </a:xfrm>
          <a:prstGeom prst="rect">
            <a:avLst/>
          </a:prstGeom>
        </p:spPr>
      </p:pic>
      <p:sp>
        <p:nvSpPr>
          <p:cNvPr id="6" name="TextBox 5"/>
          <p:cNvSpPr txBox="1"/>
          <p:nvPr/>
        </p:nvSpPr>
        <p:spPr>
          <a:xfrm>
            <a:off x="666750" y="213497"/>
            <a:ext cx="4457952" cy="369332"/>
          </a:xfrm>
          <a:prstGeom prst="rect">
            <a:avLst/>
          </a:prstGeom>
          <a:noFill/>
        </p:spPr>
        <p:txBody>
          <a:bodyPr wrap="none" lIns="0" tIns="0" rIns="0" bIns="0" anchor="t">
            <a:spAutoFit/>
          </a:bodyPr>
          <a:lstStyle/>
          <a:p>
            <a:pPr algn="l"/>
            <a:r>
              <a:rPr lang="en-US" sz="2400" b="1" dirty="0">
                <a:solidFill>
                  <a:srgbClr val="FAF8F5"/>
                </a:solidFill>
                <a:latin typeface="Lora"/>
              </a:rPr>
              <a:t>3. Coffee shop sales dashboard</a:t>
            </a:r>
            <a:endParaRPr sz="2400" b="1" i="0" u="none" dirty="0">
              <a:solidFill>
                <a:srgbClr val="FAF8F5"/>
              </a:solidFill>
              <a:latin typeface="Lora"/>
            </a:endParaRPr>
          </a:p>
        </p:txBody>
      </p:sp>
      <p:sp>
        <p:nvSpPr>
          <p:cNvPr id="7" name="TextBox 6"/>
          <p:cNvSpPr txBox="1"/>
          <p:nvPr/>
        </p:nvSpPr>
        <p:spPr>
          <a:xfrm>
            <a:off x="10267950" y="561975"/>
            <a:ext cx="1257300" cy="180975"/>
          </a:xfrm>
          <a:prstGeom prst="rect">
            <a:avLst/>
          </a:prstGeom>
          <a:noFill/>
        </p:spPr>
        <p:txBody>
          <a:bodyPr wrap="square" lIns="0" tIns="0" rIns="0" bIns="0" anchor="t">
            <a:spAutoFit/>
          </a:bodyPr>
          <a:lstStyle/>
          <a:p>
            <a:pPr algn="l"/>
            <a:r>
              <a:rPr sz="1050" b="1" i="0" u="none">
                <a:solidFill>
                  <a:srgbClr val="FFFFFF"/>
                </a:solidFill>
                <a:latin typeface="Nunito"/>
              </a:rPr>
              <a:t>Dashboard View 3</a:t>
            </a:r>
          </a:p>
        </p:txBody>
      </p:sp>
      <p:sp>
        <p:nvSpPr>
          <p:cNvPr id="8" name="TextBox 7"/>
          <p:cNvSpPr txBox="1"/>
          <p:nvPr/>
        </p:nvSpPr>
        <p:spPr>
          <a:xfrm>
            <a:off x="2257722" y="3443287"/>
            <a:ext cx="2037754" cy="295275"/>
          </a:xfrm>
          <a:prstGeom prst="rect">
            <a:avLst/>
          </a:prstGeom>
          <a:noFill/>
        </p:spPr>
        <p:txBody>
          <a:bodyPr wrap="none" lIns="0" tIns="0" rIns="0" bIns="0" anchor="t">
            <a:spAutoFit/>
          </a:bodyPr>
          <a:lstStyle/>
          <a:p>
            <a:pPr algn="ctr"/>
            <a:r>
              <a:rPr sz="1800" b="1" i="0" u="none">
                <a:solidFill>
                  <a:srgbClr val="4A3B32"/>
                </a:solidFill>
                <a:latin typeface="Lora"/>
              </a:rPr>
              <a:t>Morning Rush</a:t>
            </a:r>
          </a:p>
        </p:txBody>
      </p:sp>
      <p:sp>
        <p:nvSpPr>
          <p:cNvPr id="9" name="TextBox 8"/>
          <p:cNvSpPr txBox="1"/>
          <p:nvPr/>
        </p:nvSpPr>
        <p:spPr>
          <a:xfrm>
            <a:off x="2514600" y="3890962"/>
            <a:ext cx="1524000" cy="781050"/>
          </a:xfrm>
          <a:prstGeom prst="rect">
            <a:avLst/>
          </a:prstGeom>
          <a:noFill/>
        </p:spPr>
        <p:txBody>
          <a:bodyPr wrap="none" lIns="0" tIns="0" rIns="0" bIns="0" anchor="t">
            <a:spAutoFit/>
          </a:bodyPr>
          <a:lstStyle/>
          <a:p>
            <a:pPr algn="ctr"/>
            <a:r>
              <a:rPr sz="4800" b="1" i="0" u="none">
                <a:solidFill>
                  <a:srgbClr val="4A3B32"/>
                </a:solidFill>
                <a:latin typeface="Lora"/>
              </a:rPr>
              <a:t>55%</a:t>
            </a:r>
          </a:p>
        </p:txBody>
      </p:sp>
      <p:sp>
        <p:nvSpPr>
          <p:cNvPr id="10" name="TextBox 9"/>
          <p:cNvSpPr txBox="1"/>
          <p:nvPr/>
        </p:nvSpPr>
        <p:spPr>
          <a:xfrm>
            <a:off x="1246584" y="4824412"/>
            <a:ext cx="4060031" cy="209550"/>
          </a:xfrm>
          <a:prstGeom prst="rect">
            <a:avLst/>
          </a:prstGeom>
          <a:noFill/>
        </p:spPr>
        <p:txBody>
          <a:bodyPr wrap="none" lIns="0" tIns="0" rIns="0" bIns="0" anchor="t">
            <a:spAutoFit/>
          </a:bodyPr>
          <a:lstStyle/>
          <a:p>
            <a:pPr algn="ctr"/>
            <a:r>
              <a:rPr sz="1200" b="0" i="0" u="none">
                <a:solidFill>
                  <a:srgbClr val="6B5A4E"/>
                </a:solidFill>
                <a:latin typeface="Nunito"/>
              </a:rPr>
              <a:t>Peak volume between 7:00 AM and 10:00 AM.</a:t>
            </a:r>
          </a:p>
        </p:txBody>
      </p:sp>
      <p:sp>
        <p:nvSpPr>
          <p:cNvPr id="11" name="TextBox 10"/>
          <p:cNvSpPr txBox="1"/>
          <p:nvPr/>
        </p:nvSpPr>
        <p:spPr>
          <a:xfrm>
            <a:off x="7727751" y="3214687"/>
            <a:ext cx="2375296" cy="295275"/>
          </a:xfrm>
          <a:prstGeom prst="rect">
            <a:avLst/>
          </a:prstGeom>
          <a:noFill/>
        </p:spPr>
        <p:txBody>
          <a:bodyPr wrap="none" lIns="0" tIns="0" rIns="0" bIns="0" anchor="t">
            <a:spAutoFit/>
          </a:bodyPr>
          <a:lstStyle/>
          <a:p>
            <a:pPr algn="ctr"/>
            <a:r>
              <a:rPr sz="1800" b="1" i="0" u="none">
                <a:solidFill>
                  <a:srgbClr val="4A3B32"/>
                </a:solidFill>
                <a:latin typeface="Lora"/>
              </a:rPr>
              <a:t>Monthly Growth</a:t>
            </a:r>
          </a:p>
        </p:txBody>
      </p:sp>
      <p:sp>
        <p:nvSpPr>
          <p:cNvPr id="12" name="TextBox 11"/>
          <p:cNvSpPr txBox="1"/>
          <p:nvPr/>
        </p:nvSpPr>
        <p:spPr>
          <a:xfrm>
            <a:off x="8367712" y="3662362"/>
            <a:ext cx="1095375" cy="781050"/>
          </a:xfrm>
          <a:prstGeom prst="rect">
            <a:avLst/>
          </a:prstGeom>
          <a:noFill/>
        </p:spPr>
        <p:txBody>
          <a:bodyPr wrap="none" lIns="0" tIns="0" rIns="0" bIns="0" anchor="t">
            <a:spAutoFit/>
          </a:bodyPr>
          <a:lstStyle/>
          <a:p>
            <a:pPr algn="ctr"/>
            <a:r>
              <a:rPr sz="4800" b="1" i="0" u="none">
                <a:solidFill>
                  <a:srgbClr val="4A3B32"/>
                </a:solidFill>
                <a:latin typeface="Lora"/>
              </a:rPr>
              <a:t>Up</a:t>
            </a:r>
          </a:p>
        </p:txBody>
      </p:sp>
      <p:sp>
        <p:nvSpPr>
          <p:cNvPr id="13" name="TextBox 12"/>
          <p:cNvSpPr txBox="1"/>
          <p:nvPr/>
        </p:nvSpPr>
        <p:spPr>
          <a:xfrm>
            <a:off x="6807993" y="4595812"/>
            <a:ext cx="4214812" cy="209550"/>
          </a:xfrm>
          <a:prstGeom prst="rect">
            <a:avLst/>
          </a:prstGeom>
          <a:noFill/>
        </p:spPr>
        <p:txBody>
          <a:bodyPr wrap="none" lIns="0" tIns="0" rIns="0" bIns="0" anchor="t">
            <a:spAutoFit/>
          </a:bodyPr>
          <a:lstStyle/>
          <a:p>
            <a:pPr algn="ctr"/>
            <a:r>
              <a:rPr sz="1200" b="0" i="0" u="none">
                <a:solidFill>
                  <a:srgbClr val="6B5A4E"/>
                </a:solidFill>
                <a:latin typeface="Nunito"/>
              </a:rPr>
              <a:t>Steady upward momentum with seasonal spikes.</a:t>
            </a:r>
          </a:p>
        </p:txBody>
      </p:sp>
      <p:sp>
        <p:nvSpPr>
          <p:cNvPr id="14" name="Rectangle: Rounded Corners 13">
            <a:extLst>
              <a:ext uri="{FF2B5EF4-FFF2-40B4-BE49-F238E27FC236}">
                <a16:creationId xmlns="" xmlns:a16="http://schemas.microsoft.com/office/drawing/2014/main" id="{BEF6BDCE-AC78-42F4-85EF-603B90F1FA13}"/>
              </a:ext>
            </a:extLst>
          </p:cNvPr>
          <p:cNvSpPr/>
          <p:nvPr/>
        </p:nvSpPr>
        <p:spPr>
          <a:xfrm>
            <a:off x="703184" y="1229339"/>
            <a:ext cx="1905000" cy="838200"/>
          </a:xfrm>
          <a:prstGeom prst="roundRect">
            <a:avLst/>
          </a:prstGeom>
          <a:solidFill>
            <a:schemeClr val="accent3">
              <a:lumMod val="40000"/>
              <a:lumOff val="6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sz="1100" dirty="0"/>
              <a:t>MAXIMUM</a:t>
            </a:r>
            <a:r>
              <a:rPr lang="en-US" sz="1100" baseline="0" dirty="0"/>
              <a:t> UNIT PRICE</a:t>
            </a:r>
            <a:endParaRPr lang="en-US" sz="1100" dirty="0"/>
          </a:p>
        </p:txBody>
      </p:sp>
      <p:sp>
        <p:nvSpPr>
          <p:cNvPr id="15" name="Rectangle: Rounded Corners 14">
            <a:extLst>
              <a:ext uri="{FF2B5EF4-FFF2-40B4-BE49-F238E27FC236}">
                <a16:creationId xmlns="" xmlns:a16="http://schemas.microsoft.com/office/drawing/2014/main" id="{E742545D-B9E3-4602-A55E-373CE6A93776}"/>
              </a:ext>
            </a:extLst>
          </p:cNvPr>
          <p:cNvSpPr/>
          <p:nvPr/>
        </p:nvSpPr>
        <p:spPr>
          <a:xfrm>
            <a:off x="798085" y="1679397"/>
            <a:ext cx="1623060" cy="297180"/>
          </a:xfrm>
          <a:prstGeom prst="roundRect">
            <a:avLst/>
          </a:prstGeom>
          <a:solidFill>
            <a:schemeClr val="accent3">
              <a:lumMod val="40000"/>
              <a:lumOff val="6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fld id="{1E0AFEEA-CFEB-4DC4-B2C7-64AE33EF6780}" type="TxLink">
              <a:rPr lang="en-US" sz="1100" b="0" i="0" u="none" strike="noStrike">
                <a:solidFill>
                  <a:srgbClr val="000000"/>
                </a:solidFill>
                <a:latin typeface="Aptos Narrow"/>
              </a:rPr>
              <a:pPr algn="l"/>
              <a:t>45</a:t>
            </a:fld>
            <a:endParaRPr lang="en-US" sz="1100" dirty="0"/>
          </a:p>
        </p:txBody>
      </p:sp>
      <p:sp>
        <p:nvSpPr>
          <p:cNvPr id="16" name="Rectangle: Rounded Corners 15">
            <a:extLst>
              <a:ext uri="{FF2B5EF4-FFF2-40B4-BE49-F238E27FC236}">
                <a16:creationId xmlns="" xmlns:a16="http://schemas.microsoft.com/office/drawing/2014/main" id="{B81FEBEF-B81C-4C08-9E7F-BC42613F3D7E}"/>
              </a:ext>
            </a:extLst>
          </p:cNvPr>
          <p:cNvSpPr/>
          <p:nvPr/>
        </p:nvSpPr>
        <p:spPr>
          <a:xfrm>
            <a:off x="3333687" y="1220388"/>
            <a:ext cx="1874520" cy="822960"/>
          </a:xfrm>
          <a:prstGeom prst="roundRect">
            <a:avLst/>
          </a:prstGeom>
          <a:solidFill>
            <a:schemeClr val="accent3">
              <a:lumMod val="40000"/>
              <a:lumOff val="6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sz="1100" dirty="0"/>
              <a:t>TOP PRODUCT BY SALES</a:t>
            </a:r>
          </a:p>
        </p:txBody>
      </p:sp>
      <p:sp>
        <p:nvSpPr>
          <p:cNvPr id="17" name="Rectangle: Rounded Corners 16">
            <a:extLst>
              <a:ext uri="{FF2B5EF4-FFF2-40B4-BE49-F238E27FC236}">
                <a16:creationId xmlns="" xmlns:a16="http://schemas.microsoft.com/office/drawing/2014/main" id="{592EE241-8F83-4A3E-95F8-B7F7029F0190}"/>
              </a:ext>
            </a:extLst>
          </p:cNvPr>
          <p:cNvSpPr/>
          <p:nvPr/>
        </p:nvSpPr>
        <p:spPr>
          <a:xfrm>
            <a:off x="3409887" y="1607921"/>
            <a:ext cx="1600200" cy="403860"/>
          </a:xfrm>
          <a:prstGeom prst="roundRect">
            <a:avLst/>
          </a:prstGeom>
          <a:solidFill>
            <a:schemeClr val="accent3">
              <a:lumMod val="40000"/>
              <a:lumOff val="6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sz="1100" dirty="0" smtClean="0"/>
              <a:t>177375.25</a:t>
            </a:r>
            <a:endParaRPr lang="en-US" sz="1100" dirty="0"/>
          </a:p>
        </p:txBody>
      </p:sp>
      <p:sp>
        <p:nvSpPr>
          <p:cNvPr id="19" name="Rectangle: Rounded Corners 18">
            <a:extLst>
              <a:ext uri="{FF2B5EF4-FFF2-40B4-BE49-F238E27FC236}">
                <a16:creationId xmlns="" xmlns:a16="http://schemas.microsoft.com/office/drawing/2014/main" id="{93D06F27-EB87-61B1-0286-1A46F5814228}"/>
              </a:ext>
            </a:extLst>
          </p:cNvPr>
          <p:cNvSpPr/>
          <p:nvPr/>
        </p:nvSpPr>
        <p:spPr>
          <a:xfrm>
            <a:off x="6364677" y="1229339"/>
            <a:ext cx="1699260" cy="782442"/>
          </a:xfrm>
          <a:prstGeom prst="roundRect">
            <a:avLst/>
          </a:prstGeom>
          <a:solidFill>
            <a:schemeClr val="accent3">
              <a:lumMod val="40000"/>
              <a:lumOff val="6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sz="1100" dirty="0"/>
              <a:t>MAXIMUM</a:t>
            </a:r>
            <a:r>
              <a:rPr lang="en-US" sz="1100" baseline="0" dirty="0"/>
              <a:t> UNIQUE PRODUCTS</a:t>
            </a:r>
            <a:endParaRPr lang="en-US" sz="1100" dirty="0"/>
          </a:p>
        </p:txBody>
      </p:sp>
      <p:sp>
        <p:nvSpPr>
          <p:cNvPr id="20" name="Rectangle: Rounded Corners 19">
            <a:extLst>
              <a:ext uri="{FF2B5EF4-FFF2-40B4-BE49-F238E27FC236}">
                <a16:creationId xmlns="" xmlns:a16="http://schemas.microsoft.com/office/drawing/2014/main" id="{F610C49D-D305-1E9B-EB9E-7BA4B8B7925E}"/>
              </a:ext>
            </a:extLst>
          </p:cNvPr>
          <p:cNvSpPr/>
          <p:nvPr/>
        </p:nvSpPr>
        <p:spPr>
          <a:xfrm>
            <a:off x="6562797" y="1617083"/>
            <a:ext cx="1303020" cy="335280"/>
          </a:xfrm>
          <a:prstGeom prst="roundRect">
            <a:avLst/>
          </a:prstGeom>
          <a:solidFill>
            <a:schemeClr val="accent3">
              <a:lumMod val="40000"/>
              <a:lumOff val="6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sz="1100" dirty="0" smtClean="0"/>
              <a:t>24</a:t>
            </a:r>
            <a:endParaRPr lang="en-US" sz="1100" dirty="0"/>
          </a:p>
        </p:txBody>
      </p:sp>
      <p:graphicFrame>
        <p:nvGraphicFramePr>
          <p:cNvPr id="23" name="Chart 22">
            <a:extLst>
              <a:ext uri="{FF2B5EF4-FFF2-40B4-BE49-F238E27FC236}">
                <a16:creationId xmlns:a16="http://schemas.microsoft.com/office/drawing/2014/main" xmlns:lc="http://schemas.openxmlformats.org/drawingml/2006/lockedCanvas" xmlns="" id="{B383FC8E-1073-44DE-AC2F-814D46FFFAC0}"/>
              </a:ext>
            </a:extLst>
          </p:cNvPr>
          <p:cNvGraphicFramePr>
            <a:graphicFrameLocks/>
          </p:cNvGraphicFramePr>
          <p:nvPr>
            <p:extLst>
              <p:ext uri="{D42A27DB-BD31-4B8C-83A1-F6EECF244321}">
                <p14:modId xmlns:p14="http://schemas.microsoft.com/office/powerpoint/2010/main" val="2408265968"/>
              </p:ext>
            </p:extLst>
          </p:nvPr>
        </p:nvGraphicFramePr>
        <p:xfrm>
          <a:off x="26132" y="2219939"/>
          <a:ext cx="10241817" cy="184095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Chart 24">
            <a:extLst>
              <a:ext uri="{FF2B5EF4-FFF2-40B4-BE49-F238E27FC236}">
                <a16:creationId xmlns:a16="http://schemas.microsoft.com/office/drawing/2014/main" xmlns:lc="http://schemas.openxmlformats.org/drawingml/2006/lockedCanvas" xmlns="" id="{F42222F9-813A-431A-890B-612F94EAAC44}"/>
              </a:ext>
            </a:extLst>
          </p:cNvPr>
          <p:cNvGraphicFramePr>
            <a:graphicFrameLocks/>
          </p:cNvGraphicFramePr>
          <p:nvPr>
            <p:extLst>
              <p:ext uri="{D42A27DB-BD31-4B8C-83A1-F6EECF244321}">
                <p14:modId xmlns:p14="http://schemas.microsoft.com/office/powerpoint/2010/main" val="2654333287"/>
              </p:ext>
            </p:extLst>
          </p:nvPr>
        </p:nvGraphicFramePr>
        <p:xfrm>
          <a:off x="26132" y="4220992"/>
          <a:ext cx="4947110" cy="263700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6" name="Chart 25">
            <a:extLst>
              <a:ext uri="{FF2B5EF4-FFF2-40B4-BE49-F238E27FC236}">
                <a16:creationId xmlns:a16="http://schemas.microsoft.com/office/drawing/2014/main" xmlns:lc="http://schemas.openxmlformats.org/drawingml/2006/lockedCanvas" xmlns="" id="{BED055D8-3B84-4F25-A436-2D0C3452575E}"/>
              </a:ext>
            </a:extLst>
          </p:cNvPr>
          <p:cNvGraphicFramePr>
            <a:graphicFrameLocks/>
          </p:cNvGraphicFramePr>
          <p:nvPr>
            <p:extLst>
              <p:ext uri="{D42A27DB-BD31-4B8C-83A1-F6EECF244321}">
                <p14:modId xmlns:p14="http://schemas.microsoft.com/office/powerpoint/2010/main" val="917770621"/>
              </p:ext>
            </p:extLst>
          </p:nvPr>
        </p:nvGraphicFramePr>
        <p:xfrm>
          <a:off x="5268711" y="4213297"/>
          <a:ext cx="4994551" cy="2637008"/>
        </p:xfrm>
        <a:graphic>
          <a:graphicData uri="http://schemas.openxmlformats.org/drawingml/2006/chart">
            <c:chart xmlns:c="http://schemas.openxmlformats.org/drawingml/2006/chart" xmlns:r="http://schemas.openxmlformats.org/officeDocument/2006/relationships" r:id="rId5"/>
          </a:graphicData>
        </a:graphic>
      </p:graphicFrame>
      <p:pic>
        <p:nvPicPr>
          <p:cNvPr id="18" name="Picture 17"/>
          <p:cNvPicPr>
            <a:picLocks noChangeAspect="1"/>
          </p:cNvPicPr>
          <p:nvPr/>
        </p:nvPicPr>
        <p:blipFill>
          <a:blip r:embed="rId6"/>
          <a:stretch>
            <a:fillRect/>
          </a:stretch>
        </p:blipFill>
        <p:spPr>
          <a:xfrm>
            <a:off x="10334753" y="4313638"/>
            <a:ext cx="1871634" cy="2418758"/>
          </a:xfrm>
          <a:prstGeom prst="rect">
            <a:avLst/>
          </a:prstGeom>
        </p:spPr>
      </p:pic>
      <p:pic>
        <p:nvPicPr>
          <p:cNvPr id="27" name="Picture 26"/>
          <p:cNvPicPr>
            <a:picLocks noChangeAspect="1"/>
          </p:cNvPicPr>
          <p:nvPr/>
        </p:nvPicPr>
        <p:blipFill>
          <a:blip r:embed="rId7"/>
          <a:stretch>
            <a:fillRect/>
          </a:stretch>
        </p:blipFill>
        <p:spPr>
          <a:xfrm>
            <a:off x="10380564" y="2219939"/>
            <a:ext cx="1835055" cy="20163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Rounded Rectangle 1"/>
          <p:cNvSpPr/>
          <p:nvPr/>
        </p:nvSpPr>
        <p:spPr>
          <a:xfrm>
            <a:off x="762000" y="1800225"/>
            <a:ext cx="3352800" cy="4295775"/>
          </a:xfrm>
          <a:prstGeom prst="roundRect">
            <a:avLst>
              <a:gd name="adj" fmla="val 3409"/>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19600" y="1800225"/>
            <a:ext cx="3352800" cy="4295775"/>
          </a:xfrm>
          <a:prstGeom prst="roundRect">
            <a:avLst>
              <a:gd name="adj" fmla="val 3409"/>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1800225"/>
            <a:ext cx="3352800" cy="4295775"/>
          </a:xfrm>
          <a:prstGeom prst="roundRect">
            <a:avLst>
              <a:gd name="adj" fmla="val 3409"/>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143000" y="2257425"/>
            <a:ext cx="381000" cy="381000"/>
          </a:xfrm>
          <a:prstGeom prst="roundRect">
            <a:avLst>
              <a:gd name="adj" fmla="val 50000"/>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62000" y="1800225"/>
            <a:ext cx="3352800" cy="76200"/>
          </a:xfrm>
          <a:prstGeom prst="rect">
            <a:avLst/>
          </a:prstGeom>
          <a:solidFill>
            <a:srgbClr val="4A3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143000" y="4829175"/>
            <a:ext cx="2590800" cy="885825"/>
          </a:xfrm>
          <a:prstGeom prst="roundRect">
            <a:avLst>
              <a:gd name="adj" fmla="val 860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800600" y="2257425"/>
            <a:ext cx="381000" cy="381000"/>
          </a:xfrm>
          <a:prstGeom prst="roundRect">
            <a:avLst>
              <a:gd name="adj" fmla="val 50000"/>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19600" y="1800225"/>
            <a:ext cx="3352800" cy="76200"/>
          </a:xfrm>
          <a:prstGeom prst="rect">
            <a:avLst/>
          </a:prstGeom>
          <a:solidFill>
            <a:srgbClr val="4A3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800600" y="4829175"/>
            <a:ext cx="2590800" cy="885825"/>
          </a:xfrm>
          <a:prstGeom prst="roundRect">
            <a:avLst>
              <a:gd name="adj" fmla="val 860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458200" y="2257425"/>
            <a:ext cx="381000" cy="381000"/>
          </a:xfrm>
          <a:prstGeom prst="roundRect">
            <a:avLst>
              <a:gd name="adj" fmla="val 50000"/>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077200" y="1800225"/>
            <a:ext cx="3352800" cy="76200"/>
          </a:xfrm>
          <a:prstGeom prst="rect">
            <a:avLst/>
          </a:prstGeom>
          <a:solidFill>
            <a:srgbClr val="4A3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458200" y="4829175"/>
            <a:ext cx="2590800" cy="885825"/>
          </a:xfrm>
          <a:prstGeom prst="roundRect">
            <a:avLst>
              <a:gd name="adj" fmla="val 860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43000" y="4829175"/>
            <a:ext cx="38100" cy="885825"/>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800600" y="4829175"/>
            <a:ext cx="38100" cy="885825"/>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58200" y="4829175"/>
            <a:ext cx="38100" cy="885825"/>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2000" y="762000"/>
            <a:ext cx="11430000" cy="581025"/>
          </a:xfrm>
          <a:prstGeom prst="rect">
            <a:avLst/>
          </a:prstGeom>
          <a:noFill/>
        </p:spPr>
        <p:txBody>
          <a:bodyPr wrap="none" lIns="0" tIns="0" rIns="0" bIns="0" anchor="t">
            <a:spAutoFit/>
          </a:bodyPr>
          <a:lstStyle/>
          <a:p>
            <a:pPr algn="l"/>
            <a:r>
              <a:rPr sz="3600" b="1" i="0" u="none">
                <a:solidFill>
                  <a:srgbClr val="4A3B32"/>
                </a:solidFill>
                <a:latin typeface="Lora"/>
              </a:rPr>
              <a:t>Key Insights &amp; Recommendations</a:t>
            </a:r>
          </a:p>
        </p:txBody>
      </p:sp>
      <p:sp>
        <p:nvSpPr>
          <p:cNvPr id="18" name="TextBox 17"/>
          <p:cNvSpPr txBox="1"/>
          <p:nvPr/>
        </p:nvSpPr>
        <p:spPr>
          <a:xfrm>
            <a:off x="1000125" y="2257425"/>
            <a:ext cx="666750" cy="381000"/>
          </a:xfrm>
          <a:prstGeom prst="rect">
            <a:avLst/>
          </a:prstGeom>
          <a:noFill/>
        </p:spPr>
        <p:txBody>
          <a:bodyPr wrap="square" lIns="0" tIns="0" rIns="0" bIns="0" anchor="ctr">
            <a:spAutoFit/>
          </a:bodyPr>
          <a:lstStyle/>
          <a:p>
            <a:pPr algn="ctr"/>
            <a:r>
              <a:rPr sz="1350" b="1" i="0" u="none">
                <a:solidFill>
                  <a:srgbClr val="FFFFFF"/>
                </a:solidFill>
                <a:latin typeface="Nunito"/>
              </a:rPr>
              <a:t>1</a:t>
            </a:r>
          </a:p>
        </p:txBody>
      </p:sp>
      <p:sp>
        <p:nvSpPr>
          <p:cNvPr id="19" name="TextBox 18"/>
          <p:cNvSpPr txBox="1"/>
          <p:nvPr/>
        </p:nvSpPr>
        <p:spPr>
          <a:xfrm>
            <a:off x="1143000" y="2867025"/>
            <a:ext cx="2820352" cy="590550"/>
          </a:xfrm>
          <a:prstGeom prst="rect">
            <a:avLst/>
          </a:prstGeom>
          <a:noFill/>
        </p:spPr>
        <p:txBody>
          <a:bodyPr wrap="square" lIns="0" tIns="0" rIns="0" bIns="0" anchor="t">
            <a:spAutoFit/>
          </a:bodyPr>
          <a:lstStyle/>
          <a:p>
            <a:pPr algn="l"/>
            <a:r>
              <a:rPr sz="1800" b="1" i="0" u="none">
                <a:solidFill>
                  <a:srgbClr val="4A3B32"/>
                </a:solidFill>
                <a:latin typeface="Lora"/>
              </a:rPr>
              <a:t>Hell's Kitchen Dominates</a:t>
            </a:r>
          </a:p>
        </p:txBody>
      </p:sp>
      <p:sp>
        <p:nvSpPr>
          <p:cNvPr id="20" name="TextBox 19"/>
          <p:cNvSpPr txBox="1"/>
          <p:nvPr/>
        </p:nvSpPr>
        <p:spPr>
          <a:xfrm>
            <a:off x="1143000" y="3609975"/>
            <a:ext cx="2686050" cy="990600"/>
          </a:xfrm>
          <a:prstGeom prst="rect">
            <a:avLst/>
          </a:prstGeom>
          <a:noFill/>
        </p:spPr>
        <p:txBody>
          <a:bodyPr wrap="square" lIns="0" tIns="0" rIns="0" bIns="0" anchor="t">
            <a:spAutoFit/>
          </a:bodyPr>
          <a:lstStyle/>
          <a:p>
            <a:pPr algn="l"/>
            <a:r>
              <a:rPr sz="1200" b="0" i="0" u="none">
                <a:solidFill>
                  <a:srgbClr val="6B5A4E"/>
                </a:solidFill>
                <a:latin typeface="Nunito"/>
              </a:rPr>
              <a:t>Hell's Kitchen leads total sales by 34%, driven by high foot traffic and premium beverage demand.</a:t>
            </a:r>
          </a:p>
        </p:txBody>
      </p:sp>
      <p:sp>
        <p:nvSpPr>
          <p:cNvPr id="21" name="TextBox 20"/>
          <p:cNvSpPr txBox="1"/>
          <p:nvPr/>
        </p:nvSpPr>
        <p:spPr>
          <a:xfrm>
            <a:off x="4657725" y="2257425"/>
            <a:ext cx="666750" cy="381000"/>
          </a:xfrm>
          <a:prstGeom prst="rect">
            <a:avLst/>
          </a:prstGeom>
          <a:noFill/>
        </p:spPr>
        <p:txBody>
          <a:bodyPr wrap="square" lIns="0" tIns="0" rIns="0" bIns="0" anchor="ctr">
            <a:spAutoFit/>
          </a:bodyPr>
          <a:lstStyle/>
          <a:p>
            <a:pPr algn="ctr"/>
            <a:r>
              <a:rPr sz="1350" b="1" i="0" u="none">
                <a:solidFill>
                  <a:srgbClr val="FFFFFF"/>
                </a:solidFill>
                <a:latin typeface="Nunito"/>
              </a:rPr>
              <a:t>2</a:t>
            </a:r>
          </a:p>
        </p:txBody>
      </p:sp>
      <p:sp>
        <p:nvSpPr>
          <p:cNvPr id="22" name="TextBox 21"/>
          <p:cNvSpPr txBox="1"/>
          <p:nvPr/>
        </p:nvSpPr>
        <p:spPr>
          <a:xfrm>
            <a:off x="4800600" y="2867025"/>
            <a:ext cx="3400425" cy="295275"/>
          </a:xfrm>
          <a:prstGeom prst="rect">
            <a:avLst/>
          </a:prstGeom>
          <a:noFill/>
        </p:spPr>
        <p:txBody>
          <a:bodyPr wrap="none" lIns="0" tIns="0" rIns="0" bIns="0" anchor="t">
            <a:spAutoFit/>
          </a:bodyPr>
          <a:lstStyle/>
          <a:p>
            <a:pPr algn="l"/>
            <a:r>
              <a:rPr sz="1800" b="1" i="0" u="none">
                <a:solidFill>
                  <a:srgbClr val="4A3B32"/>
                </a:solidFill>
                <a:latin typeface="Lora"/>
              </a:rPr>
              <a:t>Coffee &amp; Tea Core</a:t>
            </a:r>
          </a:p>
        </p:txBody>
      </p:sp>
      <p:sp>
        <p:nvSpPr>
          <p:cNvPr id="23" name="TextBox 22"/>
          <p:cNvSpPr txBox="1"/>
          <p:nvPr/>
        </p:nvSpPr>
        <p:spPr>
          <a:xfrm>
            <a:off x="4800600" y="3314700"/>
            <a:ext cx="2686050" cy="1285875"/>
          </a:xfrm>
          <a:prstGeom prst="rect">
            <a:avLst/>
          </a:prstGeom>
          <a:noFill/>
        </p:spPr>
        <p:txBody>
          <a:bodyPr wrap="square" lIns="0" tIns="0" rIns="0" bIns="0" anchor="t">
            <a:spAutoFit/>
          </a:bodyPr>
          <a:lstStyle/>
          <a:p>
            <a:pPr algn="l"/>
            <a:r>
              <a:rPr sz="1200" b="0" i="0" u="none">
                <a:solidFill>
                  <a:srgbClr val="6B5A4E"/>
                </a:solidFill>
                <a:latin typeface="Nunito"/>
              </a:rPr>
              <a:t>Coffee and Tea account for over 65% of volume. Single-item coffee transactions lower average value.</a:t>
            </a:r>
          </a:p>
        </p:txBody>
      </p:sp>
      <p:sp>
        <p:nvSpPr>
          <p:cNvPr id="24" name="TextBox 23"/>
          <p:cNvSpPr txBox="1"/>
          <p:nvPr/>
        </p:nvSpPr>
        <p:spPr>
          <a:xfrm>
            <a:off x="8315325" y="2257425"/>
            <a:ext cx="666750" cy="381000"/>
          </a:xfrm>
          <a:prstGeom prst="rect">
            <a:avLst/>
          </a:prstGeom>
          <a:noFill/>
        </p:spPr>
        <p:txBody>
          <a:bodyPr wrap="square" lIns="0" tIns="0" rIns="0" bIns="0" anchor="ctr">
            <a:spAutoFit/>
          </a:bodyPr>
          <a:lstStyle/>
          <a:p>
            <a:pPr algn="ctr"/>
            <a:r>
              <a:rPr sz="1350" b="1" i="0" u="none">
                <a:solidFill>
                  <a:srgbClr val="FFFFFF"/>
                </a:solidFill>
                <a:latin typeface="Nunito"/>
              </a:rPr>
              <a:t>3</a:t>
            </a:r>
          </a:p>
        </p:txBody>
      </p:sp>
      <p:sp>
        <p:nvSpPr>
          <p:cNvPr id="25" name="TextBox 24"/>
          <p:cNvSpPr txBox="1"/>
          <p:nvPr/>
        </p:nvSpPr>
        <p:spPr>
          <a:xfrm>
            <a:off x="8458200" y="2867025"/>
            <a:ext cx="3400425" cy="295275"/>
          </a:xfrm>
          <a:prstGeom prst="rect">
            <a:avLst/>
          </a:prstGeom>
          <a:noFill/>
        </p:spPr>
        <p:txBody>
          <a:bodyPr wrap="none" lIns="0" tIns="0" rIns="0" bIns="0" anchor="t">
            <a:spAutoFit/>
          </a:bodyPr>
          <a:lstStyle/>
          <a:p>
            <a:pPr algn="l"/>
            <a:r>
              <a:rPr sz="1800" b="1" i="0" u="none">
                <a:solidFill>
                  <a:srgbClr val="4A3B32"/>
                </a:solidFill>
                <a:latin typeface="Lora"/>
              </a:rPr>
              <a:t>Morning Velocity</a:t>
            </a:r>
          </a:p>
        </p:txBody>
      </p:sp>
      <p:sp>
        <p:nvSpPr>
          <p:cNvPr id="26" name="TextBox 25"/>
          <p:cNvSpPr txBox="1"/>
          <p:nvPr/>
        </p:nvSpPr>
        <p:spPr>
          <a:xfrm>
            <a:off x="8458200" y="3314700"/>
            <a:ext cx="2686050" cy="1285875"/>
          </a:xfrm>
          <a:prstGeom prst="rect">
            <a:avLst/>
          </a:prstGeom>
          <a:noFill/>
        </p:spPr>
        <p:txBody>
          <a:bodyPr wrap="square" lIns="0" tIns="0" rIns="0" bIns="0" anchor="t">
            <a:spAutoFit/>
          </a:bodyPr>
          <a:lstStyle/>
          <a:p>
            <a:pPr algn="l"/>
            <a:r>
              <a:rPr sz="1200" b="0" i="0" u="none">
                <a:solidFill>
                  <a:srgbClr val="6B5A4E"/>
                </a:solidFill>
                <a:latin typeface="Nunito"/>
              </a:rPr>
              <a:t>Mornings define revenue velocity (55%), but suffer from line congestion bottlenecks.</a:t>
            </a:r>
          </a:p>
        </p:txBody>
      </p:sp>
      <p:sp>
        <p:nvSpPr>
          <p:cNvPr id="27" name="TextBox 26"/>
          <p:cNvSpPr txBox="1"/>
          <p:nvPr/>
        </p:nvSpPr>
        <p:spPr>
          <a:xfrm>
            <a:off x="1333500" y="4981575"/>
            <a:ext cx="2809875" cy="180975"/>
          </a:xfrm>
          <a:prstGeom prst="rect">
            <a:avLst/>
          </a:prstGeom>
          <a:noFill/>
        </p:spPr>
        <p:txBody>
          <a:bodyPr wrap="none" lIns="0" tIns="0" rIns="0" bIns="0" anchor="t">
            <a:spAutoFit/>
          </a:bodyPr>
          <a:lstStyle/>
          <a:p>
            <a:pPr algn="l"/>
            <a:r>
              <a:rPr sz="1050" b="1" i="0" u="none">
                <a:solidFill>
                  <a:srgbClr val="8C5E3C"/>
                </a:solidFill>
                <a:latin typeface="Nunito"/>
              </a:rPr>
              <a:t>STRATEGY</a:t>
            </a:r>
          </a:p>
        </p:txBody>
      </p:sp>
      <p:sp>
        <p:nvSpPr>
          <p:cNvPr id="28" name="TextBox 27"/>
          <p:cNvSpPr txBox="1"/>
          <p:nvPr/>
        </p:nvSpPr>
        <p:spPr>
          <a:xfrm>
            <a:off x="1333500" y="5200650"/>
            <a:ext cx="2343150" cy="361950"/>
          </a:xfrm>
          <a:prstGeom prst="rect">
            <a:avLst/>
          </a:prstGeom>
          <a:noFill/>
        </p:spPr>
        <p:txBody>
          <a:bodyPr wrap="square" lIns="0" tIns="0" rIns="0" bIns="0" anchor="t">
            <a:spAutoFit/>
          </a:bodyPr>
          <a:lstStyle/>
          <a:p>
            <a:pPr algn="l"/>
            <a:r>
              <a:rPr sz="1050" b="0" i="0" u="none">
                <a:solidFill>
                  <a:srgbClr val="2C241B"/>
                </a:solidFill>
                <a:latin typeface="Nunito"/>
              </a:rPr>
              <a:t>Replicate Hell's Kitchen staffing models across Astoria.</a:t>
            </a:r>
          </a:p>
        </p:txBody>
      </p:sp>
      <p:sp>
        <p:nvSpPr>
          <p:cNvPr id="29" name="TextBox 28"/>
          <p:cNvSpPr txBox="1"/>
          <p:nvPr/>
        </p:nvSpPr>
        <p:spPr>
          <a:xfrm>
            <a:off x="4991100" y="4981575"/>
            <a:ext cx="2809875" cy="180975"/>
          </a:xfrm>
          <a:prstGeom prst="rect">
            <a:avLst/>
          </a:prstGeom>
          <a:noFill/>
        </p:spPr>
        <p:txBody>
          <a:bodyPr wrap="none" lIns="0" tIns="0" rIns="0" bIns="0" anchor="t">
            <a:spAutoFit/>
          </a:bodyPr>
          <a:lstStyle/>
          <a:p>
            <a:pPr algn="l"/>
            <a:r>
              <a:rPr sz="1050" b="1" i="0" u="none">
                <a:solidFill>
                  <a:srgbClr val="8C5E3C"/>
                </a:solidFill>
                <a:latin typeface="Nunito"/>
              </a:rPr>
              <a:t>STRATEGY</a:t>
            </a:r>
          </a:p>
        </p:txBody>
      </p:sp>
      <p:sp>
        <p:nvSpPr>
          <p:cNvPr id="30" name="TextBox 29"/>
          <p:cNvSpPr txBox="1"/>
          <p:nvPr/>
        </p:nvSpPr>
        <p:spPr>
          <a:xfrm>
            <a:off x="4991100" y="5200650"/>
            <a:ext cx="2343150" cy="361950"/>
          </a:xfrm>
          <a:prstGeom prst="rect">
            <a:avLst/>
          </a:prstGeom>
          <a:noFill/>
        </p:spPr>
        <p:txBody>
          <a:bodyPr wrap="square" lIns="0" tIns="0" rIns="0" bIns="0" anchor="t">
            <a:spAutoFit/>
          </a:bodyPr>
          <a:lstStyle/>
          <a:p>
            <a:pPr algn="l"/>
            <a:r>
              <a:rPr sz="1050" b="0" i="0" u="none">
                <a:solidFill>
                  <a:srgbClr val="2C241B"/>
                </a:solidFill>
                <a:latin typeface="Nunito"/>
              </a:rPr>
              <a:t>Bundle high-margin bakery items with core coffees.</a:t>
            </a:r>
          </a:p>
        </p:txBody>
      </p:sp>
      <p:sp>
        <p:nvSpPr>
          <p:cNvPr id="31" name="TextBox 30"/>
          <p:cNvSpPr txBox="1"/>
          <p:nvPr/>
        </p:nvSpPr>
        <p:spPr>
          <a:xfrm>
            <a:off x="8648700" y="4981575"/>
            <a:ext cx="2809875" cy="180975"/>
          </a:xfrm>
          <a:prstGeom prst="rect">
            <a:avLst/>
          </a:prstGeom>
          <a:noFill/>
        </p:spPr>
        <p:txBody>
          <a:bodyPr wrap="none" lIns="0" tIns="0" rIns="0" bIns="0" anchor="t">
            <a:spAutoFit/>
          </a:bodyPr>
          <a:lstStyle/>
          <a:p>
            <a:pPr algn="l"/>
            <a:r>
              <a:rPr sz="1050" b="1" i="0" u="none">
                <a:solidFill>
                  <a:srgbClr val="8C5E3C"/>
                </a:solidFill>
                <a:latin typeface="Nunito"/>
              </a:rPr>
              <a:t>STRATEGY</a:t>
            </a:r>
          </a:p>
        </p:txBody>
      </p:sp>
      <p:sp>
        <p:nvSpPr>
          <p:cNvPr id="32" name="TextBox 31"/>
          <p:cNvSpPr txBox="1"/>
          <p:nvPr/>
        </p:nvSpPr>
        <p:spPr>
          <a:xfrm>
            <a:off x="8648700" y="5200650"/>
            <a:ext cx="2343150" cy="361950"/>
          </a:xfrm>
          <a:prstGeom prst="rect">
            <a:avLst/>
          </a:prstGeom>
          <a:noFill/>
        </p:spPr>
        <p:txBody>
          <a:bodyPr wrap="square" lIns="0" tIns="0" rIns="0" bIns="0" anchor="t">
            <a:spAutoFit/>
          </a:bodyPr>
          <a:lstStyle/>
          <a:p>
            <a:pPr algn="l"/>
            <a:r>
              <a:rPr sz="1050" b="0" i="0" u="none">
                <a:solidFill>
                  <a:srgbClr val="2C241B"/>
                </a:solidFill>
                <a:latin typeface="Nunito"/>
              </a:rPr>
              <a:t>Deploy mobile ordering and pre-pack grab-and-go displays.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762000" y="2014537"/>
            <a:ext cx="5105400" cy="3810000"/>
          </a:xfrm>
          <a:prstGeom prst="rect">
            <a:avLst/>
          </a:prstGeom>
        </p:spPr>
      </p:pic>
      <p:pic>
        <p:nvPicPr>
          <p:cNvPr id="3" name="Picture 2" descr="image.png"/>
          <p:cNvPicPr>
            <a:picLocks noChangeAspect="1"/>
          </p:cNvPicPr>
          <p:nvPr/>
        </p:nvPicPr>
        <p:blipFill>
          <a:blip r:embed="rId4"/>
          <a:stretch>
            <a:fillRect/>
          </a:stretch>
        </p:blipFill>
        <p:spPr>
          <a:xfrm>
            <a:off x="6324600" y="2433637"/>
            <a:ext cx="257175" cy="247650"/>
          </a:xfrm>
          <a:prstGeom prst="rect">
            <a:avLst/>
          </a:prstGeom>
        </p:spPr>
      </p:pic>
      <p:pic>
        <p:nvPicPr>
          <p:cNvPr id="4" name="Picture 3" descr="image.png"/>
          <p:cNvPicPr>
            <a:picLocks noChangeAspect="1"/>
          </p:cNvPicPr>
          <p:nvPr/>
        </p:nvPicPr>
        <p:blipFill>
          <a:blip r:embed="rId5"/>
          <a:stretch>
            <a:fillRect/>
          </a:stretch>
        </p:blipFill>
        <p:spPr>
          <a:xfrm>
            <a:off x="6324600" y="3281362"/>
            <a:ext cx="171450" cy="247650"/>
          </a:xfrm>
          <a:prstGeom prst="rect">
            <a:avLst/>
          </a:prstGeom>
        </p:spPr>
      </p:pic>
      <p:pic>
        <p:nvPicPr>
          <p:cNvPr id="5" name="Picture 4" descr="image.png"/>
          <p:cNvPicPr>
            <a:picLocks noChangeAspect="1"/>
          </p:cNvPicPr>
          <p:nvPr/>
        </p:nvPicPr>
        <p:blipFill>
          <a:blip r:embed="rId6"/>
          <a:stretch>
            <a:fillRect/>
          </a:stretch>
        </p:blipFill>
        <p:spPr>
          <a:xfrm>
            <a:off x="6324600" y="4129087"/>
            <a:ext cx="257175" cy="247650"/>
          </a:xfrm>
          <a:prstGeom prst="rect">
            <a:avLst/>
          </a:prstGeom>
        </p:spPr>
      </p:pic>
      <p:pic>
        <p:nvPicPr>
          <p:cNvPr id="6" name="Picture 5" descr="image.png"/>
          <p:cNvPicPr>
            <a:picLocks noChangeAspect="1"/>
          </p:cNvPicPr>
          <p:nvPr/>
        </p:nvPicPr>
        <p:blipFill>
          <a:blip r:embed="rId7"/>
          <a:stretch>
            <a:fillRect/>
          </a:stretch>
        </p:blipFill>
        <p:spPr>
          <a:xfrm>
            <a:off x="6324600" y="4976812"/>
            <a:ext cx="171450" cy="247650"/>
          </a:xfrm>
          <a:prstGeom prst="rect">
            <a:avLst/>
          </a:prstGeom>
        </p:spPr>
      </p:pic>
      <p:sp>
        <p:nvSpPr>
          <p:cNvPr id="7" name="TextBox 6"/>
          <p:cNvSpPr txBox="1"/>
          <p:nvPr/>
        </p:nvSpPr>
        <p:spPr>
          <a:xfrm>
            <a:off x="762000" y="762000"/>
            <a:ext cx="11430000" cy="581025"/>
          </a:xfrm>
          <a:prstGeom prst="rect">
            <a:avLst/>
          </a:prstGeom>
          <a:noFill/>
        </p:spPr>
        <p:txBody>
          <a:bodyPr wrap="none" lIns="0" tIns="0" rIns="0" bIns="0" anchor="t">
            <a:spAutoFit/>
          </a:bodyPr>
          <a:lstStyle/>
          <a:p>
            <a:pPr algn="l"/>
            <a:r>
              <a:rPr sz="3600" b="1" i="0" u="none">
                <a:solidFill>
                  <a:srgbClr val="4A3B32"/>
                </a:solidFill>
                <a:latin typeface="Lora"/>
              </a:rPr>
              <a:t>Project Summary</a:t>
            </a:r>
          </a:p>
        </p:txBody>
      </p:sp>
      <p:sp>
        <p:nvSpPr>
          <p:cNvPr id="8" name="TextBox 7"/>
          <p:cNvSpPr txBox="1"/>
          <p:nvPr/>
        </p:nvSpPr>
        <p:spPr>
          <a:xfrm>
            <a:off x="6951518" y="2300287"/>
            <a:ext cx="5334000" cy="257175"/>
          </a:xfrm>
          <a:prstGeom prst="rect">
            <a:avLst/>
          </a:prstGeom>
          <a:noFill/>
        </p:spPr>
        <p:txBody>
          <a:bodyPr wrap="none" lIns="0" tIns="0" rIns="0" bIns="0" anchor="t">
            <a:spAutoFit/>
          </a:bodyPr>
          <a:lstStyle/>
          <a:p>
            <a:pPr algn="l"/>
            <a:r>
              <a:rPr sz="1500" b="1" i="0" u="none" dirty="0">
                <a:solidFill>
                  <a:srgbClr val="4A3B32"/>
                </a:solidFill>
                <a:latin typeface="Nunito"/>
              </a:rPr>
              <a:t>Data Preparation</a:t>
            </a:r>
          </a:p>
        </p:txBody>
      </p:sp>
      <p:sp>
        <p:nvSpPr>
          <p:cNvPr id="9" name="TextBox 8"/>
          <p:cNvSpPr txBox="1"/>
          <p:nvPr/>
        </p:nvSpPr>
        <p:spPr>
          <a:xfrm>
            <a:off x="6858000" y="2738437"/>
            <a:ext cx="5334000" cy="209550"/>
          </a:xfrm>
          <a:prstGeom prst="rect">
            <a:avLst/>
          </a:prstGeom>
          <a:noFill/>
        </p:spPr>
        <p:txBody>
          <a:bodyPr wrap="none" lIns="0" tIns="0" rIns="0" bIns="0" anchor="t">
            <a:spAutoFit/>
          </a:bodyPr>
          <a:lstStyle/>
          <a:p>
            <a:pPr algn="l"/>
            <a:r>
              <a:rPr sz="1200" b="0" i="0" u="none">
                <a:solidFill>
                  <a:srgbClr val="6B5A4E"/>
                </a:solidFill>
                <a:latin typeface="Nunito"/>
              </a:rPr>
              <a:t>Cleaned dataset, handled data types, and prepared for analysis.</a:t>
            </a:r>
          </a:p>
        </p:txBody>
      </p:sp>
      <p:sp>
        <p:nvSpPr>
          <p:cNvPr id="10" name="TextBox 9"/>
          <p:cNvSpPr txBox="1"/>
          <p:nvPr/>
        </p:nvSpPr>
        <p:spPr>
          <a:xfrm>
            <a:off x="6858000" y="3252787"/>
            <a:ext cx="5334000" cy="257175"/>
          </a:xfrm>
          <a:prstGeom prst="rect">
            <a:avLst/>
          </a:prstGeom>
          <a:noFill/>
        </p:spPr>
        <p:txBody>
          <a:bodyPr wrap="none" lIns="0" tIns="0" rIns="0" bIns="0" anchor="t">
            <a:spAutoFit/>
          </a:bodyPr>
          <a:lstStyle/>
          <a:p>
            <a:pPr algn="l"/>
            <a:r>
              <a:rPr sz="1500" b="1" i="0" u="none">
                <a:solidFill>
                  <a:srgbClr val="4A3B32"/>
                </a:solidFill>
                <a:latin typeface="Nunito"/>
              </a:rPr>
              <a:t>Calculated Columns</a:t>
            </a:r>
          </a:p>
        </p:txBody>
      </p:sp>
      <p:sp>
        <p:nvSpPr>
          <p:cNvPr id="11" name="TextBox 10"/>
          <p:cNvSpPr txBox="1"/>
          <p:nvPr/>
        </p:nvSpPr>
        <p:spPr>
          <a:xfrm>
            <a:off x="6858000" y="3586162"/>
            <a:ext cx="5334000" cy="209550"/>
          </a:xfrm>
          <a:prstGeom prst="rect">
            <a:avLst/>
          </a:prstGeom>
          <a:noFill/>
        </p:spPr>
        <p:txBody>
          <a:bodyPr wrap="none" lIns="0" tIns="0" rIns="0" bIns="0" anchor="t">
            <a:spAutoFit/>
          </a:bodyPr>
          <a:lstStyle/>
          <a:p>
            <a:pPr algn="l"/>
            <a:r>
              <a:rPr sz="1200" b="0" i="0" u="none">
                <a:solidFill>
                  <a:srgbClr val="6B5A4E"/>
                </a:solidFill>
                <a:latin typeface="Nunito"/>
              </a:rPr>
              <a:t>Created fields like Time Period, Month Name, and Total Sales.</a:t>
            </a:r>
          </a:p>
        </p:txBody>
      </p:sp>
      <p:sp>
        <p:nvSpPr>
          <p:cNvPr id="12" name="TextBox 11"/>
          <p:cNvSpPr txBox="1"/>
          <p:nvPr/>
        </p:nvSpPr>
        <p:spPr>
          <a:xfrm>
            <a:off x="6858000" y="4100512"/>
            <a:ext cx="4643437" cy="257175"/>
          </a:xfrm>
          <a:prstGeom prst="rect">
            <a:avLst/>
          </a:prstGeom>
          <a:noFill/>
        </p:spPr>
        <p:txBody>
          <a:bodyPr wrap="none" lIns="0" tIns="0" rIns="0" bIns="0" anchor="t">
            <a:spAutoFit/>
          </a:bodyPr>
          <a:lstStyle/>
          <a:p>
            <a:pPr algn="l"/>
            <a:r>
              <a:rPr sz="1500" b="1" i="0" u="none">
                <a:solidFill>
                  <a:srgbClr val="4A3B32"/>
                </a:solidFill>
                <a:latin typeface="Nunito"/>
              </a:rPr>
              <a:t>Dashboard Development</a:t>
            </a:r>
          </a:p>
        </p:txBody>
      </p:sp>
      <p:sp>
        <p:nvSpPr>
          <p:cNvPr id="13" name="TextBox 12"/>
          <p:cNvSpPr txBox="1"/>
          <p:nvPr/>
        </p:nvSpPr>
        <p:spPr>
          <a:xfrm>
            <a:off x="6858000" y="4433887"/>
            <a:ext cx="4643437" cy="209550"/>
          </a:xfrm>
          <a:prstGeom prst="rect">
            <a:avLst/>
          </a:prstGeom>
          <a:noFill/>
        </p:spPr>
        <p:txBody>
          <a:bodyPr wrap="none" lIns="0" tIns="0" rIns="0" bIns="0" anchor="t">
            <a:spAutoFit/>
          </a:bodyPr>
          <a:lstStyle/>
          <a:p>
            <a:pPr algn="l"/>
            <a:r>
              <a:rPr sz="1200" b="0" i="0" u="none">
                <a:solidFill>
                  <a:srgbClr val="6B5A4E"/>
                </a:solidFill>
                <a:latin typeface="Nunito"/>
              </a:rPr>
              <a:t>Created KPIs, PivotTables, and Slicers for interactivity.</a:t>
            </a:r>
          </a:p>
        </p:txBody>
      </p:sp>
      <p:sp>
        <p:nvSpPr>
          <p:cNvPr id="14" name="TextBox 13"/>
          <p:cNvSpPr txBox="1"/>
          <p:nvPr/>
        </p:nvSpPr>
        <p:spPr>
          <a:xfrm>
            <a:off x="6858000" y="4948237"/>
            <a:ext cx="5060156" cy="257175"/>
          </a:xfrm>
          <a:prstGeom prst="rect">
            <a:avLst/>
          </a:prstGeom>
          <a:noFill/>
        </p:spPr>
        <p:txBody>
          <a:bodyPr wrap="none" lIns="0" tIns="0" rIns="0" bIns="0" anchor="t">
            <a:spAutoFit/>
          </a:bodyPr>
          <a:lstStyle/>
          <a:p>
            <a:pPr algn="l"/>
            <a:r>
              <a:rPr sz="1500" b="1" i="0" u="none">
                <a:solidFill>
                  <a:srgbClr val="4A3B32"/>
                </a:solidFill>
                <a:latin typeface="Nunito"/>
              </a:rPr>
              <a:t>Business Value</a:t>
            </a:r>
          </a:p>
        </p:txBody>
      </p:sp>
      <p:sp>
        <p:nvSpPr>
          <p:cNvPr id="15" name="TextBox 14"/>
          <p:cNvSpPr txBox="1"/>
          <p:nvPr/>
        </p:nvSpPr>
        <p:spPr>
          <a:xfrm>
            <a:off x="6858000" y="5281612"/>
            <a:ext cx="5060156" cy="209550"/>
          </a:xfrm>
          <a:prstGeom prst="rect">
            <a:avLst/>
          </a:prstGeom>
          <a:noFill/>
        </p:spPr>
        <p:txBody>
          <a:bodyPr wrap="none" lIns="0" tIns="0" rIns="0" bIns="0" anchor="t">
            <a:spAutoFit/>
          </a:bodyPr>
          <a:lstStyle/>
          <a:p>
            <a:pPr algn="l"/>
            <a:r>
              <a:rPr sz="1200" b="0" i="0" u="none">
                <a:solidFill>
                  <a:srgbClr val="6B5A4E"/>
                </a:solidFill>
                <a:latin typeface="Nunito"/>
              </a:rPr>
              <a:t>Identified patterns and provided actionable retail solutions.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A3B32"/>
        </a:solidFill>
        <a:effectLst/>
      </p:bgPr>
    </p:bg>
    <p:spTree>
      <p:nvGrpSpPr>
        <p:cNvPr id="1" name=""/>
        <p:cNvGrpSpPr/>
        <p:nvPr/>
      </p:nvGrpSpPr>
      <p:grpSpPr>
        <a:xfrm>
          <a:off x="0" y="0"/>
          <a:ext cx="0" cy="0"/>
          <a:chOff x="0" y="0"/>
          <a:chExt cx="0" cy="0"/>
        </a:xfrm>
      </p:grpSpPr>
      <p:sp>
        <p:nvSpPr>
          <p:cNvPr id="2" name="Rounded Rectangle 1"/>
          <p:cNvSpPr/>
          <p:nvPr/>
        </p:nvSpPr>
        <p:spPr>
          <a:xfrm>
            <a:off x="1809750" y="2289274"/>
            <a:ext cx="8572500" cy="3317676"/>
          </a:xfrm>
          <a:prstGeom prst="roundRect">
            <a:avLst>
              <a:gd name="adj" fmla="val 4593"/>
            </a:avLst>
          </a:prstGeom>
          <a:solidFill>
            <a:srgbClr val="2C2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09750" y="2289274"/>
            <a:ext cx="8572500" cy="57150"/>
          </a:xfrm>
          <a:prstGeom prst="rect">
            <a:avLst/>
          </a:prstGeom>
          <a:solidFill>
            <a:srgbClr val="8C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85750" y="1251049"/>
            <a:ext cx="12763500" cy="581025"/>
          </a:xfrm>
          <a:prstGeom prst="rect">
            <a:avLst/>
          </a:prstGeom>
          <a:noFill/>
        </p:spPr>
        <p:txBody>
          <a:bodyPr wrap="none" lIns="0" tIns="0" rIns="0" bIns="0" anchor="t">
            <a:spAutoFit/>
          </a:bodyPr>
          <a:lstStyle/>
          <a:p>
            <a:pPr algn="ctr"/>
            <a:r>
              <a:rPr sz="3600" b="1" i="0" u="none">
                <a:solidFill>
                  <a:srgbClr val="D4B595"/>
                </a:solidFill>
                <a:latin typeface="Lora"/>
              </a:rPr>
              <a:t>Conclusion</a:t>
            </a:r>
          </a:p>
        </p:txBody>
      </p:sp>
      <p:sp>
        <p:nvSpPr>
          <p:cNvPr id="5" name="TextBox 4"/>
          <p:cNvSpPr txBox="1"/>
          <p:nvPr/>
        </p:nvSpPr>
        <p:spPr>
          <a:xfrm>
            <a:off x="1809750" y="2803624"/>
            <a:ext cx="8572500" cy="1980670"/>
          </a:xfrm>
          <a:prstGeom prst="rect">
            <a:avLst/>
          </a:prstGeom>
          <a:noFill/>
        </p:spPr>
        <p:txBody>
          <a:bodyPr wrap="square" lIns="0" tIns="0" rIns="0" bIns="0" anchor="t">
            <a:spAutoFit/>
          </a:bodyPr>
          <a:lstStyle/>
          <a:p>
            <a:pPr algn="ctr">
              <a:lnSpc>
                <a:spcPts val="2640"/>
              </a:lnSpc>
            </a:pPr>
            <a:r>
              <a:rPr sz="1650" b="0" i="0" u="none" dirty="0">
                <a:solidFill>
                  <a:srgbClr val="FAF8F5"/>
                </a:solidFill>
                <a:latin typeface="Nunito"/>
              </a:rPr>
              <a:t>Overall, this project demonstrated how advanced Excel can be used to transform raw coffee shop transaction data into an interactive and meaningful analytical dashboard. The analysis provided deep insights into store performance, product mix profitability, and temporal rush patterns. Through this project, actionable retail strategies—such as optimized staffing and product bundling—were developed to directly address identified operational bottlenecks.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Rectangle 1"/>
          <p:cNvSpPr/>
          <p:nvPr/>
        </p:nvSpPr>
        <p:spPr>
          <a:xfrm>
            <a:off x="5486400" y="-57150"/>
            <a:ext cx="6705600" cy="6858000"/>
          </a:xfrm>
          <a:prstGeom prst="rect">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3" name="Picture 2" descr="image.png"/>
          <p:cNvPicPr>
            <a:picLocks noChangeAspect="1"/>
          </p:cNvPicPr>
          <p:nvPr/>
        </p:nvPicPr>
        <p:blipFill>
          <a:blip r:embed="rId2"/>
          <a:stretch>
            <a:fillRect/>
          </a:stretch>
        </p:blipFill>
        <p:spPr>
          <a:xfrm>
            <a:off x="0" y="0"/>
            <a:ext cx="5486400" cy="6858000"/>
          </a:xfrm>
          <a:prstGeom prst="rect">
            <a:avLst/>
          </a:prstGeom>
        </p:spPr>
      </p:pic>
      <p:pic>
        <p:nvPicPr>
          <p:cNvPr id="4" name="Picture 3" descr="image.png"/>
          <p:cNvPicPr>
            <a:picLocks noChangeAspect="1"/>
          </p:cNvPicPr>
          <p:nvPr/>
        </p:nvPicPr>
        <p:blipFill>
          <a:blip r:embed="rId3"/>
          <a:stretch>
            <a:fillRect/>
          </a:stretch>
        </p:blipFill>
        <p:spPr>
          <a:xfrm>
            <a:off x="6096000" y="1371600"/>
            <a:ext cx="762000" cy="762000"/>
          </a:xfrm>
          <a:prstGeom prst="rect">
            <a:avLst/>
          </a:prstGeom>
        </p:spPr>
      </p:pic>
      <p:pic>
        <p:nvPicPr>
          <p:cNvPr id="5" name="Picture 4" descr="image.png"/>
          <p:cNvPicPr>
            <a:picLocks noChangeAspect="1"/>
          </p:cNvPicPr>
          <p:nvPr/>
        </p:nvPicPr>
        <p:blipFill>
          <a:blip r:embed="rId4"/>
          <a:stretch>
            <a:fillRect/>
          </a:stretch>
        </p:blipFill>
        <p:spPr>
          <a:xfrm>
            <a:off x="6324600" y="1600200"/>
            <a:ext cx="304800" cy="304800"/>
          </a:xfrm>
          <a:prstGeom prst="rect">
            <a:avLst/>
          </a:prstGeom>
        </p:spPr>
      </p:pic>
      <p:sp>
        <p:nvSpPr>
          <p:cNvPr id="9" name="TextBox 8"/>
          <p:cNvSpPr txBox="1"/>
          <p:nvPr/>
        </p:nvSpPr>
        <p:spPr>
          <a:xfrm>
            <a:off x="6096000" y="2438400"/>
            <a:ext cx="6096000" cy="781050"/>
          </a:xfrm>
          <a:prstGeom prst="rect">
            <a:avLst/>
          </a:prstGeom>
          <a:noFill/>
        </p:spPr>
        <p:txBody>
          <a:bodyPr wrap="none" lIns="0" tIns="0" rIns="0" bIns="0" anchor="t">
            <a:spAutoFit/>
          </a:bodyPr>
          <a:lstStyle/>
          <a:p>
            <a:pPr algn="l"/>
            <a:r>
              <a:rPr sz="4800" b="1" i="0" u="none">
                <a:solidFill>
                  <a:srgbClr val="4A3B32"/>
                </a:solidFill>
                <a:latin typeface="Lora"/>
              </a:rPr>
              <a:t>Thank You</a:t>
            </a:r>
          </a:p>
        </p:txBody>
      </p:sp>
    </p:spTree>
  </p:cSld>
  <p:clrMapOvr>
    <a:masterClrMapping/>
  </p:clrMapOvr>
</p:sld>
</file>

<file path=ppt/theme/theme1.xml><?xml version="1.0" encoding="utf-8"?>
<a:theme xmlns:a="http://schemas.openxmlformats.org/drawingml/2006/main" name="Office Theme">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261</TotalTime>
  <Words>929</Words>
  <Application>Microsoft Office PowerPoint</Application>
  <PresentationFormat>Widescreen</PresentationFormat>
  <Paragraphs>219</Paragraphs>
  <Slides>16</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Algerian</vt:lpstr>
      <vt:lpstr>Nunito</vt:lpstr>
      <vt:lpstr>Aldhabi</vt:lpstr>
      <vt:lpstr>Arial</vt:lpstr>
      <vt:lpstr>Lora</vt:lpstr>
      <vt:lpstr>monospace</vt:lpstr>
      <vt:lpstr>Aptos</vt:lpstr>
      <vt:lpstr>Calibri</vt:lpstr>
      <vt:lpstr>Aptos Narrow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TommY</dc:creator>
  <cp:keywords/>
  <dc:description>generated using python-pptx</dc:description>
  <cp:lastModifiedBy>TommY</cp:lastModifiedBy>
  <cp:revision>10</cp:revision>
  <dcterms:created xsi:type="dcterms:W3CDTF">2013-01-27T09:14:16Z</dcterms:created>
  <dcterms:modified xsi:type="dcterms:W3CDTF">2026-10-13T05:11:18Z</dcterms:modified>
  <cp:category/>
</cp:coreProperties>
</file>